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도입 · 약 40초</a:t>
            </a:r>
          </a:p>
          <a:p/>
          <a:p>
            <a:r>
              <a:t>Third Eye는 시각 정보를 소리로 전달하는 보조 장치를 목표로 하는 프로젝트입니다. 지난 발표 때는 센서 조립과 소리 설계가 중심이었습니다. 이번에는 두 센서의 실제 거리 격자를 휴대폰으로 받고, 측정한 방향에서 소리가 나는 단계까지 연결했습니다. 오늘은 어떻게 거리를 방향음으로 바꾸었는지, 그리고 여러 방향의 정보를 한꺼번에 들려주지 않기 위해 도입한 레이더식 스캔을 설명하겠습니다.</a:t>
            </a:r>
          </a:p>
          <a:p/>
          <a:p>
            <a:r>
              <a:t>근거 / 참고</a:t>
            </a:r>
          </a:p>
          <a:p>
            <a:r>
              <a:t>현재 앱 0.11.2-scan / feature/radar-scan. 사용자가 두 센서 격자·소리 출력·방향 동작을 확인한 대화 기록 기준.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계기와 개념 · 약 55초</a:t>
            </a:r>
          </a:p>
          <a:p/>
          <a:p>
            <a:r>
              <a:t>처음에는 눈에 보이지 않는 것을 보이게 만드는 기술에 관심이 있었습니다. 여기서 질문을 뒤집어, 보이는 것을 볼 수 없는 사람에게 전달하려면 무엇이 필요할지 생각했습니다. 반향정위처럼 소리로 공간을 이해한다는 아이디어가 출발점이지만, 이 장치는 사용자가 직접 반사음을 해석하는 방식과는 다릅니다. 센서가 거리를 측정하고 휴대폰이 방향과 거리를 구분할 수 있는 소리를 만듭니다. 현재 구현은 측정, 변환, 전달의 세 단계가 실제 하드웨어에서 연결된 상태입니다.</a:t>
            </a:r>
          </a:p>
          <a:p/>
          <a:p>
            <a:r>
              <a:t>근거 / 참고</a:t>
            </a:r>
          </a:p>
          <a:p>
            <a:r>
              <a:t>원본 PDF 2·3페이지 통합. 반향정위 관련 원본 참고문헌: Norman, Dodsworth, Foresteire &amp; Thaler, PLOS ONE (2021). 본 장치의 훈련 효과나 보행 효용을 검증한 연구는 아님.</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목표와 이번 범위 · 약 50초</a:t>
            </a:r>
          </a:p>
          <a:p/>
          <a:p>
            <a:r>
              <a:t>최종적으로는 이동 보조와 물체 상호작용이라는 두 목표를 갖고 있습니다. 이동에서는 넓은 전방 공간의 거리와 방향이 중요하고, 물체를 집는 경우에는 중앙의 물체 이름과 정확한 거리 대응이 필요합니다. 이번 진행의 중심은 첫 번째 목표를 위한 거리와 방향의 전달입니다. 다만 소리가 난다는 것과 실제로 보행에 도움이 된다는 것은 검증 단계가 다릅니다. 보행 효용은 앞으로 정량 실험으로 확인할 예정입니다.</a:t>
            </a:r>
          </a:p>
          <a:p/>
          <a:p>
            <a:r>
              <a:t>근거 / 참고</a:t>
            </a:r>
          </a:p>
          <a:p>
            <a:r>
              <a:t>원본 PDF 4페이지 갱신. 범위는 프로젝트의 관심·설계 범위이며 센서의 절대 정확도 보장 구간이 아님.</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 · 약 1분</a:t>
            </a:r>
          </a:p>
          <a:p/>
          <a:p>
            <a:r>
              <a:t>현재 하드웨어는 VL53L8CX 두 개와 XIAO ESP32-S3 Sense, 그리고 Android 휴대폰으로 구성됩니다. 센서는 거리만 측정하고, 방향 계산과 HRTF 합성은 휴대폰에서 합니다. ESP32와 휴대폰 사이는 USB 데이터 연결입니다. 소리는 스테레오 이어폰으로 전달하며 실제 테스트에는 버즈를 사용했습니다. 전원과 I²C의 SDA·SCL은 두 센서가 공유하고, LP 제어선은 각각 따로 연결했습니다. 카메라는 Sense 보드에 있는 모듈을 이용하며 거리 음향과 분리된 경로로 처리합니다.</a:t>
            </a:r>
          </a:p>
          <a:p/>
          <a:p>
            <a:r>
              <a:t>근거 / 참고</a:t>
            </a:r>
          </a:p>
          <a:p>
            <a:r>
              <a:t>firmware/ThirdEyeSenseUsb/ThirdEyeSenseUsb.ino, README.md. 비용·착용 무게는 이번에 측정하지 않아 원본의 13만 원·20g 수치를 결과로 제시하지 않음.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주소 충돌 해결 · 약 1분</a:t>
            </a:r>
          </a:p>
          <a:p/>
          <a:p>
            <a:r>
              <a:t>같은 모델의 센서는 출고 시 주소가 같습니다. 단순히 SDA와 SCL을 함께 연결하면 어느 센서가 응답하는지 구분할 수 없습니다. 그래서 부팅할 때 다른 센서의 LP를 낮춰 한 센서만 통신 가능하도록 합니다. A에 0x2A, B에 0x2B라는 주소를 설정한 뒤 두 센서를 다시 함께 활성화합니다. LP는 여기서 I²C 통신을 분리하는 데 사용하며 전원을 완전히 끄는 선으로 설명하지 않습니다. ESP32만 재시작해 이전 주소가 남아 있는 경우도 처리하도록 현재 주소를 확인하는 과정이 들어 있습니다.</a:t>
            </a:r>
          </a:p>
          <a:p/>
          <a:p>
            <a:r>
              <a:t>근거 / 참고</a:t>
            </a:r>
          </a:p>
          <a:p>
            <a:r>
              <a:t>ThirdEyeSenseUsb.ino: prepare(), setupTof(). 7비트 0x2A/0x2B ↔ ST API의 8비트 0x54/0x56. LP는 전원 리셋이 아님.</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8×8 정보의 의미 · 약 1분 10초</a:t>
            </a:r>
          </a:p>
          <a:p/>
          <a:p>
            <a:r>
              <a:t>센서 하나가 내보내는 최솟값만 쓰면 왼쪽인지 오른쪽인지 정도만 표현할 수 있습니다. 이번에는 각각 64개 칸을 유지해 총 128개 측정 영역의 거리와 유효 상태를 보존합니다. 앱은 칸의 위치와 센서 장착각을 이용해 측정 방향을 추정합니다. 현재 계산 모델은 센서별 수평·수직 시야 45도와 좌우 22.5도 장착을 가정해 전방 약 90도를 다룹니다. 렌즈와 보드 방향에 따라 격자가 뒤집힐 수 있어 앱에서 회전과 반전을 보정합니다. 8×8 측정은 5Hz로 설정했고 USB 전송 목표는 약 500ms 간격입니다. 이 수치는 아직 실제 전체 지연을 측정한 결과가 아닙니다.</a:t>
            </a:r>
          </a:p>
          <a:p/>
          <a:p>
            <a:r>
              <a:t>근거 / 참고</a:t>
            </a:r>
          </a:p>
          <a:p>
            <a:r>
              <a:t>TofProjection.kt, TofGridFrame.kt, ThirdEyeSenseUsb.ino. 그림은 격자 구조 설명용이며 실측 거리 캡처가 아님. 명목 FoV 모델로 정밀 광학·장착 보정은 별도. 무효/오래된 값은 방향음에서 제외. 원본의 최대 60Hz 수치를 현재 8×8 설정으로 정정.</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HRTF 구현 · 약 1분 15초</a:t>
            </a:r>
          </a:p>
          <a:p/>
          <a:p>
            <a:r>
              <a:t>FPS 게임에서 발소리 방향을 짐작하는 경험처럼, 사람은 두 귀에 도착하는 소리의 차이로 방향을 판단합니다. 시간 차이와 음량 차이 외에도 귓바퀴와 머리 때문에 주파수별로 달라지는 특성이 있습니다. HRTF는 Head-Related Transfer Function의 약자로, 이런 방향별 전달 특성을 필터로 표현한 것입니다. 구현에는 MIT KEMAR의 710개 실측 방향에 대한 HRIR을 사용했습니다. 센서 존에서 추정한 방위와 고도에 가까운 필터를 골라 짧은 광대역 신호를 왼쪽과 오른쪽 귀에 다르게 만듭니다. 현재 사용자는 실기기에서 소리와 방향이 잘 나온다고 확인했습니다. 개인별 귀 모양과는 차이가 있고, 머리 추적이나 뒤쪽 공간 측정은 현재 구현에 포함되지 않습니다.</a:t>
            </a:r>
          </a:p>
          <a:p/>
          <a:p>
            <a:r>
              <a:t>근거 / 참고</a:t>
            </a:r>
          </a:p>
          <a:p>
            <a:r>
              <a:t>SpatialHrirBank.kt, TofSpatialController.kt. 데이터: Bill Gardner / Keith Martin, MIT Media Laboratory (1994), MIT KEMAR. 실측 HRIR 512탭·44.1kHz, 최근접 방향 선택. 그림의 파형은 원리 설명용. 360도 가상 방향 테스트와 실제 전방 센서 관측 범위는 다름.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연속 거리 표현 · 약 1분</a:t>
            </a:r>
          </a:p>
          <a:p/>
          <a:p>
            <a:r>
              <a:t>처음에는 20cm 이하와 4m라는 두 구간만 구분하는 경보가 아니라 중간 거리에서도 연속적으로 변하도록 설계했습니다. 유효한 거리를 음량 게인에 선형으로 연결해 가까워지면 커지고 멀어지면 작아집니다. 여기서 두 모드를 구분해야 합니다. 한 점을 반복해서 들려주는 방향음에서는 거리가 반복 간격에도 영향을 주어 가까우면 빨라집니다. 반면 다음 장에서 설명할 레이더식 스캔은 각 방향을 방문하는 시간을 보존해야 하므로 주기를 1초로 고정하고 거리는 음량으로만 표현합니다. 20cm 이하는 최대 게인에 포화되고 4m를 넘는 값이나 유효하지 않은 값은 출력하지 않습니다.</a:t>
            </a:r>
          </a:p>
          <a:p/>
          <a:p>
            <a:r>
              <a:t>근거 / 참고</a:t>
            </a:r>
          </a:p>
          <a:p>
            <a:r>
              <a:t>DistanceBeepPolicy.kt: 200mm→gain 0.55·interval 180ms, 4000mm→gain 0.12·interval 1200ms, 중간 선형. RadarScanController는 gain만 사용. 그래프는 디지털 게인의 관계를 나타내며 dB 음압이나 사람의 지각 크기가 선형이라는 뜻은 아님.</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레이더식 스캔 · 약 1분 20초</a:t>
            </a:r>
          </a:p>
          <a:p/>
          <a:p>
            <a:r>
              <a:t>새롭게 도입한 방식은 레이더 화면이 한 방향씩 공간을 훑는다는 발상에서 출발했습니다. 여러 측정점을 동시에 울리면 어느 정보에 집중해야 할지 어려울 수 있어, 왼쪽에서 오른쪽으로 순서대로 소리를 들려줍니다. 사용자 각도 표기는 왼쪽 끝 90도, 정면 45도, 오른쪽 끝 0도이고 전체를 1초에 한 번 방문합니다. 구현에서는 90도 전방 영역을 16개의 가로 구간으로 나누었습니다. 빈 구간은 건너뛰어 시간을 압축하지 않고 무음으로 남겨 순서와 시간 위치를 보존합니다. 소리가 나는 방향은 HRTF가 맡고, 거리는 음량이 맡습니다. 그림과 별도 음향 파일은 왼쪽·정면·오른쪽 가상 세 점을 사용한 설명용 예시이며 실물 센서 녹음은 아닙니다.</a:t>
            </a:r>
          </a:p>
          <a:p/>
          <a:p>
            <a:r>
              <a:t>근거 / 참고</a:t>
            </a:r>
          </a:p>
          <a:p>
            <a:r>
              <a:t>RadarScanPolicy.kt, RadarScanController.kt. 앱 내부 HRTF 방위각 +45°→0°→−45°를 사용자 표기 90°→45°→0°로 변환. 1000ms는 논리 스케줄이며 실제 귀 도달 지연과 같지 않음. 예시 WAV는 4초, 주기당 3펄스, 125/500/813ms 부근.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다중 방향 선택 · 약 1분 10초</a:t>
            </a:r>
          </a:p>
          <a:p/>
          <a:p>
            <a:r>
              <a:t>기본 설정은 한 스캔에서 최대 세 방향만 들려주는 것입니다. 가장 가까운 세 점을 그대로 고르면 한쪽 벽의 여러 칸이 선택을 독점할 수 있습니다. 그래서 먼저 가로 구간마다 가장 가까운 유효 측정점을 고르고, 왼쪽·정면·오른쪽 영역의 가까운 후보를 우선합니다. 선택한 실제 방위가 15도 미만으로 붙어 있으면 너무 비슷한 방향으로 보고 제외합니다. 상황에 따라 세 개보다 적게 나올 수도 있습니다. 앱에서는 1개, 3개, 5개, 전체 16구간을 비교할 수 있습니다. 이 숫자는 물체 개수가 아니라 소리를 낼 방향의 개수이며, 같은 벽이 여전히 여러 방향을 차지할 수 있습니다.</a:t>
            </a:r>
          </a:p>
          <a:p/>
          <a:p>
            <a:r>
              <a:t>근거 / 참고</a:t>
            </a:r>
          </a:p>
          <a:p>
            <a:r>
              <a:t>RadarScanPolicy.plan(): 좌중우 영역별 근접 후보 우선은 3·5 제한에서 적용, 1개는 전체 최근접, 16개는 간격 제한 없는 비교. 그림의 거리값은 선택 원리 설명용 가상 예시. 3방향이 최적이라는 사용자 실험 결과는 아직 없음.</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데이터 경로 · 약 1분</a:t>
            </a:r>
          </a:p>
          <a:p/>
          <a:p>
            <a:r>
              <a:t>거리 경로는 두 센서에서 들어온 격자를 유효값 확인과 방향 추정, 후보 선택을 거쳐 HRTF로 출력합니다. 영상 경로는 Sense 카메라의 JPEG를 USB로 받아 휴대폰 안의 YOLOX-Nano 모델로 객체를 탐지합니다. 별도의 외부 YOLO API 서버에 영상을 업로드하는 구조가 아닙니다. 중앙 물체의 이름을 음성으로 안내하는 코드 경로는 있지만, 현재 거리 음향의 대상과 인식된 물체를 하나로 대응시키지는 않습니다. 예를 들어 의자라는 인식 결과가 곧 지금 들리는 1m 지점의 물체라는 의미는 아닙니다. 두 좌표를 맞추고 같은 대상을 연결하는 것이 다음 단계입니다.</a:t>
            </a:r>
          </a:p>
          <a:p/>
          <a:p>
            <a:r>
              <a:t>근거 / 참고</a:t>
            </a:r>
          </a:p>
          <a:p>
            <a:r>
              <a:t>ExternalVisionController.kt, YoloXDetector.kt, MainActivity.kt. 번들 YOLOX-Nano/ONNX Runtime 로컬 추론. 카메라·객체 인식의 전체 실기기 정확도/속도는 이번 대화에서 정량 확인되지 않음.</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 달성한 것 · 약 1분 5초</a:t>
            </a:r>
          </a:p>
          <a:p/>
          <a:p>
            <a:r>
              <a:t>지난 자료의 하드웨어 조립 단계라는 설명은 현재 상황과 맞지 않습니다. 지금은 두 센서의 8×8 격자가 앱에서 갱신되는 것과 실제 거리로 소리가 출력되는 것을 확인했습니다. 사용자는 방향도 잘 나온다고 확인했습니다. 앱에는 1초 좌우 스캔과 방향 수 선택 기능까지 구현했습니다. 화면 진입과 설정 변경, 파서와 스캔 정책 등을 포함한 자동 테스트 49개도 통과했습니다. 다만 기능이 동작한다는 확인과 거리 오차, 방향 정답률, 반응 지연을 측정하는 평가는 구분해서 보고 있습니다. 카메라와 YOLOX는 코드 구현 범위이며 이번 발표에서 인식 정확도를 검증했다고 말하지 않습니다.</a:t>
            </a:r>
          </a:p>
          <a:p/>
          <a:p>
            <a:r>
              <a:t>근거 / 참고</a:t>
            </a:r>
          </a:p>
          <a:p>
            <a:r>
              <a:t>사용자 실기기 확인: 두 센서 동작, 격자 수신, 소리·방향 정상. 0.11.2 assembleDebug/testDebugUnitTest/lintDebug 성공, 테스트 49/49. 테스트 수는 사용자 효용이나 실제 방향 정확도 검증 수치가 아님.</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정량 평가 계획 · 약 1분 10초</a:t>
            </a:r>
          </a:p>
          <a:p/>
          <a:p>
            <a:r>
              <a:t>다음 단계에서는 빈칸으로 남겨 두었던 성능 항목을 측정 가능한 실험으로 바꾸려 합니다. 첫째는 거리 안정성입니다. 알려진 거리의 표적을 두고 거리 오차, 유효값 비율과 시간에 따른 흔들림을 측정합니다. 둘째는 전체 지연입니다. 센서 앞 상황이 바뀐 시점부터 이어폰에서 소리가 들리는 시점까지를 재고, USB와 Bluetooth 영향을 구분합니다. 1초 스캔이라는 설계값이 곧 1초 이내의 전체 반응을 보장하지는 않습니다. 셋째는 청각 구별 성능입니다. 우선 정지 상태에서 방향과 거리를 맞히고, 1·3·5방향 제한이 구별 성능과 응답 시간에 주는 영향을 비교하려 합니다.</a:t>
            </a:r>
          </a:p>
          <a:p/>
          <a:p>
            <a:r>
              <a:t>근거 / 참고</a:t>
            </a:r>
          </a:p>
          <a:p>
            <a:r>
              <a:t>평가 계획이며 측정 결과가 아님. 현재 8×8 센서 설정 5Hz, 거리 전송 목표 약 500ms, 앱 TTL 1초. Android Handler/AudioTrack 및 Bluetooth의 실제 지연은 별도.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 · 약 1분</a:t>
            </a:r>
          </a:p>
          <a:p/>
          <a:p>
            <a:r>
              <a:t>이번 중간 성과는 센서와 소리 설계가 따로 있던 상태에서 실제 거리 측정과 방향음을 하나로 연결했다는 점입니다. 특히 센서별 대표 거리 두 개에 고정 좌우 소리를 붙이는 대신, 각 센서의 8×8 측정점에서 방향을 추정하도록 확장했습니다. 여러 점을 전달하는 방식에는 레이더에서 착안한 시간 순서와 최대 방향 수 제한을 도입했습니다. 이제는 어떤 설정에서 사용자가 더 빠르고 정확하게 공간을 구별하는지 평가하려 합니다. 표면 묶기와 물체 추적, 위험도 판단과 카메라 거리 대응은 그다음 구현 과제로 남아 있습니다. 이 결과를 바탕으로 착용 형태와 사용자 평가로 확장하겠습니다.</a:t>
            </a:r>
          </a:p>
          <a:p/>
          <a:p>
            <a:r>
              <a:t>근거 / 참고</a:t>
            </a:r>
          </a:p>
          <a:p>
            <a:r>
              <a:t>요청에 따라 원본 10페이지 파이프라인과 11페이지 이전 진행 상황은 삭제. 원본 2·3페이지는 통합. 기존의 면 묶기·추적·위험도 완료 표현을 현재 구현에서 제외하고 향후 과제로 이동.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aw.githubusercontent.com/zzong-mee/PBL1/6fb5ad3/downloads/ThirdEye-radar-three-virtual-points.wav"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D21"/>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PBL1 · 중간 발표</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FFFFFF"/>
                </a:solidFill>
                <a:latin typeface="Noto Sans CJK KR"/>
              </a:defRPr>
            </a:pPr>
          </a:p>
        </p:txBody>
      </p:sp>
      <p:cxnSp>
        <p:nvCxnSpPr>
          <p:cNvPr id="4" name="Connector 3"/>
          <p:cNvCxnSpPr/>
          <p:nvPr/>
        </p:nvCxnSpPr>
        <p:spPr>
          <a:xfrm>
            <a:off x="711200" y="6400800"/>
            <a:ext cx="10769600" cy="0"/>
          </a:xfrm>
          <a:prstGeom prst="line">
            <a:avLst/>
          </a:prstGeom>
          <a:ln w="7620">
            <a:solidFill>
              <a:srgbClr val="3A47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ACBBB9"/>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ACBBB9"/>
                </a:solidFill>
                <a:latin typeface="Noto Sans CJK KR"/>
              </a:defRPr>
            </a:pPr>
            <a:r>
              <a:rPr>
                <a:ea typeface="Noto Sans CJK KR"/>
              </a:rPr>
              <a:t>01</a:t>
            </a:r>
          </a:p>
        </p:txBody>
      </p:sp>
      <p:sp>
        <p:nvSpPr>
          <p:cNvPr id="7" name="TextBox 6"/>
          <p:cNvSpPr txBox="1"/>
          <p:nvPr/>
        </p:nvSpPr>
        <p:spPr>
          <a:xfrm>
            <a:off x="711200" y="1384300"/>
            <a:ext cx="6477000" cy="1041400"/>
          </a:xfrm>
          <a:prstGeom prst="rect">
            <a:avLst/>
          </a:prstGeom>
          <a:noFill/>
        </p:spPr>
        <p:txBody>
          <a:bodyPr wrap="square" lIns="0" rIns="0" tIns="0" bIns="0">
            <a:spAutoFit/>
          </a:bodyPr>
          <a:lstStyle/>
          <a:p>
            <a:pPr>
              <a:lnSpc>
                <a:spcPct val="118000"/>
              </a:lnSpc>
              <a:spcBef>
                <a:spcPts val="0"/>
              </a:spcBef>
              <a:spcAft>
                <a:spcPts val="0"/>
              </a:spcAft>
              <a:defRPr sz="5800" b="1">
                <a:solidFill>
                  <a:srgbClr val="FFFFFF"/>
                </a:solidFill>
                <a:latin typeface="Noto Sans CJK KR"/>
              </a:defRPr>
            </a:pPr>
            <a:r>
              <a:rPr>
                <a:ea typeface="Noto Sans CJK KR"/>
              </a:rPr>
              <a:t>Third Eye</a:t>
            </a:r>
          </a:p>
        </p:txBody>
      </p:sp>
      <p:sp>
        <p:nvSpPr>
          <p:cNvPr id="8" name="Rectangle 7"/>
          <p:cNvSpPr/>
          <p:nvPr/>
        </p:nvSpPr>
        <p:spPr>
          <a:xfrm>
            <a:off x="749300" y="2654300"/>
            <a:ext cx="914400" cy="50800"/>
          </a:xfrm>
          <a:prstGeom prst="rect">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3048000"/>
            <a:ext cx="6604000" cy="1409700"/>
          </a:xfrm>
          <a:prstGeom prst="rect">
            <a:avLst/>
          </a:prstGeom>
          <a:noFill/>
        </p:spPr>
        <p:txBody>
          <a:bodyPr wrap="square" lIns="0" rIns="0" tIns="0" bIns="0">
            <a:spAutoFit/>
          </a:bodyPr>
          <a:lstStyle/>
          <a:p>
            <a:pPr>
              <a:lnSpc>
                <a:spcPct val="118000"/>
              </a:lnSpc>
              <a:spcBef>
                <a:spcPts val="0"/>
              </a:spcBef>
              <a:spcAft>
                <a:spcPts val="0"/>
              </a:spcAft>
              <a:defRPr sz="2700" b="1">
                <a:solidFill>
                  <a:srgbClr val="FFFFFF"/>
                </a:solidFill>
                <a:latin typeface="Noto Sans CJK KR"/>
              </a:defRPr>
            </a:pPr>
            <a:r>
              <a:rPr>
                <a:ea typeface="Noto Sans CJK KR"/>
              </a:rPr>
              <a:t>두 개의 거리 센서로</a:t>
            </a:r>
          </a:p>
          <a:p>
            <a:pPr>
              <a:lnSpc>
                <a:spcPct val="118000"/>
              </a:lnSpc>
              <a:spcBef>
                <a:spcPts val="0"/>
              </a:spcBef>
              <a:spcAft>
                <a:spcPts val="0"/>
              </a:spcAft>
              <a:defRPr sz="2700" b="1">
                <a:solidFill>
                  <a:srgbClr val="FFFFFF"/>
                </a:solidFill>
                <a:latin typeface="Noto Sans CJK KR"/>
              </a:defRPr>
            </a:pPr>
            <a:r>
              <a:rPr>
                <a:ea typeface="Noto Sans CJK KR"/>
              </a:rPr>
              <a:t>전방 공간을 소리로 전달하다</a:t>
            </a:r>
          </a:p>
        </p:txBody>
      </p:sp>
      <p:sp>
        <p:nvSpPr>
          <p:cNvPr id="10" name="TextBox 9"/>
          <p:cNvSpPr txBox="1"/>
          <p:nvPr/>
        </p:nvSpPr>
        <p:spPr>
          <a:xfrm>
            <a:off x="736600" y="4737100"/>
            <a:ext cx="6731000" cy="647700"/>
          </a:xfrm>
          <a:prstGeom prst="rect">
            <a:avLst/>
          </a:prstGeom>
          <a:noFill/>
        </p:spPr>
        <p:txBody>
          <a:bodyPr wrap="square" lIns="0" rIns="0" tIns="0" bIns="0">
            <a:spAutoFit/>
          </a:bodyPr>
          <a:lstStyle/>
          <a:p>
            <a:pPr>
              <a:lnSpc>
                <a:spcPct val="118000"/>
              </a:lnSpc>
              <a:spcBef>
                <a:spcPts val="0"/>
              </a:spcBef>
              <a:spcAft>
                <a:spcPts val="0"/>
              </a:spcAft>
              <a:defRPr sz="1600" b="0">
                <a:solidFill>
                  <a:srgbClr val="ACBBB9"/>
                </a:solidFill>
                <a:latin typeface="Noto Sans CJK KR"/>
              </a:defRPr>
            </a:pPr>
            <a:r>
              <a:rPr>
                <a:ea typeface="Noto Sans CJK KR"/>
              </a:rPr>
              <a:t>실측 거리 → HRTF 방향음 → 1초 좌→우 스캔</a:t>
            </a:r>
          </a:p>
        </p:txBody>
      </p:sp>
      <p:sp>
        <p:nvSpPr>
          <p:cNvPr id="11" name="TextBox 10"/>
          <p:cNvSpPr txBox="1"/>
          <p:nvPr/>
        </p:nvSpPr>
        <p:spPr>
          <a:xfrm>
            <a:off x="736600" y="5727700"/>
            <a:ext cx="6096000" cy="304800"/>
          </a:xfrm>
          <a:prstGeom prst="rect">
            <a:avLst/>
          </a:prstGeom>
          <a:noFill/>
        </p:spPr>
        <p:txBody>
          <a:bodyPr wrap="square" lIns="0" rIns="0" tIns="0" bIns="0">
            <a:spAutoFit/>
          </a:bodyPr>
          <a:lstStyle/>
          <a:p>
            <a:pPr>
              <a:lnSpc>
                <a:spcPct val="118000"/>
              </a:lnSpc>
              <a:spcBef>
                <a:spcPts val="0"/>
              </a:spcBef>
              <a:spcAft>
                <a:spcPts val="0"/>
              </a:spcAft>
              <a:defRPr sz="1200" b="0">
                <a:solidFill>
                  <a:srgbClr val="ACBBB9"/>
                </a:solidFill>
                <a:latin typeface="Noto Sans CJK KR"/>
              </a:defRPr>
            </a:pPr>
            <a:r>
              <a:rPr>
                <a:ea typeface="Noto Sans CJK KR"/>
              </a:rPr>
              <a:t>2026.10.26</a:t>
            </a:r>
          </a:p>
        </p:txBody>
      </p:sp>
      <p:sp>
        <p:nvSpPr>
          <p:cNvPr id="12" name="TextBox 11"/>
          <p:cNvSpPr txBox="1"/>
          <p:nvPr/>
        </p:nvSpPr>
        <p:spPr>
          <a:xfrm>
            <a:off x="7645400" y="5676900"/>
            <a:ext cx="3810000" cy="508000"/>
          </a:xfrm>
          <a:prstGeom prst="rect">
            <a:avLst/>
          </a:prstGeom>
          <a:noFill/>
        </p:spPr>
        <p:txBody>
          <a:bodyPr wrap="square" lIns="0" rIns="0" tIns="0" bIns="0">
            <a:spAutoFit/>
          </a:bodyPr>
          <a:lstStyle/>
          <a:p>
            <a:pPr algn="r">
              <a:lnSpc>
                <a:spcPct val="118000"/>
              </a:lnSpc>
              <a:spcBef>
                <a:spcPts val="0"/>
              </a:spcBef>
              <a:spcAft>
                <a:spcPts val="0"/>
              </a:spcAft>
              <a:defRPr sz="1200" b="0">
                <a:solidFill>
                  <a:srgbClr val="ACBBB9"/>
                </a:solidFill>
                <a:latin typeface="Noto Sans CJK KR"/>
              </a:defRPr>
            </a:pPr>
            <a:r>
              <a:rPr>
                <a:ea typeface="Noto Sans CJK KR"/>
              </a:rPr>
              <a:t>2022010900 최배종</a:t>
            </a:r>
          </a:p>
          <a:p>
            <a:pPr algn="r">
              <a:lnSpc>
                <a:spcPct val="118000"/>
              </a:lnSpc>
              <a:spcBef>
                <a:spcPts val="0"/>
              </a:spcBef>
              <a:spcAft>
                <a:spcPts val="0"/>
              </a:spcAft>
              <a:defRPr sz="1200" b="0">
                <a:solidFill>
                  <a:srgbClr val="ACBBB9"/>
                </a:solidFill>
                <a:latin typeface="Noto Sans CJK KR"/>
              </a:defRPr>
            </a:pPr>
            <a:r>
              <a:rPr>
                <a:ea typeface="Noto Sans CJK KR"/>
              </a:rPr>
              <a:t>2021010851 임종민</a:t>
            </a:r>
          </a:p>
        </p:txBody>
      </p:sp>
      <p:cxnSp>
        <p:nvCxnSpPr>
          <p:cNvPr id="13" name="Connector 12"/>
          <p:cNvCxnSpPr/>
          <p:nvPr/>
        </p:nvCxnSpPr>
        <p:spPr>
          <a:xfrm flipV="1">
            <a:off x="8603379" y="3727344"/>
            <a:ext cx="25510" cy="2463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628889" y="3703615"/>
            <a:ext cx="26355" cy="2372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655244" y="3680819"/>
            <a:ext cx="27166" cy="2279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682410" y="3658986"/>
            <a:ext cx="27945" cy="2183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710355" y="3638141"/>
            <a:ext cx="28691" cy="2084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739046" y="3618310"/>
            <a:ext cx="29400" cy="1983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768446" y="3599518"/>
            <a:ext cx="30075" cy="1879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798521" y="3581786"/>
            <a:ext cx="30712" cy="1773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829233" y="3565137"/>
            <a:ext cx="31312" cy="1664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860545" y="3549591"/>
            <a:ext cx="31874" cy="1554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892419" y="3535167"/>
            <a:ext cx="32398" cy="1442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924817" y="3521882"/>
            <a:ext cx="32881" cy="1328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957698" y="3509753"/>
            <a:ext cx="33324" cy="1212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991022" y="3498794"/>
            <a:ext cx="33728" cy="1095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024750" y="3489019"/>
            <a:ext cx="34089" cy="977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058839" y="3480440"/>
            <a:ext cx="34410" cy="857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093249" y="3473066"/>
            <a:ext cx="34689" cy="737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9127938" y="3466908"/>
            <a:ext cx="34924" cy="615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162862" y="3461973"/>
            <a:ext cx="35118" cy="493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197980" y="3458266"/>
            <a:ext cx="35269" cy="370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233249" y="3455792"/>
            <a:ext cx="35377" cy="247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9268626" y="3454554"/>
            <a:ext cx="35442" cy="123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304068" y="3454554"/>
            <a:ext cx="35463" cy="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39531" y="3454554"/>
            <a:ext cx="35442" cy="123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74973" y="3455792"/>
            <a:ext cx="35377" cy="247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410350" y="3458266"/>
            <a:ext cx="35269" cy="370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445619" y="3461973"/>
            <a:ext cx="35118" cy="493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480737" y="3466908"/>
            <a:ext cx="34924" cy="615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15661" y="3473066"/>
            <a:ext cx="34689" cy="737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550350" y="3480440"/>
            <a:ext cx="34410" cy="857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584760" y="3489019"/>
            <a:ext cx="34089" cy="977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618849" y="3498794"/>
            <a:ext cx="33728" cy="1095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652577" y="3509753"/>
            <a:ext cx="33324" cy="1212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685901" y="3521882"/>
            <a:ext cx="32881" cy="1328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718782" y="3535167"/>
            <a:ext cx="32398" cy="1442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751180" y="3549591"/>
            <a:ext cx="31874" cy="1554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783054" y="3565137"/>
            <a:ext cx="31312" cy="1664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814366" y="3581786"/>
            <a:ext cx="30712" cy="1773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845078" y="3599518"/>
            <a:ext cx="30075" cy="1879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875153" y="3618310"/>
            <a:ext cx="29400" cy="1983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904553" y="3638141"/>
            <a:ext cx="28691" cy="2084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933244" y="3658986"/>
            <a:ext cx="27945" cy="2183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961189" y="3680819"/>
            <a:ext cx="27166" cy="2279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988355" y="3703615"/>
            <a:ext cx="26355" cy="2372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014710" y="3727344"/>
            <a:ext cx="25510" cy="2463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091504" y="3197917"/>
            <a:ext cx="43687" cy="4218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135191" y="3157280"/>
            <a:ext cx="45131" cy="406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180322" y="3118243"/>
            <a:ext cx="46523" cy="390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226845" y="3080854"/>
            <a:ext cx="47857" cy="3738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274702" y="3045157"/>
            <a:ext cx="49132" cy="3569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323834" y="3011197"/>
            <a:ext cx="50348" cy="3396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374182" y="2979014"/>
            <a:ext cx="51503" cy="3218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425685" y="2948649"/>
            <a:ext cx="52594" cy="3036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478279" y="2920137"/>
            <a:ext cx="53622" cy="285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531901" y="2893515"/>
            <a:ext cx="54585" cy="2662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586486" y="2868813"/>
            <a:ext cx="55480" cy="2470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641966" y="2846063"/>
            <a:ext cx="56309" cy="2275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698275" y="2825292"/>
            <a:ext cx="57068" cy="2077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755343" y="2806525"/>
            <a:ext cx="57759" cy="1876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8813102" y="2789785"/>
            <a:ext cx="58378" cy="1674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8871480" y="2775093"/>
            <a:ext cx="58927" cy="1469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8930407" y="2762466"/>
            <a:ext cx="59404" cy="1262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8989811" y="2751921"/>
            <a:ext cx="59808" cy="1054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9049619" y="2743468"/>
            <a:ext cx="60140" cy="845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9109759" y="2737120"/>
            <a:ext cx="60398" cy="634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9170157" y="2732884"/>
            <a:ext cx="60583" cy="423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9230740" y="2730764"/>
            <a:ext cx="60694" cy="212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291434" y="2730764"/>
            <a:ext cx="60731" cy="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352165" y="2730764"/>
            <a:ext cx="60694" cy="212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412859" y="2732884"/>
            <a:ext cx="60583" cy="423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473442" y="2737120"/>
            <a:ext cx="60398" cy="634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533840" y="2743468"/>
            <a:ext cx="60140" cy="845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593980" y="2751921"/>
            <a:ext cx="59808" cy="1054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653788" y="2762466"/>
            <a:ext cx="59404" cy="1262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9713192" y="2775093"/>
            <a:ext cx="58927" cy="1469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9772119" y="2789785"/>
            <a:ext cx="58378" cy="1674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830497" y="2806525"/>
            <a:ext cx="57759" cy="1876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9888256" y="2825292"/>
            <a:ext cx="57068" cy="2077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9945324" y="2846063"/>
            <a:ext cx="56309" cy="2275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001633" y="2868813"/>
            <a:ext cx="55480" cy="2470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057113" y="2893515"/>
            <a:ext cx="54585" cy="2662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111698" y="2920137"/>
            <a:ext cx="53622" cy="285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165320" y="2948649"/>
            <a:ext cx="52594" cy="3036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217914" y="2979014"/>
            <a:ext cx="51503" cy="3218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269417" y="3011197"/>
            <a:ext cx="50348" cy="3396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319765" y="3045157"/>
            <a:ext cx="49132" cy="3569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368897" y="3080854"/>
            <a:ext cx="47857" cy="3738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416754" y="3118243"/>
            <a:ext cx="46523" cy="390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463277" y="3157280"/>
            <a:ext cx="45131" cy="406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0508408" y="3197917"/>
            <a:ext cx="43687" cy="4218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7570650" y="2659202"/>
            <a:ext cx="62181" cy="6004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7632831" y="2601361"/>
            <a:ext cx="64238" cy="5784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7697069" y="2545798"/>
            <a:ext cx="66219" cy="5556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7763288" y="2492579"/>
            <a:ext cx="68117" cy="5321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7831405" y="2441769"/>
            <a:ext cx="69932" cy="5081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7901337" y="2393432"/>
            <a:ext cx="71664" cy="483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7973001" y="2347625"/>
            <a:ext cx="73307" cy="4580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8046308" y="2304404"/>
            <a:ext cx="74860" cy="4322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8121168" y="2263822"/>
            <a:ext cx="76324" cy="4058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8197492" y="2225928"/>
            <a:ext cx="77693" cy="3789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8275185" y="2190769"/>
            <a:ext cx="78969" cy="3515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8354154" y="2158388"/>
            <a:ext cx="80147" cy="3238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8434301" y="2128823"/>
            <a:ext cx="81229" cy="2956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515530" y="2102111"/>
            <a:ext cx="82211" cy="267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8597741" y="2078284"/>
            <a:ext cx="83093" cy="2382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680834" y="2057372"/>
            <a:ext cx="83874" cy="209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8764708" y="2039400"/>
            <a:ext cx="84553" cy="1797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849261" y="2024389"/>
            <a:ext cx="85129" cy="1501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8934390" y="2012359"/>
            <a:ext cx="85600" cy="1203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9019990" y="2003323"/>
            <a:ext cx="85968" cy="903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9105958" y="1997293"/>
            <a:ext cx="86232" cy="603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9192190" y="1994277"/>
            <a:ext cx="86389" cy="301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9278579" y="1994277"/>
            <a:ext cx="86441" cy="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9365020" y="1994277"/>
            <a:ext cx="86389" cy="301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9451409" y="1997293"/>
            <a:ext cx="86232" cy="603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537641" y="2003323"/>
            <a:ext cx="85968" cy="9036"/>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623609" y="2012359"/>
            <a:ext cx="85600" cy="1203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9709209" y="2024389"/>
            <a:ext cx="85129" cy="1501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794338" y="2039400"/>
            <a:ext cx="84553" cy="1797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9878891" y="2057372"/>
            <a:ext cx="83874" cy="209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962765" y="2078284"/>
            <a:ext cx="83093" cy="2382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0045858" y="2102111"/>
            <a:ext cx="82211" cy="2671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0128069" y="2128823"/>
            <a:ext cx="81229" cy="29565"/>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10209298" y="2158388"/>
            <a:ext cx="80147" cy="3238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10289445" y="2190769"/>
            <a:ext cx="78969" cy="3515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10368414" y="2225928"/>
            <a:ext cx="77693" cy="37894"/>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10446107" y="2263822"/>
            <a:ext cx="76324" cy="40582"/>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10522431" y="2304404"/>
            <a:ext cx="74860" cy="4322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10597291" y="2347625"/>
            <a:ext cx="73307" cy="4580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670598" y="2393432"/>
            <a:ext cx="71664" cy="48337"/>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10742262" y="2441769"/>
            <a:ext cx="69932" cy="50810"/>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0812194" y="2492579"/>
            <a:ext cx="68117" cy="53219"/>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10880311" y="2545798"/>
            <a:ext cx="66219" cy="55563"/>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0946530" y="2601361"/>
            <a:ext cx="64238" cy="57841"/>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1010768" y="2659202"/>
            <a:ext cx="62181" cy="60048"/>
          </a:xfrm>
          <a:prstGeom prst="line">
            <a:avLst/>
          </a:prstGeom>
          <a:ln w="1524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flipV="1">
            <a:off x="7570650" y="2719250"/>
            <a:ext cx="1751150" cy="1751150"/>
          </a:xfrm>
          <a:prstGeom prst="line">
            <a:avLst/>
          </a:prstGeom>
          <a:ln w="1270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9321800" y="1993899"/>
            <a:ext cx="0" cy="2476501"/>
          </a:xfrm>
          <a:prstGeom prst="line">
            <a:avLst/>
          </a:prstGeom>
          <a:ln w="12700">
            <a:solidFill>
              <a:srgbClr val="3A474B"/>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9321800" y="2719250"/>
            <a:ext cx="1751149" cy="1751150"/>
          </a:xfrm>
          <a:prstGeom prst="line">
            <a:avLst/>
          </a:prstGeom>
          <a:ln w="12700">
            <a:solidFill>
              <a:srgbClr val="3A474B"/>
            </a:solidFill>
          </a:ln>
        </p:spPr>
        <p:style>
          <a:lnRef idx="2">
            <a:schemeClr val="accent1"/>
          </a:lnRef>
          <a:fillRef idx="0">
            <a:schemeClr val="accent1"/>
          </a:fillRef>
          <a:effectRef idx="1">
            <a:schemeClr val="accent1"/>
          </a:effectRef>
          <a:fontRef idx="minor">
            <a:schemeClr val="tx1"/>
          </a:fontRef>
        </p:style>
      </p:cxnSp>
      <p:sp>
        <p:nvSpPr>
          <p:cNvPr id="151" name="Oval 150"/>
          <p:cNvSpPr/>
          <p:nvPr/>
        </p:nvSpPr>
        <p:spPr>
          <a:xfrm>
            <a:off x="8285095" y="2661403"/>
            <a:ext cx="152400" cy="152400"/>
          </a:xfrm>
          <a:prstGeom prst="ellipse">
            <a:avLst/>
          </a:prstGeom>
          <a:solidFill>
            <a:srgbClr val="C45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8335895" y="2712203"/>
            <a:ext cx="50800" cy="50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9245600" y="2870200"/>
            <a:ext cx="152400" cy="152400"/>
          </a:xfrm>
          <a:prstGeom prst="ellipse">
            <a:avLst/>
          </a:prstGeom>
          <a:solidFill>
            <a:srgbClr val="C45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9296400" y="2921000"/>
            <a:ext cx="50800" cy="50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10383731" y="2500031"/>
            <a:ext cx="152400" cy="152400"/>
          </a:xfrm>
          <a:prstGeom prst="ellipse">
            <a:avLst/>
          </a:prstGeom>
          <a:solidFill>
            <a:srgbClr val="C45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10434531" y="2550831"/>
            <a:ext cx="50800" cy="50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9156700" y="4305300"/>
            <a:ext cx="330200" cy="330200"/>
          </a:xfrm>
          <a:prstGeom prst="ellipse">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750300" y="4749800"/>
            <a:ext cx="1143000" cy="3175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ACBBB9"/>
                </a:solidFill>
                <a:latin typeface="Noto Sans CJK KR"/>
              </a:defRPr>
            </a:pPr>
            <a:r>
              <a:rPr>
                <a:ea typeface="Noto Sans CJK KR"/>
              </a:rPr>
              <a:t>전방 공간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출발한 질문 · 무엇을 만드는가</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보이는 공간을,</a:t>
            </a:r>
          </a:p>
          <a:p>
            <a:pPr>
              <a:lnSpc>
                <a:spcPct val="118000"/>
              </a:lnSpc>
              <a:spcBef>
                <a:spcPts val="0"/>
              </a:spcBef>
              <a:spcAft>
                <a:spcPts val="0"/>
              </a:spcAft>
              <a:defRPr sz="3100" b="1">
                <a:solidFill>
                  <a:srgbClr val="151D21"/>
                </a:solidFill>
                <a:latin typeface="Noto Sans CJK KR"/>
              </a:defRPr>
            </a:pPr>
            <a:r>
              <a:rPr>
                <a:ea typeface="Noto Sans CJK KR"/>
              </a:rPr>
              <a:t>듣는 정보로 바꾸면 어떨까</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02</a:t>
            </a:r>
          </a:p>
        </p:txBody>
      </p:sp>
      <p:sp>
        <p:nvSpPr>
          <p:cNvPr id="7" name="Rounded Rectangle 6"/>
          <p:cNvSpPr/>
          <p:nvPr/>
        </p:nvSpPr>
        <p:spPr>
          <a:xfrm>
            <a:off x="711200" y="2692400"/>
            <a:ext cx="5041900" cy="2997200"/>
          </a:xfrm>
          <a:prstGeom prst="roundRect">
            <a:avLst>
              <a:gd name="adj" fmla="val 3389"/>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599" y="2946400"/>
            <a:ext cx="4445000" cy="3048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출발한 질문</a:t>
            </a:r>
          </a:p>
        </p:txBody>
      </p:sp>
      <p:sp>
        <p:nvSpPr>
          <p:cNvPr id="9" name="TextBox 8"/>
          <p:cNvSpPr txBox="1"/>
          <p:nvPr/>
        </p:nvSpPr>
        <p:spPr>
          <a:xfrm>
            <a:off x="990599" y="3479800"/>
            <a:ext cx="4445000" cy="927100"/>
          </a:xfrm>
          <a:prstGeom prst="rect">
            <a:avLst/>
          </a:prstGeom>
          <a:noFill/>
        </p:spPr>
        <p:txBody>
          <a:bodyPr wrap="square" lIns="0" rIns="0" tIns="0" bIns="0">
            <a:spAutoFit/>
          </a:bodyPr>
          <a:lstStyle/>
          <a:p>
            <a:pPr>
              <a:lnSpc>
                <a:spcPct val="118000"/>
              </a:lnSpc>
              <a:spcBef>
                <a:spcPts val="0"/>
              </a:spcBef>
              <a:spcAft>
                <a:spcPts val="0"/>
              </a:spcAft>
              <a:defRPr sz="2200" b="1">
                <a:solidFill>
                  <a:srgbClr val="151D21"/>
                </a:solidFill>
                <a:latin typeface="Noto Sans CJK KR"/>
              </a:defRPr>
            </a:pPr>
            <a:r>
              <a:rPr>
                <a:ea typeface="Noto Sans CJK KR"/>
              </a:rPr>
              <a:t>눈앞에 무엇이 얼마나 가까운지</a:t>
            </a:r>
          </a:p>
          <a:p>
            <a:pPr>
              <a:lnSpc>
                <a:spcPct val="118000"/>
              </a:lnSpc>
              <a:spcBef>
                <a:spcPts val="0"/>
              </a:spcBef>
              <a:spcAft>
                <a:spcPts val="0"/>
              </a:spcAft>
              <a:defRPr sz="2200" b="1">
                <a:solidFill>
                  <a:srgbClr val="151D21"/>
                </a:solidFill>
                <a:latin typeface="Noto Sans CJK KR"/>
              </a:defRPr>
            </a:pPr>
            <a:r>
              <a:rPr>
                <a:ea typeface="Noto Sans CJK KR"/>
              </a:rPr>
              <a:t>시각 없이 전달하려면?</a:t>
            </a:r>
          </a:p>
        </p:txBody>
      </p:sp>
      <p:sp>
        <p:nvSpPr>
          <p:cNvPr id="10" name="TextBox 9"/>
          <p:cNvSpPr txBox="1"/>
          <p:nvPr/>
        </p:nvSpPr>
        <p:spPr>
          <a:xfrm>
            <a:off x="990599" y="4749800"/>
            <a:ext cx="4445000" cy="660400"/>
          </a:xfrm>
          <a:prstGeom prst="rect">
            <a:avLst/>
          </a:prstGeom>
          <a:noFill/>
        </p:spPr>
        <p:txBody>
          <a:bodyPr wrap="square" lIns="0" rIns="0" tIns="0" bIns="0">
            <a:spAutoFit/>
          </a:bodyPr>
          <a:lstStyle/>
          <a:p>
            <a:pPr>
              <a:lnSpc>
                <a:spcPct val="118000"/>
              </a:lnSpc>
              <a:spcBef>
                <a:spcPts val="0"/>
              </a:spcBef>
              <a:spcAft>
                <a:spcPts val="0"/>
              </a:spcAft>
              <a:defRPr sz="1600" b="0">
                <a:solidFill>
                  <a:srgbClr val="66716F"/>
                </a:solidFill>
                <a:latin typeface="Noto Sans CJK KR"/>
              </a:defRPr>
            </a:pPr>
            <a:r>
              <a:rPr>
                <a:ea typeface="Noto Sans CJK KR"/>
              </a:rPr>
              <a:t>거리와 방향을 소리로 바꿔</a:t>
            </a:r>
          </a:p>
          <a:p>
            <a:pPr>
              <a:lnSpc>
                <a:spcPct val="118000"/>
              </a:lnSpc>
              <a:spcBef>
                <a:spcPts val="0"/>
              </a:spcBef>
              <a:spcAft>
                <a:spcPts val="0"/>
              </a:spcAft>
              <a:defRPr sz="1600" b="0">
                <a:solidFill>
                  <a:srgbClr val="66716F"/>
                </a:solidFill>
                <a:latin typeface="Noto Sans CJK KR"/>
              </a:defRPr>
            </a:pPr>
            <a:r>
              <a:rPr>
                <a:ea typeface="Noto Sans CJK KR"/>
              </a:rPr>
              <a:t>주변 공간을 파악하도록 돕는다.</a:t>
            </a:r>
          </a:p>
        </p:txBody>
      </p:sp>
      <p:sp>
        <p:nvSpPr>
          <p:cNvPr id="11" name="Rounded Rectangle 10"/>
          <p:cNvSpPr/>
          <p:nvPr/>
        </p:nvSpPr>
        <p:spPr>
          <a:xfrm>
            <a:off x="6007100" y="2692400"/>
            <a:ext cx="5473700" cy="2997200"/>
          </a:xfrm>
          <a:prstGeom prst="roundRect">
            <a:avLst>
              <a:gd name="adj" fmla="val 3389"/>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11900" y="2946400"/>
            <a:ext cx="4876800" cy="304800"/>
          </a:xfrm>
          <a:prstGeom prst="rect">
            <a:avLst/>
          </a:prstGeom>
          <a:noFill/>
        </p:spPr>
        <p:txBody>
          <a:bodyPr wrap="square" lIns="0" rIns="0" tIns="0" bIns="0">
            <a:spAutoFit/>
          </a:bodyPr>
          <a:lstStyle/>
          <a:p>
            <a:pPr>
              <a:lnSpc>
                <a:spcPct val="118000"/>
              </a:lnSpc>
              <a:spcBef>
                <a:spcPts val="0"/>
              </a:spcBef>
              <a:spcAft>
                <a:spcPts val="0"/>
              </a:spcAft>
              <a:defRPr sz="1300" b="1">
                <a:solidFill>
                  <a:srgbClr val="ACBBB9"/>
                </a:solidFill>
                <a:latin typeface="Noto Sans CJK KR"/>
              </a:defRPr>
            </a:pPr>
            <a:r>
              <a:rPr>
                <a:ea typeface="Noto Sans CJK KR"/>
              </a:rPr>
              <a:t>현재 구현한 접근</a:t>
            </a:r>
          </a:p>
        </p:txBody>
      </p:sp>
      <p:sp>
        <p:nvSpPr>
          <p:cNvPr id="13" name="TextBox 12"/>
          <p:cNvSpPr txBox="1"/>
          <p:nvPr/>
        </p:nvSpPr>
        <p:spPr>
          <a:xfrm>
            <a:off x="6311900" y="3492500"/>
            <a:ext cx="508000" cy="317500"/>
          </a:xfrm>
          <a:prstGeom prst="rect">
            <a:avLst/>
          </a:prstGeom>
          <a:noFill/>
        </p:spPr>
        <p:txBody>
          <a:bodyPr wrap="square" lIns="0" rIns="0" tIns="0" bIns="0">
            <a:spAutoFit/>
          </a:bodyPr>
          <a:lstStyle/>
          <a:p>
            <a:pPr>
              <a:lnSpc>
                <a:spcPct val="118000"/>
              </a:lnSpc>
              <a:spcBef>
                <a:spcPts val="0"/>
              </a:spcBef>
              <a:spcAft>
                <a:spcPts val="0"/>
              </a:spcAft>
              <a:defRPr sz="1400" b="1">
                <a:solidFill>
                  <a:srgbClr val="C45831"/>
                </a:solidFill>
                <a:latin typeface="Noto Sans CJK KR"/>
              </a:defRPr>
            </a:pPr>
            <a:r>
              <a:rPr>
                <a:ea typeface="Noto Sans CJK KR"/>
              </a:rPr>
              <a:t>01</a:t>
            </a:r>
          </a:p>
        </p:txBody>
      </p:sp>
      <p:sp>
        <p:nvSpPr>
          <p:cNvPr id="14" name="TextBox 13"/>
          <p:cNvSpPr txBox="1"/>
          <p:nvPr/>
        </p:nvSpPr>
        <p:spPr>
          <a:xfrm>
            <a:off x="6921500" y="3492500"/>
            <a:ext cx="825500" cy="330200"/>
          </a:xfrm>
          <a:prstGeom prst="rect">
            <a:avLst/>
          </a:prstGeom>
          <a:noFill/>
        </p:spPr>
        <p:txBody>
          <a:bodyPr wrap="square" lIns="0" rIns="0" tIns="0" bIns="0">
            <a:spAutoFit/>
          </a:bodyPr>
          <a:lstStyle/>
          <a:p>
            <a:pPr>
              <a:lnSpc>
                <a:spcPct val="118000"/>
              </a:lnSpc>
              <a:spcBef>
                <a:spcPts val="0"/>
              </a:spcBef>
              <a:spcAft>
                <a:spcPts val="0"/>
              </a:spcAft>
              <a:defRPr sz="1800" b="1">
                <a:solidFill>
                  <a:srgbClr val="FFFFFF"/>
                </a:solidFill>
                <a:latin typeface="Noto Sans CJK KR"/>
              </a:defRPr>
            </a:pPr>
            <a:r>
              <a:rPr>
                <a:ea typeface="Noto Sans CJK KR"/>
              </a:rPr>
              <a:t>측정</a:t>
            </a:r>
          </a:p>
        </p:txBody>
      </p:sp>
      <p:sp>
        <p:nvSpPr>
          <p:cNvPr id="15" name="TextBox 14"/>
          <p:cNvSpPr txBox="1"/>
          <p:nvPr/>
        </p:nvSpPr>
        <p:spPr>
          <a:xfrm>
            <a:off x="7937500" y="3517900"/>
            <a:ext cx="3213100" cy="533400"/>
          </a:xfrm>
          <a:prstGeom prst="rect">
            <a:avLst/>
          </a:prstGeom>
          <a:noFill/>
        </p:spPr>
        <p:txBody>
          <a:bodyPr wrap="square" lIns="0" rIns="0" tIns="0" bIns="0">
            <a:spAutoFit/>
          </a:bodyPr>
          <a:lstStyle/>
          <a:p>
            <a:pPr>
              <a:lnSpc>
                <a:spcPct val="118000"/>
              </a:lnSpc>
              <a:spcBef>
                <a:spcPts val="0"/>
              </a:spcBef>
              <a:spcAft>
                <a:spcPts val="0"/>
              </a:spcAft>
              <a:defRPr sz="1400" b="0">
                <a:solidFill>
                  <a:srgbClr val="ACBBB9"/>
                </a:solidFill>
                <a:latin typeface="Noto Sans CJK KR"/>
              </a:defRPr>
            </a:pPr>
            <a:r>
              <a:rPr>
                <a:ea typeface="Noto Sans CJK KR"/>
              </a:rPr>
              <a:t>두 ToF 센서에서 거리 격자 수신</a:t>
            </a:r>
          </a:p>
        </p:txBody>
      </p:sp>
      <p:sp>
        <p:nvSpPr>
          <p:cNvPr id="16" name="TextBox 15"/>
          <p:cNvSpPr txBox="1"/>
          <p:nvPr/>
        </p:nvSpPr>
        <p:spPr>
          <a:xfrm>
            <a:off x="6311900" y="4165600"/>
            <a:ext cx="508000" cy="317500"/>
          </a:xfrm>
          <a:prstGeom prst="rect">
            <a:avLst/>
          </a:prstGeom>
          <a:noFill/>
        </p:spPr>
        <p:txBody>
          <a:bodyPr wrap="square" lIns="0" rIns="0" tIns="0" bIns="0">
            <a:spAutoFit/>
          </a:bodyPr>
          <a:lstStyle/>
          <a:p>
            <a:pPr>
              <a:lnSpc>
                <a:spcPct val="118000"/>
              </a:lnSpc>
              <a:spcBef>
                <a:spcPts val="0"/>
              </a:spcBef>
              <a:spcAft>
                <a:spcPts val="0"/>
              </a:spcAft>
              <a:defRPr sz="1400" b="1">
                <a:solidFill>
                  <a:srgbClr val="C45831"/>
                </a:solidFill>
                <a:latin typeface="Noto Sans CJK KR"/>
              </a:defRPr>
            </a:pPr>
            <a:r>
              <a:rPr>
                <a:ea typeface="Noto Sans CJK KR"/>
              </a:rPr>
              <a:t>02</a:t>
            </a:r>
          </a:p>
        </p:txBody>
      </p:sp>
      <p:sp>
        <p:nvSpPr>
          <p:cNvPr id="17" name="TextBox 16"/>
          <p:cNvSpPr txBox="1"/>
          <p:nvPr/>
        </p:nvSpPr>
        <p:spPr>
          <a:xfrm>
            <a:off x="6921500" y="4165600"/>
            <a:ext cx="825500" cy="330200"/>
          </a:xfrm>
          <a:prstGeom prst="rect">
            <a:avLst/>
          </a:prstGeom>
          <a:noFill/>
        </p:spPr>
        <p:txBody>
          <a:bodyPr wrap="square" lIns="0" rIns="0" tIns="0" bIns="0">
            <a:spAutoFit/>
          </a:bodyPr>
          <a:lstStyle/>
          <a:p>
            <a:pPr>
              <a:lnSpc>
                <a:spcPct val="118000"/>
              </a:lnSpc>
              <a:spcBef>
                <a:spcPts val="0"/>
              </a:spcBef>
              <a:spcAft>
                <a:spcPts val="0"/>
              </a:spcAft>
              <a:defRPr sz="1800" b="1">
                <a:solidFill>
                  <a:srgbClr val="FFFFFF"/>
                </a:solidFill>
                <a:latin typeface="Noto Sans CJK KR"/>
              </a:defRPr>
            </a:pPr>
            <a:r>
              <a:rPr>
                <a:ea typeface="Noto Sans CJK KR"/>
              </a:rPr>
              <a:t>변환</a:t>
            </a:r>
          </a:p>
        </p:txBody>
      </p:sp>
      <p:sp>
        <p:nvSpPr>
          <p:cNvPr id="18" name="TextBox 17"/>
          <p:cNvSpPr txBox="1"/>
          <p:nvPr/>
        </p:nvSpPr>
        <p:spPr>
          <a:xfrm>
            <a:off x="7937500" y="4190999"/>
            <a:ext cx="3213100" cy="533400"/>
          </a:xfrm>
          <a:prstGeom prst="rect">
            <a:avLst/>
          </a:prstGeom>
          <a:noFill/>
        </p:spPr>
        <p:txBody>
          <a:bodyPr wrap="square" lIns="0" rIns="0" tIns="0" bIns="0">
            <a:spAutoFit/>
          </a:bodyPr>
          <a:lstStyle/>
          <a:p>
            <a:pPr>
              <a:lnSpc>
                <a:spcPct val="118000"/>
              </a:lnSpc>
              <a:spcBef>
                <a:spcPts val="0"/>
              </a:spcBef>
              <a:spcAft>
                <a:spcPts val="0"/>
              </a:spcAft>
              <a:defRPr sz="1400" b="0">
                <a:solidFill>
                  <a:srgbClr val="ACBBB9"/>
                </a:solidFill>
                <a:latin typeface="Noto Sans CJK KR"/>
              </a:defRPr>
            </a:pPr>
            <a:r>
              <a:rPr>
                <a:ea typeface="Noto Sans CJK KR"/>
              </a:rPr>
              <a:t>격자 위치 → 추정 방향과 거리</a:t>
            </a:r>
          </a:p>
        </p:txBody>
      </p:sp>
      <p:sp>
        <p:nvSpPr>
          <p:cNvPr id="19" name="TextBox 18"/>
          <p:cNvSpPr txBox="1"/>
          <p:nvPr/>
        </p:nvSpPr>
        <p:spPr>
          <a:xfrm>
            <a:off x="6311900" y="4838700"/>
            <a:ext cx="508000" cy="317500"/>
          </a:xfrm>
          <a:prstGeom prst="rect">
            <a:avLst/>
          </a:prstGeom>
          <a:noFill/>
        </p:spPr>
        <p:txBody>
          <a:bodyPr wrap="square" lIns="0" rIns="0" tIns="0" bIns="0">
            <a:spAutoFit/>
          </a:bodyPr>
          <a:lstStyle/>
          <a:p>
            <a:pPr>
              <a:lnSpc>
                <a:spcPct val="118000"/>
              </a:lnSpc>
              <a:spcBef>
                <a:spcPts val="0"/>
              </a:spcBef>
              <a:spcAft>
                <a:spcPts val="0"/>
              </a:spcAft>
              <a:defRPr sz="1400" b="1">
                <a:solidFill>
                  <a:srgbClr val="C45831"/>
                </a:solidFill>
                <a:latin typeface="Noto Sans CJK KR"/>
              </a:defRPr>
            </a:pPr>
            <a:r>
              <a:rPr>
                <a:ea typeface="Noto Sans CJK KR"/>
              </a:rPr>
              <a:t>03</a:t>
            </a:r>
          </a:p>
        </p:txBody>
      </p:sp>
      <p:sp>
        <p:nvSpPr>
          <p:cNvPr id="20" name="TextBox 19"/>
          <p:cNvSpPr txBox="1"/>
          <p:nvPr/>
        </p:nvSpPr>
        <p:spPr>
          <a:xfrm>
            <a:off x="6921500" y="4838700"/>
            <a:ext cx="825500" cy="330200"/>
          </a:xfrm>
          <a:prstGeom prst="rect">
            <a:avLst/>
          </a:prstGeom>
          <a:noFill/>
        </p:spPr>
        <p:txBody>
          <a:bodyPr wrap="square" lIns="0" rIns="0" tIns="0" bIns="0">
            <a:spAutoFit/>
          </a:bodyPr>
          <a:lstStyle/>
          <a:p>
            <a:pPr>
              <a:lnSpc>
                <a:spcPct val="118000"/>
              </a:lnSpc>
              <a:spcBef>
                <a:spcPts val="0"/>
              </a:spcBef>
              <a:spcAft>
                <a:spcPts val="0"/>
              </a:spcAft>
              <a:defRPr sz="1800" b="1">
                <a:solidFill>
                  <a:srgbClr val="FFFFFF"/>
                </a:solidFill>
                <a:latin typeface="Noto Sans CJK KR"/>
              </a:defRPr>
            </a:pPr>
            <a:r>
              <a:rPr>
                <a:ea typeface="Noto Sans CJK KR"/>
              </a:rPr>
              <a:t>전달</a:t>
            </a:r>
          </a:p>
        </p:txBody>
      </p:sp>
      <p:sp>
        <p:nvSpPr>
          <p:cNvPr id="21" name="TextBox 20"/>
          <p:cNvSpPr txBox="1"/>
          <p:nvPr/>
        </p:nvSpPr>
        <p:spPr>
          <a:xfrm>
            <a:off x="7937500" y="4864100"/>
            <a:ext cx="3213100" cy="533400"/>
          </a:xfrm>
          <a:prstGeom prst="rect">
            <a:avLst/>
          </a:prstGeom>
          <a:noFill/>
        </p:spPr>
        <p:txBody>
          <a:bodyPr wrap="square" lIns="0" rIns="0" tIns="0" bIns="0">
            <a:spAutoFit/>
          </a:bodyPr>
          <a:lstStyle/>
          <a:p>
            <a:pPr>
              <a:lnSpc>
                <a:spcPct val="118000"/>
              </a:lnSpc>
              <a:spcBef>
                <a:spcPts val="0"/>
              </a:spcBef>
              <a:spcAft>
                <a:spcPts val="0"/>
              </a:spcAft>
              <a:defRPr sz="1400" b="0">
                <a:solidFill>
                  <a:srgbClr val="ACBBB9"/>
                </a:solidFill>
                <a:latin typeface="Noto Sans CJK KR"/>
              </a:defRPr>
            </a:pPr>
            <a:r>
              <a:rPr>
                <a:ea typeface="Noto Sans CJK KR"/>
              </a:rPr>
              <a:t>HRTF 방향음 + 시간 순서로 출력</a:t>
            </a:r>
          </a:p>
        </p:txBody>
      </p:sp>
      <p:sp>
        <p:nvSpPr>
          <p:cNvPr id="22" name="TextBox 21"/>
          <p:cNvSpPr txBox="1"/>
          <p:nvPr/>
        </p:nvSpPr>
        <p:spPr>
          <a:xfrm>
            <a:off x="736600" y="5930900"/>
            <a:ext cx="10642600" cy="279400"/>
          </a:xfrm>
          <a:prstGeom prst="rect">
            <a:avLst/>
          </a:prstGeom>
          <a:noFill/>
        </p:spPr>
        <p:txBody>
          <a:bodyPr wrap="square" lIns="0" rIns="0" tIns="0" bIns="0">
            <a:spAutoFit/>
          </a:bodyPr>
          <a:lstStyle/>
          <a:p>
            <a:pPr>
              <a:lnSpc>
                <a:spcPct val="118000"/>
              </a:lnSpc>
              <a:spcBef>
                <a:spcPts val="0"/>
              </a:spcBef>
              <a:spcAft>
                <a:spcPts val="0"/>
              </a:spcAft>
              <a:defRPr sz="1300" b="0">
                <a:solidFill>
                  <a:srgbClr val="66716F"/>
                </a:solidFill>
                <a:latin typeface="Noto Sans CJK KR"/>
              </a:defRPr>
            </a:pPr>
            <a:r>
              <a:rPr>
                <a:ea typeface="Noto Sans CJK KR"/>
              </a:rPr>
              <a:t>반향정위에서 출발한 아이디어를 센서 기반의 청각 인터페이스로 구체화했다.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목표 과제</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두 가지 목표 중,</a:t>
            </a:r>
          </a:p>
          <a:p>
            <a:pPr>
              <a:lnSpc>
                <a:spcPct val="118000"/>
              </a:lnSpc>
              <a:spcBef>
                <a:spcPts val="0"/>
              </a:spcBef>
              <a:spcAft>
                <a:spcPts val="0"/>
              </a:spcAft>
              <a:defRPr sz="3100" b="1">
                <a:solidFill>
                  <a:srgbClr val="151D21"/>
                </a:solidFill>
                <a:latin typeface="Noto Sans CJK KR"/>
              </a:defRPr>
            </a:pPr>
            <a:r>
              <a:rPr>
                <a:ea typeface="Noto Sans CJK KR"/>
              </a:rPr>
              <a:t>현재는 거리·방향 전달에 집중했다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03</a:t>
            </a:r>
          </a:p>
        </p:txBody>
      </p:sp>
      <p:sp>
        <p:nvSpPr>
          <p:cNvPr id="7" name="Rounded Rectangle 6"/>
          <p:cNvSpPr/>
          <p:nvPr/>
        </p:nvSpPr>
        <p:spPr>
          <a:xfrm>
            <a:off x="711200" y="2692400"/>
            <a:ext cx="5283200" cy="3111500"/>
          </a:xfrm>
          <a:prstGeom prst="roundRect">
            <a:avLst>
              <a:gd name="adj" fmla="val 3265"/>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599" y="2946400"/>
            <a:ext cx="635000" cy="3302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01</a:t>
            </a:r>
          </a:p>
        </p:txBody>
      </p:sp>
      <p:sp>
        <p:nvSpPr>
          <p:cNvPr id="9" name="TextBox 8"/>
          <p:cNvSpPr txBox="1"/>
          <p:nvPr/>
        </p:nvSpPr>
        <p:spPr>
          <a:xfrm>
            <a:off x="990599" y="3454400"/>
            <a:ext cx="4737100" cy="444500"/>
          </a:xfrm>
          <a:prstGeom prst="rect">
            <a:avLst/>
          </a:prstGeom>
          <a:noFill/>
        </p:spPr>
        <p:txBody>
          <a:bodyPr wrap="square" lIns="0" rIns="0" tIns="0" bIns="0">
            <a:spAutoFit/>
          </a:bodyPr>
          <a:lstStyle/>
          <a:p>
            <a:pPr>
              <a:lnSpc>
                <a:spcPct val="118000"/>
              </a:lnSpc>
              <a:spcBef>
                <a:spcPts val="0"/>
              </a:spcBef>
              <a:spcAft>
                <a:spcPts val="0"/>
              </a:spcAft>
              <a:defRPr sz="2200" b="1">
                <a:solidFill>
                  <a:srgbClr val="151D21"/>
                </a:solidFill>
                <a:latin typeface="Noto Sans CJK KR"/>
              </a:defRPr>
            </a:pPr>
            <a:r>
              <a:rPr>
                <a:ea typeface="Noto Sans CJK KR"/>
              </a:rPr>
              <a:t>이동을 위한 공간 파악</a:t>
            </a:r>
          </a:p>
        </p:txBody>
      </p:sp>
      <p:sp>
        <p:nvSpPr>
          <p:cNvPr id="10" name="TextBox 9"/>
          <p:cNvSpPr txBox="1"/>
          <p:nvPr/>
        </p:nvSpPr>
        <p:spPr>
          <a:xfrm>
            <a:off x="990599" y="4038600"/>
            <a:ext cx="4737100" cy="330200"/>
          </a:xfrm>
          <a:prstGeom prst="rect">
            <a:avLst/>
          </a:prstGeom>
          <a:noFill/>
        </p:spPr>
        <p:txBody>
          <a:bodyPr wrap="square" lIns="0" rIns="0" tIns="0" bIns="0">
            <a:spAutoFit/>
          </a:bodyPr>
          <a:lstStyle/>
          <a:p>
            <a:pPr>
              <a:lnSpc>
                <a:spcPct val="118000"/>
              </a:lnSpc>
              <a:spcBef>
                <a:spcPts val="0"/>
              </a:spcBef>
              <a:spcAft>
                <a:spcPts val="0"/>
              </a:spcAft>
              <a:defRPr sz="1700" b="0">
                <a:solidFill>
                  <a:srgbClr val="66716F"/>
                </a:solidFill>
                <a:latin typeface="Noto Sans CJK KR"/>
              </a:defRPr>
            </a:pPr>
            <a:r>
              <a:rPr>
                <a:ea typeface="Noto Sans CJK KR"/>
              </a:rPr>
              <a:t>전방의 장애물 위치를 알아차리기</a:t>
            </a:r>
          </a:p>
        </p:txBody>
      </p:sp>
      <p:cxnSp>
        <p:nvCxnSpPr>
          <p:cNvPr id="11" name="Connector 10"/>
          <p:cNvCxnSpPr/>
          <p:nvPr/>
        </p:nvCxnSpPr>
        <p:spPr>
          <a:xfrm>
            <a:off x="990599" y="4508500"/>
            <a:ext cx="4724401" cy="0"/>
          </a:xfrm>
          <a:prstGeom prst="line">
            <a:avLst/>
          </a:prstGeom>
          <a:ln w="15240">
            <a:solidFill>
              <a:srgbClr val="DADBD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90599" y="4711700"/>
            <a:ext cx="4737100" cy="330200"/>
          </a:xfrm>
          <a:prstGeom prst="rect">
            <a:avLst/>
          </a:prstGeom>
          <a:noFill/>
        </p:spPr>
        <p:txBody>
          <a:bodyPr wrap="square" lIns="0" rIns="0" tIns="0" bIns="0">
            <a:spAutoFit/>
          </a:bodyPr>
          <a:lstStyle/>
          <a:p>
            <a:pPr>
              <a:lnSpc>
                <a:spcPct val="118000"/>
              </a:lnSpc>
              <a:spcBef>
                <a:spcPts val="0"/>
              </a:spcBef>
              <a:spcAft>
                <a:spcPts val="0"/>
              </a:spcAft>
              <a:defRPr sz="1500" b="0">
                <a:solidFill>
                  <a:srgbClr val="66716F"/>
                </a:solidFill>
                <a:latin typeface="Noto Sans CJK KR"/>
              </a:defRPr>
            </a:pPr>
            <a:r>
              <a:rPr>
                <a:ea typeface="Noto Sans CJK KR"/>
              </a:rPr>
              <a:t>주요 관심 범위 1–4m</a:t>
            </a:r>
          </a:p>
        </p:txBody>
      </p:sp>
      <p:sp>
        <p:nvSpPr>
          <p:cNvPr id="13" name="TextBox 12"/>
          <p:cNvSpPr txBox="1"/>
          <p:nvPr/>
        </p:nvSpPr>
        <p:spPr>
          <a:xfrm>
            <a:off x="990599" y="5207000"/>
            <a:ext cx="4737100" cy="355600"/>
          </a:xfrm>
          <a:prstGeom prst="rect">
            <a:avLst/>
          </a:prstGeom>
          <a:noFill/>
        </p:spPr>
        <p:txBody>
          <a:bodyPr wrap="square" lIns="0" rIns="0" tIns="0" bIns="0">
            <a:spAutoFit/>
          </a:bodyPr>
          <a:lstStyle/>
          <a:p>
            <a:pPr>
              <a:lnSpc>
                <a:spcPct val="118000"/>
              </a:lnSpc>
              <a:spcBef>
                <a:spcPts val="0"/>
              </a:spcBef>
              <a:spcAft>
                <a:spcPts val="0"/>
              </a:spcAft>
              <a:defRPr sz="1900" b="1">
                <a:solidFill>
                  <a:srgbClr val="287F89"/>
                </a:solidFill>
                <a:latin typeface="Noto Sans CJK KR"/>
              </a:defRPr>
            </a:pPr>
            <a:r>
              <a:rPr>
                <a:ea typeface="Noto Sans CJK KR"/>
              </a:rPr>
              <a:t>거리 + 방향</a:t>
            </a:r>
          </a:p>
        </p:txBody>
      </p:sp>
      <p:sp>
        <p:nvSpPr>
          <p:cNvPr id="14" name="TextBox 13"/>
          <p:cNvSpPr txBox="1"/>
          <p:nvPr/>
        </p:nvSpPr>
        <p:spPr>
          <a:xfrm>
            <a:off x="990599" y="5892800"/>
            <a:ext cx="47371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현재 실험의 중심</a:t>
            </a:r>
          </a:p>
        </p:txBody>
      </p:sp>
      <p:sp>
        <p:nvSpPr>
          <p:cNvPr id="15" name="Rounded Rectangle 14"/>
          <p:cNvSpPr/>
          <p:nvPr/>
        </p:nvSpPr>
        <p:spPr>
          <a:xfrm>
            <a:off x="6197600" y="2692400"/>
            <a:ext cx="5283200" cy="3111500"/>
          </a:xfrm>
          <a:prstGeom prst="roundRect">
            <a:avLst>
              <a:gd name="adj" fmla="val 3265"/>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7000" y="2946400"/>
            <a:ext cx="635000" cy="3302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02</a:t>
            </a:r>
          </a:p>
        </p:txBody>
      </p:sp>
      <p:sp>
        <p:nvSpPr>
          <p:cNvPr id="17" name="TextBox 16"/>
          <p:cNvSpPr txBox="1"/>
          <p:nvPr/>
        </p:nvSpPr>
        <p:spPr>
          <a:xfrm>
            <a:off x="6477000" y="3454400"/>
            <a:ext cx="4737100" cy="444500"/>
          </a:xfrm>
          <a:prstGeom prst="rect">
            <a:avLst/>
          </a:prstGeom>
          <a:noFill/>
        </p:spPr>
        <p:txBody>
          <a:bodyPr wrap="square" lIns="0" rIns="0" tIns="0" bIns="0">
            <a:spAutoFit/>
          </a:bodyPr>
          <a:lstStyle/>
          <a:p>
            <a:pPr>
              <a:lnSpc>
                <a:spcPct val="118000"/>
              </a:lnSpc>
              <a:spcBef>
                <a:spcPts val="0"/>
              </a:spcBef>
              <a:spcAft>
                <a:spcPts val="0"/>
              </a:spcAft>
              <a:defRPr sz="2200" b="1">
                <a:solidFill>
                  <a:srgbClr val="151D21"/>
                </a:solidFill>
                <a:latin typeface="Noto Sans CJK KR"/>
              </a:defRPr>
            </a:pPr>
            <a:r>
              <a:rPr>
                <a:ea typeface="Noto Sans CJK KR"/>
              </a:rPr>
              <a:t>물체와 상호작용</a:t>
            </a:r>
          </a:p>
        </p:txBody>
      </p:sp>
      <p:sp>
        <p:nvSpPr>
          <p:cNvPr id="18" name="TextBox 17"/>
          <p:cNvSpPr txBox="1"/>
          <p:nvPr/>
        </p:nvSpPr>
        <p:spPr>
          <a:xfrm>
            <a:off x="6477000" y="4038600"/>
            <a:ext cx="4737100" cy="330200"/>
          </a:xfrm>
          <a:prstGeom prst="rect">
            <a:avLst/>
          </a:prstGeom>
          <a:noFill/>
        </p:spPr>
        <p:txBody>
          <a:bodyPr wrap="square" lIns="0" rIns="0" tIns="0" bIns="0">
            <a:spAutoFit/>
          </a:bodyPr>
          <a:lstStyle/>
          <a:p>
            <a:pPr>
              <a:lnSpc>
                <a:spcPct val="118000"/>
              </a:lnSpc>
              <a:spcBef>
                <a:spcPts val="0"/>
              </a:spcBef>
              <a:spcAft>
                <a:spcPts val="0"/>
              </a:spcAft>
              <a:defRPr sz="1700" b="0">
                <a:solidFill>
                  <a:srgbClr val="66716F"/>
                </a:solidFill>
                <a:latin typeface="Noto Sans CJK KR"/>
              </a:defRPr>
            </a:pPr>
            <a:r>
              <a:rPr>
                <a:ea typeface="Noto Sans CJK KR"/>
              </a:rPr>
              <a:t>정중앙의 물체를 찾아서 집기</a:t>
            </a:r>
          </a:p>
        </p:txBody>
      </p:sp>
      <p:cxnSp>
        <p:nvCxnSpPr>
          <p:cNvPr id="19" name="Connector 18"/>
          <p:cNvCxnSpPr/>
          <p:nvPr/>
        </p:nvCxnSpPr>
        <p:spPr>
          <a:xfrm>
            <a:off x="6477000" y="4508500"/>
            <a:ext cx="4724400" cy="0"/>
          </a:xfrm>
          <a:prstGeom prst="line">
            <a:avLst/>
          </a:prstGeom>
          <a:ln w="15240">
            <a:solidFill>
              <a:srgbClr val="DADBD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77000" y="4711700"/>
            <a:ext cx="4737100" cy="330200"/>
          </a:xfrm>
          <a:prstGeom prst="rect">
            <a:avLst/>
          </a:prstGeom>
          <a:noFill/>
        </p:spPr>
        <p:txBody>
          <a:bodyPr wrap="square" lIns="0" rIns="0" tIns="0" bIns="0">
            <a:spAutoFit/>
          </a:bodyPr>
          <a:lstStyle/>
          <a:p>
            <a:pPr>
              <a:lnSpc>
                <a:spcPct val="118000"/>
              </a:lnSpc>
              <a:spcBef>
                <a:spcPts val="0"/>
              </a:spcBef>
              <a:spcAft>
                <a:spcPts val="0"/>
              </a:spcAft>
              <a:defRPr sz="1500" b="0">
                <a:solidFill>
                  <a:srgbClr val="66716F"/>
                </a:solidFill>
                <a:latin typeface="Noto Sans CJK KR"/>
              </a:defRPr>
            </a:pPr>
            <a:r>
              <a:rPr>
                <a:ea typeface="Noto Sans CJK KR"/>
              </a:rPr>
              <a:t>주요 관심 범위 0.2–0.6m</a:t>
            </a:r>
          </a:p>
        </p:txBody>
      </p:sp>
      <p:sp>
        <p:nvSpPr>
          <p:cNvPr id="21" name="TextBox 20"/>
          <p:cNvSpPr txBox="1"/>
          <p:nvPr/>
        </p:nvSpPr>
        <p:spPr>
          <a:xfrm>
            <a:off x="6477000" y="5207000"/>
            <a:ext cx="4737100" cy="355600"/>
          </a:xfrm>
          <a:prstGeom prst="rect">
            <a:avLst/>
          </a:prstGeom>
          <a:noFill/>
        </p:spPr>
        <p:txBody>
          <a:bodyPr wrap="square" lIns="0" rIns="0" tIns="0" bIns="0">
            <a:spAutoFit/>
          </a:bodyPr>
          <a:lstStyle/>
          <a:p>
            <a:pPr>
              <a:lnSpc>
                <a:spcPct val="118000"/>
              </a:lnSpc>
              <a:spcBef>
                <a:spcPts val="0"/>
              </a:spcBef>
              <a:spcAft>
                <a:spcPts val="0"/>
              </a:spcAft>
              <a:defRPr sz="1900" b="1">
                <a:solidFill>
                  <a:srgbClr val="287F89"/>
                </a:solidFill>
                <a:latin typeface="Noto Sans CJK KR"/>
              </a:defRPr>
            </a:pPr>
            <a:r>
              <a:rPr>
                <a:ea typeface="Noto Sans CJK KR"/>
              </a:rPr>
              <a:t>물체 이름 + 대응하는 거리</a:t>
            </a:r>
          </a:p>
        </p:txBody>
      </p:sp>
      <p:sp>
        <p:nvSpPr>
          <p:cNvPr id="22" name="TextBox 21"/>
          <p:cNvSpPr txBox="1"/>
          <p:nvPr/>
        </p:nvSpPr>
        <p:spPr>
          <a:xfrm>
            <a:off x="6477000" y="5892800"/>
            <a:ext cx="47371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66716F"/>
                </a:solidFill>
                <a:latin typeface="Noto Sans CJK KR"/>
              </a:defRPr>
            </a:pPr>
            <a:r>
              <a:rPr>
                <a:ea typeface="Noto Sans CJK KR"/>
              </a:rPr>
              <a:t>객체·거리 융합이 다음 과제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1D21"/>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하드웨어 구성</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FFFFFF"/>
                </a:solidFill>
                <a:latin typeface="Noto Sans CJK KR"/>
              </a:defRPr>
            </a:pPr>
            <a:r>
              <a:rPr>
                <a:ea typeface="Noto Sans CJK KR"/>
              </a:rPr>
              <a:t>두 센서의 데이터를</a:t>
            </a:r>
          </a:p>
          <a:p>
            <a:pPr>
              <a:lnSpc>
                <a:spcPct val="118000"/>
              </a:lnSpc>
              <a:spcBef>
                <a:spcPts val="0"/>
              </a:spcBef>
              <a:spcAft>
                <a:spcPts val="0"/>
              </a:spcAft>
              <a:defRPr sz="3100" b="1">
                <a:solidFill>
                  <a:srgbClr val="FFFFFF"/>
                </a:solidFill>
                <a:latin typeface="Noto Sans CJK KR"/>
              </a:defRPr>
            </a:pPr>
            <a:r>
              <a:rPr>
                <a:ea typeface="Noto Sans CJK KR"/>
              </a:rPr>
              <a:t>휴대폰에서 소리로 바꾼다</a:t>
            </a:r>
          </a:p>
        </p:txBody>
      </p:sp>
      <p:cxnSp>
        <p:nvCxnSpPr>
          <p:cNvPr id="4" name="Connector 3"/>
          <p:cNvCxnSpPr/>
          <p:nvPr/>
        </p:nvCxnSpPr>
        <p:spPr>
          <a:xfrm>
            <a:off x="711200" y="6400800"/>
            <a:ext cx="10769600" cy="0"/>
          </a:xfrm>
          <a:prstGeom prst="line">
            <a:avLst/>
          </a:prstGeom>
          <a:ln w="7620">
            <a:solidFill>
              <a:srgbClr val="3A47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ACBBB9"/>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ACBBB9"/>
                </a:solidFill>
                <a:latin typeface="Noto Sans CJK KR"/>
              </a:defRPr>
            </a:pPr>
            <a:r>
              <a:rPr>
                <a:ea typeface="Noto Sans CJK KR"/>
              </a:rPr>
              <a:t>04</a:t>
            </a:r>
          </a:p>
        </p:txBody>
      </p:sp>
      <p:sp>
        <p:nvSpPr>
          <p:cNvPr id="7" name="Rounded Rectangle 6"/>
          <p:cNvSpPr/>
          <p:nvPr/>
        </p:nvSpPr>
        <p:spPr>
          <a:xfrm>
            <a:off x="711200" y="2857500"/>
            <a:ext cx="2374900" cy="952500"/>
          </a:xfrm>
          <a:prstGeom prst="roundRect">
            <a:avLst>
              <a:gd name="adj" fmla="val 10666"/>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9799" y="3048000"/>
            <a:ext cx="1905000" cy="3302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A · 왼쪽 센서</a:t>
            </a:r>
          </a:p>
        </p:txBody>
      </p:sp>
      <p:sp>
        <p:nvSpPr>
          <p:cNvPr id="9" name="TextBox 8"/>
          <p:cNvSpPr txBox="1"/>
          <p:nvPr/>
        </p:nvSpPr>
        <p:spPr>
          <a:xfrm>
            <a:off x="939799" y="3429000"/>
            <a:ext cx="1905000" cy="279400"/>
          </a:xfrm>
          <a:prstGeom prst="rect">
            <a:avLst/>
          </a:prstGeom>
          <a:noFill/>
        </p:spPr>
        <p:txBody>
          <a:bodyPr wrap="square" lIns="0" rIns="0" tIns="0" bIns="0">
            <a:spAutoFit/>
          </a:bodyPr>
          <a:lstStyle/>
          <a:p>
            <a:pPr>
              <a:lnSpc>
                <a:spcPct val="118000"/>
              </a:lnSpc>
              <a:spcBef>
                <a:spcPts val="0"/>
              </a:spcBef>
              <a:spcAft>
                <a:spcPts val="0"/>
              </a:spcAft>
              <a:defRPr sz="1200" b="0">
                <a:solidFill>
                  <a:srgbClr val="ACBBB9"/>
                </a:solidFill>
                <a:latin typeface="Noto Sans CJK KR"/>
              </a:defRPr>
            </a:pPr>
            <a:r>
              <a:rPr>
                <a:ea typeface="Noto Sans CJK KR"/>
              </a:rPr>
              <a:t>VL53L8CX · 8×8</a:t>
            </a:r>
          </a:p>
        </p:txBody>
      </p:sp>
      <p:sp>
        <p:nvSpPr>
          <p:cNvPr id="10" name="Rounded Rectangle 9"/>
          <p:cNvSpPr/>
          <p:nvPr/>
        </p:nvSpPr>
        <p:spPr>
          <a:xfrm>
            <a:off x="711200" y="4089400"/>
            <a:ext cx="2374900" cy="952500"/>
          </a:xfrm>
          <a:prstGeom prst="roundRect">
            <a:avLst>
              <a:gd name="adj" fmla="val 10666"/>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9799" y="4279900"/>
            <a:ext cx="1905000" cy="3302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B · 오른쪽 센서</a:t>
            </a:r>
          </a:p>
        </p:txBody>
      </p:sp>
      <p:sp>
        <p:nvSpPr>
          <p:cNvPr id="12" name="TextBox 11"/>
          <p:cNvSpPr txBox="1"/>
          <p:nvPr/>
        </p:nvSpPr>
        <p:spPr>
          <a:xfrm>
            <a:off x="939799" y="4660900"/>
            <a:ext cx="1905000" cy="279400"/>
          </a:xfrm>
          <a:prstGeom prst="rect">
            <a:avLst/>
          </a:prstGeom>
          <a:noFill/>
        </p:spPr>
        <p:txBody>
          <a:bodyPr wrap="square" lIns="0" rIns="0" tIns="0" bIns="0">
            <a:spAutoFit/>
          </a:bodyPr>
          <a:lstStyle/>
          <a:p>
            <a:pPr>
              <a:lnSpc>
                <a:spcPct val="118000"/>
              </a:lnSpc>
              <a:spcBef>
                <a:spcPts val="0"/>
              </a:spcBef>
              <a:spcAft>
                <a:spcPts val="0"/>
              </a:spcAft>
              <a:defRPr sz="1200" b="0">
                <a:solidFill>
                  <a:srgbClr val="ACBBB9"/>
                </a:solidFill>
                <a:latin typeface="Noto Sans CJK KR"/>
              </a:defRPr>
            </a:pPr>
            <a:r>
              <a:rPr>
                <a:ea typeface="Noto Sans CJK KR"/>
              </a:rPr>
              <a:t>VL53L8CX · 8×8</a:t>
            </a:r>
          </a:p>
        </p:txBody>
      </p:sp>
      <p:cxnSp>
        <p:nvCxnSpPr>
          <p:cNvPr id="13" name="Connector 12"/>
          <p:cNvCxnSpPr/>
          <p:nvPr/>
        </p:nvCxnSpPr>
        <p:spPr>
          <a:xfrm>
            <a:off x="3086100" y="3327400"/>
            <a:ext cx="469900" cy="0"/>
          </a:xfrm>
          <a:prstGeom prst="line">
            <a:avLst/>
          </a:prstGeom>
          <a:ln w="2540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086100" y="4559300"/>
            <a:ext cx="469900" cy="0"/>
          </a:xfrm>
          <a:prstGeom prst="line">
            <a:avLst/>
          </a:prstGeom>
          <a:ln w="2540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556000" y="3327400"/>
            <a:ext cx="0" cy="1231900"/>
          </a:xfrm>
          <a:prstGeom prst="line">
            <a:avLst/>
          </a:prstGeom>
          <a:ln w="2540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556000" y="3937000"/>
            <a:ext cx="546099" cy="0"/>
          </a:xfrm>
          <a:prstGeom prst="line">
            <a:avLst/>
          </a:prstGeom>
          <a:ln w="2540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114800" y="3136900"/>
            <a:ext cx="2400300" cy="1600200"/>
          </a:xfrm>
          <a:prstGeom prst="roundRect">
            <a:avLst>
              <a:gd name="adj" fmla="val 6349"/>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68800" y="3416300"/>
            <a:ext cx="1905000" cy="673100"/>
          </a:xfrm>
          <a:prstGeom prst="rect">
            <a:avLst/>
          </a:prstGeom>
          <a:noFill/>
        </p:spPr>
        <p:txBody>
          <a:bodyPr wrap="square" lIns="0" rIns="0" tIns="0" bIns="0">
            <a:spAutoFit/>
          </a:bodyPr>
          <a:lstStyle/>
          <a:p>
            <a:pPr>
              <a:lnSpc>
                <a:spcPct val="118000"/>
              </a:lnSpc>
              <a:spcBef>
                <a:spcPts val="0"/>
              </a:spcBef>
              <a:spcAft>
                <a:spcPts val="0"/>
              </a:spcAft>
              <a:defRPr sz="1900" b="1">
                <a:solidFill>
                  <a:srgbClr val="FFFFFF"/>
                </a:solidFill>
                <a:latin typeface="Noto Sans CJK KR"/>
              </a:defRPr>
            </a:pPr>
            <a:r>
              <a:rPr>
                <a:ea typeface="Noto Sans CJK KR"/>
              </a:rPr>
              <a:t>XIAO</a:t>
            </a:r>
          </a:p>
          <a:p>
            <a:pPr>
              <a:lnSpc>
                <a:spcPct val="118000"/>
              </a:lnSpc>
              <a:spcBef>
                <a:spcPts val="0"/>
              </a:spcBef>
              <a:spcAft>
                <a:spcPts val="0"/>
              </a:spcAft>
              <a:defRPr sz="1900" b="1">
                <a:solidFill>
                  <a:srgbClr val="FFFFFF"/>
                </a:solidFill>
                <a:latin typeface="Noto Sans CJK KR"/>
              </a:defRPr>
            </a:pPr>
            <a:r>
              <a:rPr>
                <a:ea typeface="Noto Sans CJK KR"/>
              </a:rPr>
              <a:t>ESP32-S3 Sense</a:t>
            </a:r>
          </a:p>
        </p:txBody>
      </p:sp>
      <p:sp>
        <p:nvSpPr>
          <p:cNvPr id="19" name="TextBox 18"/>
          <p:cNvSpPr txBox="1"/>
          <p:nvPr/>
        </p:nvSpPr>
        <p:spPr>
          <a:xfrm>
            <a:off x="4368800" y="4254500"/>
            <a:ext cx="1905000" cy="317500"/>
          </a:xfrm>
          <a:prstGeom prst="rect">
            <a:avLst/>
          </a:prstGeom>
          <a:noFill/>
        </p:spPr>
        <p:txBody>
          <a:bodyPr wrap="square" lIns="0" rIns="0" tIns="0" bIns="0">
            <a:spAutoFit/>
          </a:bodyPr>
          <a:lstStyle/>
          <a:p>
            <a:pPr>
              <a:lnSpc>
                <a:spcPct val="118000"/>
              </a:lnSpc>
              <a:spcBef>
                <a:spcPts val="0"/>
              </a:spcBef>
              <a:spcAft>
                <a:spcPts val="0"/>
              </a:spcAft>
              <a:defRPr sz="1200" b="0">
                <a:solidFill>
                  <a:srgbClr val="ACBBB9"/>
                </a:solidFill>
                <a:latin typeface="Noto Sans CJK KR"/>
              </a:defRPr>
            </a:pPr>
            <a:r>
              <a:rPr>
                <a:ea typeface="Noto Sans CJK KR"/>
              </a:rPr>
              <a:t>센서 읽기 · 패킷 전송</a:t>
            </a:r>
          </a:p>
        </p:txBody>
      </p:sp>
      <p:cxnSp>
        <p:nvCxnSpPr>
          <p:cNvPr id="20" name="Connector 19"/>
          <p:cNvCxnSpPr/>
          <p:nvPr/>
        </p:nvCxnSpPr>
        <p:spPr>
          <a:xfrm>
            <a:off x="6515100" y="3937000"/>
            <a:ext cx="571500" cy="0"/>
          </a:xfrm>
          <a:prstGeom prst="line">
            <a:avLst/>
          </a:prstGeom>
          <a:ln w="2540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15100" y="3556000"/>
            <a:ext cx="571500" cy="2921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ACBBB9"/>
                </a:solidFill>
                <a:latin typeface="Noto Sans CJK KR"/>
              </a:defRPr>
            </a:pPr>
            <a:r>
              <a:rPr>
                <a:ea typeface="Noto Sans CJK KR"/>
              </a:rPr>
              <a:t>USB</a:t>
            </a:r>
          </a:p>
        </p:txBody>
      </p:sp>
      <p:sp>
        <p:nvSpPr>
          <p:cNvPr id="22" name="Rounded Rectangle 21"/>
          <p:cNvSpPr/>
          <p:nvPr/>
        </p:nvSpPr>
        <p:spPr>
          <a:xfrm>
            <a:off x="7112000" y="3136900"/>
            <a:ext cx="2260600" cy="1600200"/>
          </a:xfrm>
          <a:prstGeom prst="roundRect">
            <a:avLst>
              <a:gd name="adj" fmla="val 6349"/>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66000" y="3416300"/>
            <a:ext cx="1765300" cy="444500"/>
          </a:xfrm>
          <a:prstGeom prst="rect">
            <a:avLst/>
          </a:prstGeom>
          <a:noFill/>
        </p:spPr>
        <p:txBody>
          <a:bodyPr wrap="square" lIns="0" rIns="0" tIns="0" bIns="0">
            <a:spAutoFit/>
          </a:bodyPr>
          <a:lstStyle/>
          <a:p>
            <a:pPr>
              <a:lnSpc>
                <a:spcPct val="118000"/>
              </a:lnSpc>
              <a:spcBef>
                <a:spcPts val="0"/>
              </a:spcBef>
              <a:spcAft>
                <a:spcPts val="0"/>
              </a:spcAft>
              <a:defRPr sz="2100" b="1">
                <a:solidFill>
                  <a:srgbClr val="FFFFFF"/>
                </a:solidFill>
                <a:latin typeface="Noto Sans CJK KR"/>
              </a:defRPr>
            </a:pPr>
            <a:r>
              <a:rPr>
                <a:ea typeface="Noto Sans CJK KR"/>
              </a:rPr>
              <a:t>Android 앱</a:t>
            </a:r>
          </a:p>
        </p:txBody>
      </p:sp>
      <p:sp>
        <p:nvSpPr>
          <p:cNvPr id="24" name="TextBox 23"/>
          <p:cNvSpPr txBox="1"/>
          <p:nvPr/>
        </p:nvSpPr>
        <p:spPr>
          <a:xfrm>
            <a:off x="7366000" y="4000500"/>
            <a:ext cx="1765300" cy="571500"/>
          </a:xfrm>
          <a:prstGeom prst="rect">
            <a:avLst/>
          </a:prstGeom>
          <a:noFill/>
        </p:spPr>
        <p:txBody>
          <a:bodyPr wrap="square" lIns="0" rIns="0" tIns="0" bIns="0">
            <a:spAutoFit/>
          </a:bodyPr>
          <a:lstStyle/>
          <a:p>
            <a:pPr>
              <a:lnSpc>
                <a:spcPct val="118000"/>
              </a:lnSpc>
              <a:spcBef>
                <a:spcPts val="0"/>
              </a:spcBef>
              <a:spcAft>
                <a:spcPts val="0"/>
              </a:spcAft>
              <a:defRPr sz="1400" b="0">
                <a:solidFill>
                  <a:srgbClr val="FFFFFF"/>
                </a:solidFill>
                <a:latin typeface="Noto Sans CJK KR"/>
              </a:defRPr>
            </a:pPr>
            <a:r>
              <a:rPr>
                <a:ea typeface="Noto Sans CJK KR"/>
              </a:rPr>
              <a:t>방향 계산</a:t>
            </a:r>
          </a:p>
          <a:p>
            <a:pPr>
              <a:lnSpc>
                <a:spcPct val="118000"/>
              </a:lnSpc>
              <a:spcBef>
                <a:spcPts val="0"/>
              </a:spcBef>
              <a:spcAft>
                <a:spcPts val="0"/>
              </a:spcAft>
              <a:defRPr sz="1400" b="0">
                <a:solidFill>
                  <a:srgbClr val="FFFFFF"/>
                </a:solidFill>
                <a:latin typeface="Noto Sans CJK KR"/>
              </a:defRPr>
            </a:pPr>
            <a:r>
              <a:rPr>
                <a:ea typeface="Noto Sans CJK KR"/>
              </a:rPr>
              <a:t>HRTF 소리 합성</a:t>
            </a:r>
          </a:p>
        </p:txBody>
      </p:sp>
      <p:cxnSp>
        <p:nvCxnSpPr>
          <p:cNvPr id="25" name="Connector 24"/>
          <p:cNvCxnSpPr/>
          <p:nvPr/>
        </p:nvCxnSpPr>
        <p:spPr>
          <a:xfrm>
            <a:off x="9372600" y="3937000"/>
            <a:ext cx="571500" cy="0"/>
          </a:xfrm>
          <a:prstGeom prst="line">
            <a:avLst/>
          </a:prstGeom>
          <a:ln w="2540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969500" y="3136900"/>
            <a:ext cx="1511300" cy="1600200"/>
          </a:xfrm>
          <a:prstGeom prst="roundRect">
            <a:avLst>
              <a:gd name="adj" fmla="val 6722"/>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21900" y="3429000"/>
            <a:ext cx="1206500" cy="431800"/>
          </a:xfrm>
          <a:prstGeom prst="rect">
            <a:avLst/>
          </a:prstGeom>
          <a:noFill/>
        </p:spPr>
        <p:txBody>
          <a:bodyPr wrap="square" lIns="0" rIns="0" tIns="0" bIns="0">
            <a:spAutoFit/>
          </a:bodyPr>
          <a:lstStyle/>
          <a:p>
            <a:pPr>
              <a:lnSpc>
                <a:spcPct val="118000"/>
              </a:lnSpc>
              <a:spcBef>
                <a:spcPts val="0"/>
              </a:spcBef>
              <a:spcAft>
                <a:spcPts val="0"/>
              </a:spcAft>
              <a:defRPr sz="1700" b="1">
                <a:solidFill>
                  <a:srgbClr val="FFFFFF"/>
                </a:solidFill>
                <a:latin typeface="Noto Sans CJK KR"/>
              </a:defRPr>
            </a:pPr>
            <a:r>
              <a:rPr>
                <a:ea typeface="Noto Sans CJK KR"/>
              </a:rPr>
              <a:t>스테레오</a:t>
            </a:r>
          </a:p>
        </p:txBody>
      </p:sp>
      <p:sp>
        <p:nvSpPr>
          <p:cNvPr id="28" name="TextBox 27"/>
          <p:cNvSpPr txBox="1"/>
          <p:nvPr/>
        </p:nvSpPr>
        <p:spPr>
          <a:xfrm>
            <a:off x="10121900" y="3962399"/>
            <a:ext cx="1206500" cy="609600"/>
          </a:xfrm>
          <a:prstGeom prst="rect">
            <a:avLst/>
          </a:prstGeom>
          <a:noFill/>
        </p:spPr>
        <p:txBody>
          <a:bodyPr wrap="square" lIns="0" rIns="0" tIns="0" bIns="0">
            <a:spAutoFit/>
          </a:bodyPr>
          <a:lstStyle/>
          <a:p>
            <a:pPr>
              <a:lnSpc>
                <a:spcPct val="118000"/>
              </a:lnSpc>
              <a:spcBef>
                <a:spcPts val="0"/>
              </a:spcBef>
              <a:spcAft>
                <a:spcPts val="0"/>
              </a:spcAft>
              <a:defRPr sz="1300" b="0">
                <a:solidFill>
                  <a:srgbClr val="ACBBB9"/>
                </a:solidFill>
                <a:latin typeface="Noto Sans CJK KR"/>
              </a:defRPr>
            </a:pPr>
            <a:r>
              <a:rPr>
                <a:ea typeface="Noto Sans CJK KR"/>
              </a:rPr>
              <a:t>이어폰</a:t>
            </a:r>
          </a:p>
          <a:p>
            <a:pPr>
              <a:lnSpc>
                <a:spcPct val="118000"/>
              </a:lnSpc>
              <a:spcBef>
                <a:spcPts val="0"/>
              </a:spcBef>
              <a:spcAft>
                <a:spcPts val="0"/>
              </a:spcAft>
              <a:defRPr sz="1300" b="0">
                <a:solidFill>
                  <a:srgbClr val="ACBBB9"/>
                </a:solidFill>
                <a:latin typeface="Noto Sans CJK KR"/>
              </a:defRPr>
            </a:pPr>
            <a:r>
              <a:rPr>
                <a:ea typeface="Noto Sans CJK KR"/>
              </a:rPr>
              <a:t>버즈로 확인</a:t>
            </a:r>
          </a:p>
        </p:txBody>
      </p:sp>
      <p:sp>
        <p:nvSpPr>
          <p:cNvPr id="29" name="Rounded Rectangle 28"/>
          <p:cNvSpPr/>
          <p:nvPr/>
        </p:nvSpPr>
        <p:spPr>
          <a:xfrm>
            <a:off x="711200" y="5372100"/>
            <a:ext cx="3987799" cy="330200"/>
          </a:xfrm>
          <a:prstGeom prst="roundRect">
            <a:avLst>
              <a:gd name="adj" fmla="val 20000"/>
            </a:avLst>
          </a:prstGeom>
          <a:solidFill>
            <a:srgbClr val="202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 y="5422900"/>
            <a:ext cx="3733799"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ACBBB9"/>
                </a:solidFill>
                <a:latin typeface="Noto Sans CJK KR"/>
              </a:defRPr>
            </a:pPr>
            <a:r>
              <a:rPr>
                <a:ea typeface="Noto Sans CJK KR"/>
              </a:rPr>
              <a:t>공유 배선: 3V3 · GND · SDA · SCL</a:t>
            </a:r>
          </a:p>
        </p:txBody>
      </p:sp>
      <p:sp>
        <p:nvSpPr>
          <p:cNvPr id="31" name="Rounded Rectangle 30"/>
          <p:cNvSpPr/>
          <p:nvPr/>
        </p:nvSpPr>
        <p:spPr>
          <a:xfrm>
            <a:off x="4851400" y="5372100"/>
            <a:ext cx="3352800" cy="330200"/>
          </a:xfrm>
          <a:prstGeom prst="roundRect">
            <a:avLst>
              <a:gd name="adj" fmla="val 20000"/>
            </a:avLst>
          </a:prstGeom>
          <a:solidFill>
            <a:srgbClr val="202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78400" y="5422900"/>
            <a:ext cx="30988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ACBBB9"/>
                </a:solidFill>
                <a:latin typeface="Noto Sans CJK KR"/>
              </a:defRPr>
            </a:pPr>
            <a:r>
              <a:rPr>
                <a:ea typeface="Noto Sans CJK KR"/>
              </a:rPr>
              <a:t>센서별 LP: A=D2 / B=D3</a:t>
            </a:r>
          </a:p>
        </p:txBody>
      </p:sp>
      <p:sp>
        <p:nvSpPr>
          <p:cNvPr id="33" name="Rounded Rectangle 32"/>
          <p:cNvSpPr/>
          <p:nvPr/>
        </p:nvSpPr>
        <p:spPr>
          <a:xfrm>
            <a:off x="8356600" y="5372100"/>
            <a:ext cx="3124200" cy="330200"/>
          </a:xfrm>
          <a:prstGeom prst="roundRect">
            <a:avLst>
              <a:gd name="adj" fmla="val 20000"/>
            </a:avLst>
          </a:prstGeom>
          <a:solidFill>
            <a:srgbClr val="202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83600" y="5422900"/>
            <a:ext cx="28702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ACBBB9"/>
                </a:solidFill>
                <a:latin typeface="Noto Sans CJK KR"/>
              </a:defRPr>
            </a:pPr>
            <a:r>
              <a:rPr>
                <a:ea typeface="Noto Sans CJK KR"/>
              </a:rPr>
              <a:t>카메라 영상은 별도 경로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두 센서를 함께 읽는 방법</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같은 버스에서,</a:t>
            </a:r>
          </a:p>
          <a:p>
            <a:pPr>
              <a:lnSpc>
                <a:spcPct val="118000"/>
              </a:lnSpc>
              <a:spcBef>
                <a:spcPts val="0"/>
              </a:spcBef>
              <a:spcAft>
                <a:spcPts val="0"/>
              </a:spcAft>
              <a:defRPr sz="3100" b="1">
                <a:solidFill>
                  <a:srgbClr val="151D21"/>
                </a:solidFill>
                <a:latin typeface="Noto Sans CJK KR"/>
              </a:defRPr>
            </a:pPr>
            <a:r>
              <a:rPr>
                <a:ea typeface="Noto Sans CJK KR"/>
              </a:rPr>
              <a:t>서로 다른 주소로 센서를 구분한다</a:t>
            </a:r>
          </a:p>
        </p:txBody>
      </p:sp>
      <p:sp>
        <p:nvSpPr>
          <p:cNvPr id="4" name="TextBox 3"/>
          <p:cNvSpPr txBox="1"/>
          <p:nvPr/>
        </p:nvSpPr>
        <p:spPr>
          <a:xfrm>
            <a:off x="736600" y="2222500"/>
            <a:ext cx="10617200" cy="4064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Y형 점퍼선으로 I²C를 공유하고, 부팅 시 LP 제어로 센서를 하나씩 분리해 주소를 설정한다.</a:t>
            </a:r>
          </a:p>
        </p:txBody>
      </p:sp>
      <p:cxnSp>
        <p:nvCxnSpPr>
          <p:cNvPr id="5" name="Connector 4"/>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7" name="TextBox 6"/>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05</a:t>
            </a:r>
          </a:p>
        </p:txBody>
      </p:sp>
      <p:sp>
        <p:nvSpPr>
          <p:cNvPr id="8" name="Rounded Rectangle 7"/>
          <p:cNvSpPr/>
          <p:nvPr/>
        </p:nvSpPr>
        <p:spPr>
          <a:xfrm>
            <a:off x="711200" y="2984500"/>
            <a:ext cx="3352800" cy="2692400"/>
          </a:xfrm>
          <a:prstGeom prst="roundRect">
            <a:avLst>
              <a:gd name="adj" fmla="val 3773"/>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5200" y="3200400"/>
            <a:ext cx="635000" cy="3429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01</a:t>
            </a:r>
          </a:p>
        </p:txBody>
      </p:sp>
      <p:sp>
        <p:nvSpPr>
          <p:cNvPr id="10" name="TextBox 9"/>
          <p:cNvSpPr txBox="1"/>
          <p:nvPr/>
        </p:nvSpPr>
        <p:spPr>
          <a:xfrm>
            <a:off x="965200" y="3733799"/>
            <a:ext cx="2857500" cy="393700"/>
          </a:xfrm>
          <a:prstGeom prst="rect">
            <a:avLst/>
          </a:prstGeom>
          <a:noFill/>
        </p:spPr>
        <p:txBody>
          <a:bodyPr wrap="square" lIns="0" rIns="0" tIns="0" bIns="0">
            <a:spAutoFit/>
          </a:bodyPr>
          <a:lstStyle/>
          <a:p>
            <a:pPr>
              <a:lnSpc>
                <a:spcPct val="118000"/>
              </a:lnSpc>
              <a:spcBef>
                <a:spcPts val="0"/>
              </a:spcBef>
              <a:spcAft>
                <a:spcPts val="0"/>
              </a:spcAft>
              <a:defRPr sz="1900" b="1">
                <a:solidFill>
                  <a:srgbClr val="151D21"/>
                </a:solidFill>
                <a:latin typeface="Noto Sans CJK KR"/>
              </a:defRPr>
            </a:pPr>
            <a:r>
              <a:rPr>
                <a:ea typeface="Noto Sans CJK KR"/>
              </a:rPr>
              <a:t>A만 통신 가능하게</a:t>
            </a:r>
          </a:p>
        </p:txBody>
      </p:sp>
      <p:sp>
        <p:nvSpPr>
          <p:cNvPr id="11" name="TextBox 10"/>
          <p:cNvSpPr txBox="1"/>
          <p:nvPr/>
        </p:nvSpPr>
        <p:spPr>
          <a:xfrm>
            <a:off x="965200" y="4279900"/>
            <a:ext cx="2857500" cy="609600"/>
          </a:xfrm>
          <a:prstGeom prst="rect">
            <a:avLst/>
          </a:prstGeom>
          <a:noFill/>
        </p:spPr>
        <p:txBody>
          <a:bodyPr wrap="square" lIns="0" rIns="0" tIns="0" bIns="0">
            <a:spAutoFit/>
          </a:bodyPr>
          <a:lstStyle/>
          <a:p>
            <a:pPr>
              <a:lnSpc>
                <a:spcPct val="118000"/>
              </a:lnSpc>
              <a:spcBef>
                <a:spcPts val="0"/>
              </a:spcBef>
              <a:spcAft>
                <a:spcPts val="0"/>
              </a:spcAft>
              <a:defRPr sz="1500" b="0">
                <a:solidFill>
                  <a:srgbClr val="66716F"/>
                </a:solidFill>
                <a:latin typeface="Noto Sans CJK KR"/>
              </a:defRPr>
            </a:pPr>
            <a:r>
              <a:rPr>
                <a:ea typeface="Noto Sans CJK KR"/>
              </a:rPr>
              <a:t>B의 LP를 낮춘 상태에서</a:t>
            </a:r>
          </a:p>
          <a:p>
            <a:pPr>
              <a:lnSpc>
                <a:spcPct val="118000"/>
              </a:lnSpc>
              <a:spcBef>
                <a:spcPts val="0"/>
              </a:spcBef>
              <a:spcAft>
                <a:spcPts val="0"/>
              </a:spcAft>
              <a:defRPr sz="1500" b="0">
                <a:solidFill>
                  <a:srgbClr val="66716F"/>
                </a:solidFill>
                <a:latin typeface="Noto Sans CJK KR"/>
              </a:defRPr>
            </a:pPr>
            <a:r>
              <a:rPr>
                <a:ea typeface="Noto Sans CJK KR"/>
              </a:rPr>
              <a:t>A를 초기화한다.</a:t>
            </a:r>
          </a:p>
        </p:txBody>
      </p:sp>
      <p:sp>
        <p:nvSpPr>
          <p:cNvPr id="12" name="Rounded Rectangle 11"/>
          <p:cNvSpPr/>
          <p:nvPr/>
        </p:nvSpPr>
        <p:spPr>
          <a:xfrm>
            <a:off x="965200" y="5080000"/>
            <a:ext cx="2844800" cy="330200"/>
          </a:xfrm>
          <a:prstGeom prst="roundRect">
            <a:avLst>
              <a:gd name="adj" fmla="val 20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2200" y="5130800"/>
            <a:ext cx="25908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A → 0x2A</a:t>
            </a:r>
          </a:p>
        </p:txBody>
      </p:sp>
      <p:sp>
        <p:nvSpPr>
          <p:cNvPr id="14" name="Rounded Rectangle 13"/>
          <p:cNvSpPr/>
          <p:nvPr/>
        </p:nvSpPr>
        <p:spPr>
          <a:xfrm>
            <a:off x="4419600" y="2984500"/>
            <a:ext cx="3352800" cy="2692400"/>
          </a:xfrm>
          <a:prstGeom prst="roundRect">
            <a:avLst>
              <a:gd name="adj" fmla="val 3773"/>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3600" y="3200400"/>
            <a:ext cx="635000" cy="3429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02</a:t>
            </a:r>
          </a:p>
        </p:txBody>
      </p:sp>
      <p:sp>
        <p:nvSpPr>
          <p:cNvPr id="16" name="TextBox 15"/>
          <p:cNvSpPr txBox="1"/>
          <p:nvPr/>
        </p:nvSpPr>
        <p:spPr>
          <a:xfrm>
            <a:off x="4673600" y="3733799"/>
            <a:ext cx="2857500" cy="393700"/>
          </a:xfrm>
          <a:prstGeom prst="rect">
            <a:avLst/>
          </a:prstGeom>
          <a:noFill/>
        </p:spPr>
        <p:txBody>
          <a:bodyPr wrap="square" lIns="0" rIns="0" tIns="0" bIns="0">
            <a:spAutoFit/>
          </a:bodyPr>
          <a:lstStyle/>
          <a:p>
            <a:pPr>
              <a:lnSpc>
                <a:spcPct val="118000"/>
              </a:lnSpc>
              <a:spcBef>
                <a:spcPts val="0"/>
              </a:spcBef>
              <a:spcAft>
                <a:spcPts val="0"/>
              </a:spcAft>
              <a:defRPr sz="1900" b="1">
                <a:solidFill>
                  <a:srgbClr val="151D21"/>
                </a:solidFill>
                <a:latin typeface="Noto Sans CJK KR"/>
              </a:defRPr>
            </a:pPr>
            <a:r>
              <a:rPr>
                <a:ea typeface="Noto Sans CJK KR"/>
              </a:rPr>
              <a:t>B만 통신 가능하게</a:t>
            </a:r>
          </a:p>
        </p:txBody>
      </p:sp>
      <p:sp>
        <p:nvSpPr>
          <p:cNvPr id="17" name="TextBox 16"/>
          <p:cNvSpPr txBox="1"/>
          <p:nvPr/>
        </p:nvSpPr>
        <p:spPr>
          <a:xfrm>
            <a:off x="4673600" y="4279900"/>
            <a:ext cx="2857500" cy="609600"/>
          </a:xfrm>
          <a:prstGeom prst="rect">
            <a:avLst/>
          </a:prstGeom>
          <a:noFill/>
        </p:spPr>
        <p:txBody>
          <a:bodyPr wrap="square" lIns="0" rIns="0" tIns="0" bIns="0">
            <a:spAutoFit/>
          </a:bodyPr>
          <a:lstStyle/>
          <a:p>
            <a:pPr>
              <a:lnSpc>
                <a:spcPct val="118000"/>
              </a:lnSpc>
              <a:spcBef>
                <a:spcPts val="0"/>
              </a:spcBef>
              <a:spcAft>
                <a:spcPts val="0"/>
              </a:spcAft>
              <a:defRPr sz="1500" b="0">
                <a:solidFill>
                  <a:srgbClr val="66716F"/>
                </a:solidFill>
                <a:latin typeface="Noto Sans CJK KR"/>
              </a:defRPr>
            </a:pPr>
            <a:r>
              <a:rPr>
                <a:ea typeface="Noto Sans CJK KR"/>
              </a:rPr>
              <a:t>A를 통신에서 분리하고</a:t>
            </a:r>
          </a:p>
          <a:p>
            <a:pPr>
              <a:lnSpc>
                <a:spcPct val="118000"/>
              </a:lnSpc>
              <a:spcBef>
                <a:spcPts val="0"/>
              </a:spcBef>
              <a:spcAft>
                <a:spcPts val="0"/>
              </a:spcAft>
              <a:defRPr sz="1500" b="0">
                <a:solidFill>
                  <a:srgbClr val="66716F"/>
                </a:solidFill>
                <a:latin typeface="Noto Sans CJK KR"/>
              </a:defRPr>
            </a:pPr>
            <a:r>
              <a:rPr>
                <a:ea typeface="Noto Sans CJK KR"/>
              </a:rPr>
              <a:t>B를 초기화한다.</a:t>
            </a:r>
          </a:p>
        </p:txBody>
      </p:sp>
      <p:sp>
        <p:nvSpPr>
          <p:cNvPr id="18" name="Rounded Rectangle 17"/>
          <p:cNvSpPr/>
          <p:nvPr/>
        </p:nvSpPr>
        <p:spPr>
          <a:xfrm>
            <a:off x="4673600" y="5080000"/>
            <a:ext cx="2844800" cy="330200"/>
          </a:xfrm>
          <a:prstGeom prst="roundRect">
            <a:avLst>
              <a:gd name="adj" fmla="val 20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5130800"/>
            <a:ext cx="25908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B → 0x2B</a:t>
            </a:r>
          </a:p>
        </p:txBody>
      </p:sp>
      <p:sp>
        <p:nvSpPr>
          <p:cNvPr id="20" name="Rounded Rectangle 19"/>
          <p:cNvSpPr/>
          <p:nvPr/>
        </p:nvSpPr>
        <p:spPr>
          <a:xfrm>
            <a:off x="8128000" y="2984500"/>
            <a:ext cx="3352800" cy="2692400"/>
          </a:xfrm>
          <a:prstGeom prst="roundRect">
            <a:avLst>
              <a:gd name="adj" fmla="val 3773"/>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1999" y="3200400"/>
            <a:ext cx="635000" cy="3429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03</a:t>
            </a:r>
          </a:p>
        </p:txBody>
      </p:sp>
      <p:sp>
        <p:nvSpPr>
          <p:cNvPr id="22" name="TextBox 21"/>
          <p:cNvSpPr txBox="1"/>
          <p:nvPr/>
        </p:nvSpPr>
        <p:spPr>
          <a:xfrm>
            <a:off x="8381999" y="3733799"/>
            <a:ext cx="2857500" cy="393700"/>
          </a:xfrm>
          <a:prstGeom prst="rect">
            <a:avLst/>
          </a:prstGeom>
          <a:noFill/>
        </p:spPr>
        <p:txBody>
          <a:bodyPr wrap="square" lIns="0" rIns="0" tIns="0" bIns="0">
            <a:spAutoFit/>
          </a:bodyPr>
          <a:lstStyle/>
          <a:p>
            <a:pPr>
              <a:lnSpc>
                <a:spcPct val="118000"/>
              </a:lnSpc>
              <a:spcBef>
                <a:spcPts val="0"/>
              </a:spcBef>
              <a:spcAft>
                <a:spcPts val="0"/>
              </a:spcAft>
              <a:defRPr sz="1900" b="1">
                <a:solidFill>
                  <a:srgbClr val="151D21"/>
                </a:solidFill>
                <a:latin typeface="Noto Sans CJK KR"/>
              </a:defRPr>
            </a:pPr>
            <a:r>
              <a:rPr>
                <a:ea typeface="Noto Sans CJK KR"/>
              </a:rPr>
              <a:t>두 센서를 함께 읽기</a:t>
            </a:r>
          </a:p>
        </p:txBody>
      </p:sp>
      <p:sp>
        <p:nvSpPr>
          <p:cNvPr id="23" name="TextBox 22"/>
          <p:cNvSpPr txBox="1"/>
          <p:nvPr/>
        </p:nvSpPr>
        <p:spPr>
          <a:xfrm>
            <a:off x="8381999" y="4279900"/>
            <a:ext cx="2857500" cy="609600"/>
          </a:xfrm>
          <a:prstGeom prst="rect">
            <a:avLst/>
          </a:prstGeom>
          <a:noFill/>
        </p:spPr>
        <p:txBody>
          <a:bodyPr wrap="square" lIns="0" rIns="0" tIns="0" bIns="0">
            <a:spAutoFit/>
          </a:bodyPr>
          <a:lstStyle/>
          <a:p>
            <a:pPr>
              <a:lnSpc>
                <a:spcPct val="118000"/>
              </a:lnSpc>
              <a:spcBef>
                <a:spcPts val="0"/>
              </a:spcBef>
              <a:spcAft>
                <a:spcPts val="0"/>
              </a:spcAft>
              <a:defRPr sz="1500" b="0">
                <a:solidFill>
                  <a:srgbClr val="66716F"/>
                </a:solidFill>
                <a:latin typeface="Noto Sans CJK KR"/>
              </a:defRPr>
            </a:pPr>
            <a:r>
              <a:rPr>
                <a:ea typeface="Noto Sans CJK KR"/>
              </a:rPr>
              <a:t>각 주소의 응답을 확인하고</a:t>
            </a:r>
          </a:p>
          <a:p>
            <a:pPr>
              <a:lnSpc>
                <a:spcPct val="118000"/>
              </a:lnSpc>
              <a:spcBef>
                <a:spcPts val="0"/>
              </a:spcBef>
              <a:spcAft>
                <a:spcPts val="0"/>
              </a:spcAft>
              <a:defRPr sz="1500" b="0">
                <a:solidFill>
                  <a:srgbClr val="66716F"/>
                </a:solidFill>
                <a:latin typeface="Noto Sans CJK KR"/>
              </a:defRPr>
            </a:pPr>
            <a:r>
              <a:rPr>
                <a:ea typeface="Noto Sans CJK KR"/>
              </a:rPr>
              <a:t>양쪽 거리 측정을 시작한다.</a:t>
            </a:r>
          </a:p>
        </p:txBody>
      </p:sp>
      <p:sp>
        <p:nvSpPr>
          <p:cNvPr id="24" name="Rounded Rectangle 23"/>
          <p:cNvSpPr/>
          <p:nvPr/>
        </p:nvSpPr>
        <p:spPr>
          <a:xfrm>
            <a:off x="8381999" y="5080000"/>
            <a:ext cx="2844800" cy="330200"/>
          </a:xfrm>
          <a:prstGeom prst="roundRect">
            <a:avLst>
              <a:gd name="adj" fmla="val 20000"/>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9000" y="5130800"/>
            <a:ext cx="25908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287F89"/>
                </a:solidFill>
                <a:latin typeface="Noto Sans CJK KR"/>
              </a:defRPr>
            </a:pPr>
            <a:r>
              <a:rPr>
                <a:ea typeface="Noto Sans CJK KR"/>
              </a:rPr>
              <a:t>A + B · 측정 시작</a:t>
            </a:r>
          </a:p>
        </p:txBody>
      </p:sp>
      <p:cxnSp>
        <p:nvCxnSpPr>
          <p:cNvPr id="26" name="Connector 25"/>
          <p:cNvCxnSpPr/>
          <p:nvPr/>
        </p:nvCxnSpPr>
        <p:spPr>
          <a:xfrm>
            <a:off x="4127500" y="4305300"/>
            <a:ext cx="241300" cy="0"/>
          </a:xfrm>
          <a:prstGeom prst="line">
            <a:avLst/>
          </a:prstGeom>
          <a:ln w="25400">
            <a:solidFill>
              <a:srgbClr val="287F89"/>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835900" y="4305300"/>
            <a:ext cx="241300" cy="0"/>
          </a:xfrm>
          <a:prstGeom prst="line">
            <a:avLst/>
          </a:prstGeom>
          <a:ln w="2540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36600" y="5943600"/>
            <a:ext cx="10668000" cy="2921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표기는 I²C 7비트 주소 기준 · 공유 통신선과 센서별 제어선을 분리하는 것이 핵심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거리 측정 · 격자에서 방향으로</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8×8 격자 두 개에서</a:t>
            </a:r>
          </a:p>
          <a:p>
            <a:pPr>
              <a:lnSpc>
                <a:spcPct val="118000"/>
              </a:lnSpc>
              <a:spcBef>
                <a:spcPts val="0"/>
              </a:spcBef>
              <a:spcAft>
                <a:spcPts val="0"/>
              </a:spcAft>
              <a:defRPr sz="3100" b="1">
                <a:solidFill>
                  <a:srgbClr val="151D21"/>
                </a:solidFill>
                <a:latin typeface="Noto Sans CJK KR"/>
              </a:defRPr>
            </a:pPr>
            <a:r>
              <a:rPr>
                <a:ea typeface="Noto Sans CJK KR"/>
              </a:rPr>
              <a:t>방향별 거리 정보를 얻는다</a:t>
            </a:r>
          </a:p>
        </p:txBody>
      </p:sp>
      <p:sp>
        <p:nvSpPr>
          <p:cNvPr id="4" name="TextBox 3"/>
          <p:cNvSpPr txBox="1"/>
          <p:nvPr/>
        </p:nvSpPr>
        <p:spPr>
          <a:xfrm>
            <a:off x="736600" y="2222500"/>
            <a:ext cx="10617200" cy="4064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ToF는 적외선의 왕복 시간으로 거리를 잰다. 각 칸은 서로 다른 측정 방향을 나타낸다.</a:t>
            </a:r>
          </a:p>
        </p:txBody>
      </p:sp>
      <p:cxnSp>
        <p:nvCxnSpPr>
          <p:cNvPr id="5" name="Connector 4"/>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7" name="TextBox 6"/>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06</a:t>
            </a:r>
          </a:p>
        </p:txBody>
      </p:sp>
      <p:sp>
        <p:nvSpPr>
          <p:cNvPr id="8" name="TextBox 7"/>
          <p:cNvSpPr txBox="1"/>
          <p:nvPr/>
        </p:nvSpPr>
        <p:spPr>
          <a:xfrm>
            <a:off x="711200" y="2679700"/>
            <a:ext cx="2311400" cy="330200"/>
          </a:xfrm>
          <a:prstGeom prst="rect">
            <a:avLst/>
          </a:prstGeom>
          <a:noFill/>
        </p:spPr>
        <p:txBody>
          <a:bodyPr wrap="square" lIns="0" rIns="0" tIns="0" bIns="0">
            <a:spAutoFit/>
          </a:bodyPr>
          <a:lstStyle/>
          <a:p>
            <a:pPr>
              <a:lnSpc>
                <a:spcPct val="118000"/>
              </a:lnSpc>
              <a:spcBef>
                <a:spcPts val="0"/>
              </a:spcBef>
              <a:spcAft>
                <a:spcPts val="0"/>
              </a:spcAft>
              <a:defRPr sz="1600" b="1">
                <a:solidFill>
                  <a:srgbClr val="287F89"/>
                </a:solidFill>
                <a:latin typeface="Noto Sans CJK KR"/>
              </a:defRPr>
            </a:pPr>
            <a:r>
              <a:rPr>
                <a:ea typeface="Noto Sans CJK KR"/>
              </a:rPr>
              <a:t>A · 왼쪽 64존</a:t>
            </a:r>
          </a:p>
        </p:txBody>
      </p:sp>
      <p:sp>
        <p:nvSpPr>
          <p:cNvPr id="9" name="Rounded Rectangle 8"/>
          <p:cNvSpPr/>
          <p:nvPr/>
        </p:nvSpPr>
        <p:spPr>
          <a:xfrm>
            <a:off x="7112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79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446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113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7780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0447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3114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5781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2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79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2446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113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7780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0447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3114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5781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12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779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2446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5113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7780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0447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3114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5781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112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779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446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5113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778000" y="4000500"/>
            <a:ext cx="228600" cy="228600"/>
          </a:xfrm>
          <a:prstGeom prst="roundRect">
            <a:avLst>
              <a:gd name="adj" fmla="val 11111"/>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0447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3114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5781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112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779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2446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5113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7780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0447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23114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25781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112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779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2446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5113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7780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0447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3114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25781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7112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9779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12446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15113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7780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20447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3114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25781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112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9779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12446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15113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7780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20447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23114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25781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11200" y="5461000"/>
            <a:ext cx="2286000" cy="3048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각 칸의 거리·유효 상태 보존</a:t>
            </a:r>
          </a:p>
        </p:txBody>
      </p:sp>
      <p:sp>
        <p:nvSpPr>
          <p:cNvPr id="74" name="TextBox 73"/>
          <p:cNvSpPr txBox="1"/>
          <p:nvPr/>
        </p:nvSpPr>
        <p:spPr>
          <a:xfrm>
            <a:off x="3175000" y="2679700"/>
            <a:ext cx="2311400" cy="330200"/>
          </a:xfrm>
          <a:prstGeom prst="rect">
            <a:avLst/>
          </a:prstGeom>
          <a:noFill/>
        </p:spPr>
        <p:txBody>
          <a:bodyPr wrap="square" lIns="0" rIns="0" tIns="0" bIns="0">
            <a:spAutoFit/>
          </a:bodyPr>
          <a:lstStyle/>
          <a:p>
            <a:pPr>
              <a:lnSpc>
                <a:spcPct val="118000"/>
              </a:lnSpc>
              <a:spcBef>
                <a:spcPts val="0"/>
              </a:spcBef>
              <a:spcAft>
                <a:spcPts val="0"/>
              </a:spcAft>
              <a:defRPr sz="1600" b="1">
                <a:solidFill>
                  <a:srgbClr val="287F89"/>
                </a:solidFill>
                <a:latin typeface="Noto Sans CJK KR"/>
              </a:defRPr>
            </a:pPr>
            <a:r>
              <a:rPr>
                <a:ea typeface="Noto Sans CJK KR"/>
              </a:rPr>
              <a:t>B · 오른쪽 64존</a:t>
            </a:r>
          </a:p>
        </p:txBody>
      </p:sp>
      <p:sp>
        <p:nvSpPr>
          <p:cNvPr id="75" name="Rounded Rectangle 74"/>
          <p:cNvSpPr/>
          <p:nvPr/>
        </p:nvSpPr>
        <p:spPr>
          <a:xfrm>
            <a:off x="31750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34417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37084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39751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42418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45085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47752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5041900" y="32004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31750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34417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37084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39751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42418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45085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47752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5041900" y="34671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31750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34417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37084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39751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42418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45085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96"/>
          <p:cNvSpPr/>
          <p:nvPr/>
        </p:nvSpPr>
        <p:spPr>
          <a:xfrm>
            <a:off x="47752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5041900" y="3733799"/>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31750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34417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37084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39751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42418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45085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47752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5041900" y="40005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31750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34417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37084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3975100" y="4267200"/>
            <a:ext cx="228600" cy="228600"/>
          </a:xfrm>
          <a:prstGeom prst="roundRect">
            <a:avLst>
              <a:gd name="adj" fmla="val 11111"/>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42418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45085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ounded Rectangle 112"/>
          <p:cNvSpPr/>
          <p:nvPr/>
        </p:nvSpPr>
        <p:spPr>
          <a:xfrm>
            <a:off x="47752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5041900" y="42672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31750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34417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37084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39751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ounded Rectangle 118"/>
          <p:cNvSpPr/>
          <p:nvPr/>
        </p:nvSpPr>
        <p:spPr>
          <a:xfrm>
            <a:off x="42418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45085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47752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5041900" y="45339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31750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34417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37084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39751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42418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45085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47752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ounded Rectangle 129"/>
          <p:cNvSpPr/>
          <p:nvPr/>
        </p:nvSpPr>
        <p:spPr>
          <a:xfrm>
            <a:off x="5041900" y="48006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31750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34417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37084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ounded Rectangle 133"/>
          <p:cNvSpPr/>
          <p:nvPr/>
        </p:nvSpPr>
        <p:spPr>
          <a:xfrm>
            <a:off x="39751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ounded Rectangle 134"/>
          <p:cNvSpPr/>
          <p:nvPr/>
        </p:nvSpPr>
        <p:spPr>
          <a:xfrm>
            <a:off x="42418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45085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ounded Rectangle 136"/>
          <p:cNvSpPr/>
          <p:nvPr/>
        </p:nvSpPr>
        <p:spPr>
          <a:xfrm>
            <a:off x="47752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ounded Rectangle 137"/>
          <p:cNvSpPr/>
          <p:nvPr/>
        </p:nvSpPr>
        <p:spPr>
          <a:xfrm>
            <a:off x="5041900" y="5067300"/>
            <a:ext cx="228600" cy="228600"/>
          </a:xfrm>
          <a:prstGeom prst="roundRect">
            <a:avLst>
              <a:gd name="adj" fmla="val 11111"/>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175000" y="5461000"/>
            <a:ext cx="2286000" cy="3048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각 칸의 거리·유효 상태 보존</a:t>
            </a:r>
          </a:p>
        </p:txBody>
      </p:sp>
      <p:sp>
        <p:nvSpPr>
          <p:cNvPr id="140" name="Rounded Rectangle 139"/>
          <p:cNvSpPr/>
          <p:nvPr/>
        </p:nvSpPr>
        <p:spPr>
          <a:xfrm>
            <a:off x="5854700" y="2667000"/>
            <a:ext cx="5626100" cy="3009900"/>
          </a:xfrm>
          <a:prstGeom prst="roundRect">
            <a:avLst>
              <a:gd name="adj" fmla="val 3375"/>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6121400" y="2908300"/>
            <a:ext cx="1397000" cy="546100"/>
          </a:xfrm>
          <a:prstGeom prst="rect">
            <a:avLst/>
          </a:prstGeom>
          <a:noFill/>
        </p:spPr>
        <p:txBody>
          <a:bodyPr wrap="square" lIns="0" rIns="0" tIns="0" bIns="0">
            <a:spAutoFit/>
          </a:bodyPr>
          <a:lstStyle/>
          <a:p>
            <a:pPr>
              <a:lnSpc>
                <a:spcPct val="118000"/>
              </a:lnSpc>
              <a:spcBef>
                <a:spcPts val="0"/>
              </a:spcBef>
              <a:spcAft>
                <a:spcPts val="0"/>
              </a:spcAft>
              <a:defRPr sz="2900" b="1">
                <a:solidFill>
                  <a:srgbClr val="287F89"/>
                </a:solidFill>
                <a:latin typeface="Noto Sans CJK KR"/>
              </a:defRPr>
            </a:pPr>
            <a:r>
              <a:rPr>
                <a:ea typeface="Noto Sans CJK KR"/>
              </a:rPr>
              <a:t>128</a:t>
            </a:r>
          </a:p>
        </p:txBody>
      </p:sp>
      <p:sp>
        <p:nvSpPr>
          <p:cNvPr id="142" name="TextBox 141"/>
          <p:cNvSpPr txBox="1"/>
          <p:nvPr/>
        </p:nvSpPr>
        <p:spPr>
          <a:xfrm>
            <a:off x="7696199" y="2908300"/>
            <a:ext cx="3429000" cy="330200"/>
          </a:xfrm>
          <a:prstGeom prst="rect">
            <a:avLst/>
          </a:prstGeom>
          <a:noFill/>
        </p:spPr>
        <p:txBody>
          <a:bodyPr wrap="square" lIns="0" rIns="0" tIns="0" bIns="0">
            <a:spAutoFit/>
          </a:bodyPr>
          <a:lstStyle/>
          <a:p>
            <a:pPr>
              <a:lnSpc>
                <a:spcPct val="118000"/>
              </a:lnSpc>
              <a:spcBef>
                <a:spcPts val="0"/>
              </a:spcBef>
              <a:spcAft>
                <a:spcPts val="0"/>
              </a:spcAft>
              <a:defRPr sz="1600" b="1">
                <a:solidFill>
                  <a:srgbClr val="151D21"/>
                </a:solidFill>
                <a:latin typeface="Noto Sans CJK KR"/>
              </a:defRPr>
            </a:pPr>
            <a:r>
              <a:rPr>
                <a:ea typeface="Noto Sans CJK KR"/>
              </a:rPr>
              <a:t>측정 영역</a:t>
            </a:r>
          </a:p>
        </p:txBody>
      </p:sp>
      <p:sp>
        <p:nvSpPr>
          <p:cNvPr id="143" name="TextBox 142"/>
          <p:cNvSpPr txBox="1"/>
          <p:nvPr/>
        </p:nvSpPr>
        <p:spPr>
          <a:xfrm>
            <a:off x="7696199" y="3263900"/>
            <a:ext cx="3429000" cy="3810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두 센서 × 64존</a:t>
            </a:r>
          </a:p>
        </p:txBody>
      </p:sp>
      <p:sp>
        <p:nvSpPr>
          <p:cNvPr id="144" name="TextBox 143"/>
          <p:cNvSpPr txBox="1"/>
          <p:nvPr/>
        </p:nvSpPr>
        <p:spPr>
          <a:xfrm>
            <a:off x="6121400" y="3759199"/>
            <a:ext cx="1397000" cy="546100"/>
          </a:xfrm>
          <a:prstGeom prst="rect">
            <a:avLst/>
          </a:prstGeom>
          <a:noFill/>
        </p:spPr>
        <p:txBody>
          <a:bodyPr wrap="square" lIns="0" rIns="0" tIns="0" bIns="0">
            <a:spAutoFit/>
          </a:bodyPr>
          <a:lstStyle/>
          <a:p>
            <a:pPr>
              <a:lnSpc>
                <a:spcPct val="118000"/>
              </a:lnSpc>
              <a:spcBef>
                <a:spcPts val="0"/>
              </a:spcBef>
              <a:spcAft>
                <a:spcPts val="0"/>
              </a:spcAft>
              <a:defRPr sz="2900" b="1">
                <a:solidFill>
                  <a:srgbClr val="287F89"/>
                </a:solidFill>
                <a:latin typeface="Noto Sans CJK KR"/>
              </a:defRPr>
            </a:pPr>
            <a:r>
              <a:rPr>
                <a:ea typeface="Noto Sans CJK KR"/>
              </a:rPr>
              <a:t>5Hz</a:t>
            </a:r>
          </a:p>
        </p:txBody>
      </p:sp>
      <p:sp>
        <p:nvSpPr>
          <p:cNvPr id="145" name="TextBox 144"/>
          <p:cNvSpPr txBox="1"/>
          <p:nvPr/>
        </p:nvSpPr>
        <p:spPr>
          <a:xfrm>
            <a:off x="7696199" y="3759199"/>
            <a:ext cx="3429000" cy="330200"/>
          </a:xfrm>
          <a:prstGeom prst="rect">
            <a:avLst/>
          </a:prstGeom>
          <a:noFill/>
        </p:spPr>
        <p:txBody>
          <a:bodyPr wrap="square" lIns="0" rIns="0" tIns="0" bIns="0">
            <a:spAutoFit/>
          </a:bodyPr>
          <a:lstStyle/>
          <a:p>
            <a:pPr>
              <a:lnSpc>
                <a:spcPct val="118000"/>
              </a:lnSpc>
              <a:spcBef>
                <a:spcPts val="0"/>
              </a:spcBef>
              <a:spcAft>
                <a:spcPts val="0"/>
              </a:spcAft>
              <a:defRPr sz="1600" b="1">
                <a:solidFill>
                  <a:srgbClr val="151D21"/>
                </a:solidFill>
                <a:latin typeface="Noto Sans CJK KR"/>
              </a:defRPr>
            </a:pPr>
            <a:r>
              <a:rPr>
                <a:ea typeface="Noto Sans CJK KR"/>
              </a:rPr>
              <a:t>측정 설정</a:t>
            </a:r>
          </a:p>
        </p:txBody>
      </p:sp>
      <p:sp>
        <p:nvSpPr>
          <p:cNvPr id="146" name="TextBox 145"/>
          <p:cNvSpPr txBox="1"/>
          <p:nvPr/>
        </p:nvSpPr>
        <p:spPr>
          <a:xfrm>
            <a:off x="7696199" y="4114800"/>
            <a:ext cx="3429000" cy="3810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8×8 모드 · 전송 목표 약 500ms마다</a:t>
            </a:r>
          </a:p>
        </p:txBody>
      </p:sp>
      <p:sp>
        <p:nvSpPr>
          <p:cNvPr id="147" name="TextBox 146"/>
          <p:cNvSpPr txBox="1"/>
          <p:nvPr/>
        </p:nvSpPr>
        <p:spPr>
          <a:xfrm>
            <a:off x="6121400" y="4610100"/>
            <a:ext cx="1397000" cy="546100"/>
          </a:xfrm>
          <a:prstGeom prst="rect">
            <a:avLst/>
          </a:prstGeom>
          <a:noFill/>
        </p:spPr>
        <p:txBody>
          <a:bodyPr wrap="square" lIns="0" rIns="0" tIns="0" bIns="0">
            <a:spAutoFit/>
          </a:bodyPr>
          <a:lstStyle/>
          <a:p>
            <a:pPr>
              <a:lnSpc>
                <a:spcPct val="118000"/>
              </a:lnSpc>
              <a:spcBef>
                <a:spcPts val="0"/>
              </a:spcBef>
              <a:spcAft>
                <a:spcPts val="0"/>
              </a:spcAft>
              <a:defRPr sz="2900" b="1">
                <a:solidFill>
                  <a:srgbClr val="287F89"/>
                </a:solidFill>
                <a:latin typeface="Noto Sans CJK KR"/>
              </a:defRPr>
            </a:pPr>
            <a:r>
              <a:rPr>
                <a:ea typeface="Noto Sans CJK KR"/>
              </a:rPr>
              <a:t>90°</a:t>
            </a:r>
          </a:p>
        </p:txBody>
      </p:sp>
      <p:sp>
        <p:nvSpPr>
          <p:cNvPr id="148" name="TextBox 147"/>
          <p:cNvSpPr txBox="1"/>
          <p:nvPr/>
        </p:nvSpPr>
        <p:spPr>
          <a:xfrm>
            <a:off x="7696199" y="4610100"/>
            <a:ext cx="3429000" cy="330200"/>
          </a:xfrm>
          <a:prstGeom prst="rect">
            <a:avLst/>
          </a:prstGeom>
          <a:noFill/>
        </p:spPr>
        <p:txBody>
          <a:bodyPr wrap="square" lIns="0" rIns="0" tIns="0" bIns="0">
            <a:spAutoFit/>
          </a:bodyPr>
          <a:lstStyle/>
          <a:p>
            <a:pPr>
              <a:lnSpc>
                <a:spcPct val="118000"/>
              </a:lnSpc>
              <a:spcBef>
                <a:spcPts val="0"/>
              </a:spcBef>
              <a:spcAft>
                <a:spcPts val="0"/>
              </a:spcAft>
              <a:defRPr sz="1600" b="1">
                <a:solidFill>
                  <a:srgbClr val="151D21"/>
                </a:solidFill>
                <a:latin typeface="Noto Sans CJK KR"/>
              </a:defRPr>
            </a:pPr>
            <a:r>
              <a:rPr>
                <a:ea typeface="Noto Sans CJK KR"/>
              </a:rPr>
              <a:t>전방 영역 모델</a:t>
            </a:r>
          </a:p>
        </p:txBody>
      </p:sp>
      <p:sp>
        <p:nvSpPr>
          <p:cNvPr id="149" name="TextBox 148"/>
          <p:cNvSpPr txBox="1"/>
          <p:nvPr/>
        </p:nvSpPr>
        <p:spPr>
          <a:xfrm>
            <a:off x="7696199" y="4965700"/>
            <a:ext cx="3429000" cy="3810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A 왼쪽 22.5° / B 오른쪽 22.5°</a:t>
            </a:r>
          </a:p>
        </p:txBody>
      </p:sp>
      <p:sp>
        <p:nvSpPr>
          <p:cNvPr id="150" name="TextBox 149"/>
          <p:cNvSpPr txBox="1"/>
          <p:nvPr/>
        </p:nvSpPr>
        <p:spPr>
          <a:xfrm>
            <a:off x="736600" y="5930900"/>
            <a:ext cx="10693400" cy="3048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칸의 위치 → 추정 방위·고도 → HRTF 선택  /  격자 회전·좌우 반전은 실제 장착 후 보정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HRTF · 방향을 소리로 만드는 원리</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두 귀에 다른 신호를 보내</a:t>
            </a:r>
          </a:p>
          <a:p>
            <a:pPr>
              <a:lnSpc>
                <a:spcPct val="118000"/>
              </a:lnSpc>
              <a:spcBef>
                <a:spcPts val="0"/>
              </a:spcBef>
              <a:spcAft>
                <a:spcPts val="0"/>
              </a:spcAft>
              <a:defRPr sz="3100" b="1">
                <a:solidFill>
                  <a:srgbClr val="151D21"/>
                </a:solidFill>
                <a:latin typeface="Noto Sans CJK KR"/>
              </a:defRPr>
            </a:pPr>
            <a:r>
              <a:rPr>
                <a:ea typeface="Noto Sans CJK KR"/>
              </a:rPr>
              <a:t>측정점의 방향을 들려준다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07</a:t>
            </a:r>
          </a:p>
        </p:txBody>
      </p:sp>
      <p:sp>
        <p:nvSpPr>
          <p:cNvPr id="7" name="TextBox 6"/>
          <p:cNvSpPr txBox="1"/>
          <p:nvPr/>
        </p:nvSpPr>
        <p:spPr>
          <a:xfrm>
            <a:off x="736600" y="2743200"/>
            <a:ext cx="4445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01</a:t>
            </a:r>
          </a:p>
        </p:txBody>
      </p:sp>
      <p:sp>
        <p:nvSpPr>
          <p:cNvPr id="8" name="TextBox 7"/>
          <p:cNvSpPr txBox="1"/>
          <p:nvPr/>
        </p:nvSpPr>
        <p:spPr>
          <a:xfrm>
            <a:off x="1320800" y="2679700"/>
            <a:ext cx="4572000" cy="393700"/>
          </a:xfrm>
          <a:prstGeom prst="rect">
            <a:avLst/>
          </a:prstGeom>
          <a:noFill/>
        </p:spPr>
        <p:txBody>
          <a:bodyPr wrap="square" lIns="0" rIns="0" tIns="0" bIns="0">
            <a:spAutoFit/>
          </a:bodyPr>
          <a:lstStyle/>
          <a:p>
            <a:pPr>
              <a:lnSpc>
                <a:spcPct val="118000"/>
              </a:lnSpc>
              <a:spcBef>
                <a:spcPts val="0"/>
              </a:spcBef>
              <a:spcAft>
                <a:spcPts val="0"/>
              </a:spcAft>
              <a:defRPr sz="2000" b="1">
                <a:solidFill>
                  <a:srgbClr val="151D21"/>
                </a:solidFill>
                <a:latin typeface="Noto Sans CJK KR"/>
              </a:defRPr>
            </a:pPr>
            <a:r>
              <a:rPr>
                <a:ea typeface="Noto Sans CJK KR"/>
              </a:rPr>
              <a:t>도달 시간 차이</a:t>
            </a:r>
          </a:p>
        </p:txBody>
      </p:sp>
      <p:sp>
        <p:nvSpPr>
          <p:cNvPr id="9" name="TextBox 8"/>
          <p:cNvSpPr txBox="1"/>
          <p:nvPr/>
        </p:nvSpPr>
        <p:spPr>
          <a:xfrm>
            <a:off x="1320800" y="3124200"/>
            <a:ext cx="4572000" cy="3810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가까운 쪽 귀에 먼저 도착한다.</a:t>
            </a:r>
          </a:p>
        </p:txBody>
      </p:sp>
      <p:sp>
        <p:nvSpPr>
          <p:cNvPr id="10" name="TextBox 9"/>
          <p:cNvSpPr txBox="1"/>
          <p:nvPr/>
        </p:nvSpPr>
        <p:spPr>
          <a:xfrm>
            <a:off x="736600" y="3708400"/>
            <a:ext cx="4445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02</a:t>
            </a:r>
          </a:p>
        </p:txBody>
      </p:sp>
      <p:sp>
        <p:nvSpPr>
          <p:cNvPr id="11" name="TextBox 10"/>
          <p:cNvSpPr txBox="1"/>
          <p:nvPr/>
        </p:nvSpPr>
        <p:spPr>
          <a:xfrm>
            <a:off x="1320800" y="3644900"/>
            <a:ext cx="4572000" cy="393700"/>
          </a:xfrm>
          <a:prstGeom prst="rect">
            <a:avLst/>
          </a:prstGeom>
          <a:noFill/>
        </p:spPr>
        <p:txBody>
          <a:bodyPr wrap="square" lIns="0" rIns="0" tIns="0" bIns="0">
            <a:spAutoFit/>
          </a:bodyPr>
          <a:lstStyle/>
          <a:p>
            <a:pPr>
              <a:lnSpc>
                <a:spcPct val="118000"/>
              </a:lnSpc>
              <a:spcBef>
                <a:spcPts val="0"/>
              </a:spcBef>
              <a:spcAft>
                <a:spcPts val="0"/>
              </a:spcAft>
              <a:defRPr sz="2000" b="1">
                <a:solidFill>
                  <a:srgbClr val="151D21"/>
                </a:solidFill>
                <a:latin typeface="Noto Sans CJK KR"/>
              </a:defRPr>
            </a:pPr>
            <a:r>
              <a:rPr>
                <a:ea typeface="Noto Sans CJK KR"/>
              </a:rPr>
              <a:t>양쪽 귀의 음량 차이</a:t>
            </a:r>
          </a:p>
        </p:txBody>
      </p:sp>
      <p:sp>
        <p:nvSpPr>
          <p:cNvPr id="12" name="TextBox 11"/>
          <p:cNvSpPr txBox="1"/>
          <p:nvPr/>
        </p:nvSpPr>
        <p:spPr>
          <a:xfrm>
            <a:off x="1320800" y="4089400"/>
            <a:ext cx="4572000" cy="3810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머리가 소리를 가리는 효과를 만든다.</a:t>
            </a:r>
          </a:p>
        </p:txBody>
      </p:sp>
      <p:sp>
        <p:nvSpPr>
          <p:cNvPr id="13" name="TextBox 12"/>
          <p:cNvSpPr txBox="1"/>
          <p:nvPr/>
        </p:nvSpPr>
        <p:spPr>
          <a:xfrm>
            <a:off x="736600" y="4673600"/>
            <a:ext cx="4445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C45831"/>
                </a:solidFill>
                <a:latin typeface="Noto Sans CJK KR"/>
              </a:defRPr>
            </a:pPr>
            <a:r>
              <a:rPr>
                <a:ea typeface="Noto Sans CJK KR"/>
              </a:rPr>
              <a:t>03</a:t>
            </a:r>
          </a:p>
        </p:txBody>
      </p:sp>
      <p:sp>
        <p:nvSpPr>
          <p:cNvPr id="14" name="TextBox 13"/>
          <p:cNvSpPr txBox="1"/>
          <p:nvPr/>
        </p:nvSpPr>
        <p:spPr>
          <a:xfrm>
            <a:off x="1320800" y="4610100"/>
            <a:ext cx="4572000" cy="393700"/>
          </a:xfrm>
          <a:prstGeom prst="rect">
            <a:avLst/>
          </a:prstGeom>
          <a:noFill/>
        </p:spPr>
        <p:txBody>
          <a:bodyPr wrap="square" lIns="0" rIns="0" tIns="0" bIns="0">
            <a:spAutoFit/>
          </a:bodyPr>
          <a:lstStyle/>
          <a:p>
            <a:pPr>
              <a:lnSpc>
                <a:spcPct val="118000"/>
              </a:lnSpc>
              <a:spcBef>
                <a:spcPts val="0"/>
              </a:spcBef>
              <a:spcAft>
                <a:spcPts val="0"/>
              </a:spcAft>
              <a:defRPr sz="2000" b="1">
                <a:solidFill>
                  <a:srgbClr val="151D21"/>
                </a:solidFill>
                <a:latin typeface="Noto Sans CJK KR"/>
              </a:defRPr>
            </a:pPr>
            <a:r>
              <a:rPr>
                <a:ea typeface="Noto Sans CJK KR"/>
              </a:rPr>
              <a:t>주파수별 변화</a:t>
            </a:r>
          </a:p>
        </p:txBody>
      </p:sp>
      <p:sp>
        <p:nvSpPr>
          <p:cNvPr id="15" name="TextBox 14"/>
          <p:cNvSpPr txBox="1"/>
          <p:nvPr/>
        </p:nvSpPr>
        <p:spPr>
          <a:xfrm>
            <a:off x="1320800" y="5054600"/>
            <a:ext cx="4572000" cy="3810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귓바퀴·머리의 방향별 필터 효과를 반영한다.</a:t>
            </a:r>
          </a:p>
        </p:txBody>
      </p:sp>
      <p:sp>
        <p:nvSpPr>
          <p:cNvPr id="16" name="Rounded Rectangle 15"/>
          <p:cNvSpPr/>
          <p:nvPr/>
        </p:nvSpPr>
        <p:spPr>
          <a:xfrm>
            <a:off x="6477000" y="2667000"/>
            <a:ext cx="5003800" cy="2908300"/>
          </a:xfrm>
          <a:prstGeom prst="roundRect">
            <a:avLst>
              <a:gd name="adj" fmla="val 3493"/>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724900" y="2946400"/>
            <a:ext cx="330200" cy="330200"/>
          </a:xfrm>
          <a:prstGeom prst="ellipse">
            <a:avLst/>
          </a:prstGeom>
          <a:solidFill>
            <a:srgbClr val="C458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0000" y="3365500"/>
            <a:ext cx="2540000" cy="317500"/>
          </a:xfrm>
          <a:prstGeom prst="rect">
            <a:avLst/>
          </a:prstGeom>
          <a:noFill/>
        </p:spPr>
        <p:txBody>
          <a:bodyPr wrap="square" lIns="0" rIns="0" tIns="0" bIns="0">
            <a:spAutoFit/>
          </a:bodyPr>
          <a:lstStyle/>
          <a:p>
            <a:pPr algn="ctr">
              <a:lnSpc>
                <a:spcPct val="118000"/>
              </a:lnSpc>
              <a:spcBef>
                <a:spcPts val="0"/>
              </a:spcBef>
              <a:spcAft>
                <a:spcPts val="0"/>
              </a:spcAft>
              <a:defRPr sz="1300" b="0">
                <a:solidFill>
                  <a:srgbClr val="ACBBB9"/>
                </a:solidFill>
                <a:latin typeface="Noto Sans CJK KR"/>
              </a:defRPr>
            </a:pPr>
            <a:r>
              <a:rPr>
                <a:ea typeface="Noto Sans CJK KR"/>
              </a:rPr>
              <a:t>선택한 존의 추정 방향</a:t>
            </a:r>
          </a:p>
        </p:txBody>
      </p:sp>
      <p:cxnSp>
        <p:nvCxnSpPr>
          <p:cNvPr id="19" name="Connector 18"/>
          <p:cNvCxnSpPr/>
          <p:nvPr/>
        </p:nvCxnSpPr>
        <p:spPr>
          <a:xfrm>
            <a:off x="8877300" y="3670300"/>
            <a:ext cx="0" cy="279400"/>
          </a:xfrm>
          <a:prstGeom prst="line">
            <a:avLst/>
          </a:prstGeom>
          <a:ln w="2286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696199" y="3949700"/>
            <a:ext cx="2413001" cy="0"/>
          </a:xfrm>
          <a:prstGeom prst="line">
            <a:avLst/>
          </a:prstGeom>
          <a:ln w="2286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696199" y="3949700"/>
            <a:ext cx="0" cy="190500"/>
          </a:xfrm>
          <a:prstGeom prst="line">
            <a:avLst/>
          </a:prstGeom>
          <a:ln w="2286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883400" y="4165600"/>
            <a:ext cx="1714500" cy="533400"/>
          </a:xfrm>
          <a:prstGeom prst="roundRect">
            <a:avLst>
              <a:gd name="adj" fmla="val 19047"/>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5000" y="4305300"/>
            <a:ext cx="1511300" cy="304800"/>
          </a:xfrm>
          <a:prstGeom prst="rect">
            <a:avLst/>
          </a:prstGeom>
          <a:noFill/>
        </p:spPr>
        <p:txBody>
          <a:bodyPr wrap="square" lIns="0" rIns="0" tIns="0" bIns="0">
            <a:spAutoFit/>
          </a:bodyPr>
          <a:lstStyle/>
          <a:p>
            <a:pPr algn="ctr">
              <a:lnSpc>
                <a:spcPct val="118000"/>
              </a:lnSpc>
              <a:spcBef>
                <a:spcPts val="0"/>
              </a:spcBef>
              <a:spcAft>
                <a:spcPts val="0"/>
              </a:spcAft>
              <a:defRPr sz="1400" b="1">
                <a:solidFill>
                  <a:srgbClr val="FFFFFF"/>
                </a:solidFill>
                <a:latin typeface="Noto Sans CJK KR"/>
              </a:defRPr>
            </a:pPr>
            <a:r>
              <a:rPr>
                <a:ea typeface="Noto Sans CJK KR"/>
              </a:rPr>
              <a:t>왼쪽 귀 필터</a:t>
            </a:r>
          </a:p>
        </p:txBody>
      </p:sp>
      <p:cxnSp>
        <p:nvCxnSpPr>
          <p:cNvPr id="24" name="Connector 23"/>
          <p:cNvCxnSpPr/>
          <p:nvPr/>
        </p:nvCxnSpPr>
        <p:spPr>
          <a:xfrm flipV="1">
            <a:off x="7010400" y="4803563"/>
            <a:ext cx="44450" cy="12403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054850" y="4763876"/>
            <a:ext cx="44450" cy="3968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99300" y="4763876"/>
            <a:ext cx="44450" cy="7165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143750" y="4835526"/>
            <a:ext cx="44450" cy="13426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188200" y="4969789"/>
            <a:ext cx="44450" cy="10557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232650" y="5069135"/>
            <a:ext cx="44450" cy="622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277100" y="4973897"/>
            <a:ext cx="44450" cy="9523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321550" y="4862833"/>
            <a:ext cx="44450" cy="11106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366000" y="4808744"/>
            <a:ext cx="44449" cy="54089"/>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410449" y="4808744"/>
            <a:ext cx="44451" cy="2911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454900" y="4837861"/>
            <a:ext cx="44450" cy="8196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499350" y="4919825"/>
            <a:ext cx="44450" cy="7521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543800" y="4995039"/>
            <a:ext cx="44450" cy="2165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588250" y="4978670"/>
            <a:ext cx="44449" cy="3802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632699" y="4913630"/>
            <a:ext cx="44451" cy="6504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677150" y="4866738"/>
            <a:ext cx="44450" cy="4689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721600" y="4865190"/>
            <a:ext cx="44450" cy="154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766050" y="4865190"/>
            <a:ext cx="44449" cy="3831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10499" y="4903503"/>
            <a:ext cx="44451" cy="48155"/>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54950" y="4951658"/>
            <a:ext cx="44450" cy="2600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899400" y="4968164"/>
            <a:ext cx="44450" cy="9501"/>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7943850" y="4934252"/>
            <a:ext cx="44450" cy="3391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7988300" y="4900951"/>
            <a:ext cx="44449" cy="33301"/>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032749" y="4889324"/>
            <a:ext cx="44451" cy="1162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077200" y="4889324"/>
            <a:ext cx="44450" cy="1434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121650" y="4903667"/>
            <a:ext cx="44450" cy="2749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166100" y="4931165"/>
            <a:ext cx="44449" cy="2131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10549" y="4952478"/>
            <a:ext cx="44451" cy="2471"/>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255000" y="4939697"/>
            <a:ext cx="44450" cy="1525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299450" y="4918935"/>
            <a:ext cx="44450" cy="2076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343900" y="4906638"/>
            <a:ext cx="44450" cy="1229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109200" y="3949700"/>
            <a:ext cx="0" cy="190500"/>
          </a:xfrm>
          <a:prstGeom prst="line">
            <a:avLst/>
          </a:prstGeom>
          <a:ln w="2286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9296400" y="4165600"/>
            <a:ext cx="1714500" cy="533400"/>
          </a:xfrm>
          <a:prstGeom prst="roundRect">
            <a:avLst>
              <a:gd name="adj" fmla="val 19047"/>
            </a:avLst>
          </a:prstGeom>
          <a:solidFill>
            <a:srgbClr val="202B30"/>
          </a:solidFill>
          <a:ln w="8890">
            <a:solidFill>
              <a:srgbClr val="3A47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98000" y="4305300"/>
            <a:ext cx="1511300" cy="304800"/>
          </a:xfrm>
          <a:prstGeom prst="rect">
            <a:avLst/>
          </a:prstGeom>
          <a:noFill/>
        </p:spPr>
        <p:txBody>
          <a:bodyPr wrap="square" lIns="0" rIns="0" tIns="0" bIns="0">
            <a:spAutoFit/>
          </a:bodyPr>
          <a:lstStyle/>
          <a:p>
            <a:pPr algn="ctr">
              <a:lnSpc>
                <a:spcPct val="118000"/>
              </a:lnSpc>
              <a:spcBef>
                <a:spcPts val="0"/>
              </a:spcBef>
              <a:spcAft>
                <a:spcPts val="0"/>
              </a:spcAft>
              <a:defRPr sz="1400" b="1">
                <a:solidFill>
                  <a:srgbClr val="FFFFFF"/>
                </a:solidFill>
                <a:latin typeface="Noto Sans CJK KR"/>
              </a:defRPr>
            </a:pPr>
            <a:r>
              <a:rPr>
                <a:ea typeface="Noto Sans CJK KR"/>
              </a:rPr>
              <a:t>오른쪽 귀 필터</a:t>
            </a:r>
          </a:p>
        </p:txBody>
      </p:sp>
      <p:cxnSp>
        <p:nvCxnSpPr>
          <p:cNvPr id="58" name="Connector 57"/>
          <p:cNvCxnSpPr/>
          <p:nvPr/>
        </p:nvCxnSpPr>
        <p:spPr>
          <a:xfrm>
            <a:off x="9423400" y="5059430"/>
            <a:ext cx="44450" cy="2984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9467850" y="5009178"/>
            <a:ext cx="44450" cy="80099"/>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9512300" y="4873603"/>
            <a:ext cx="44450" cy="135575"/>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9556750" y="4774747"/>
            <a:ext cx="44450" cy="98856"/>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601200" y="4774747"/>
            <a:ext cx="44450" cy="509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645650" y="4779837"/>
            <a:ext cx="44450" cy="10557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690100" y="4885410"/>
            <a:ext cx="44450" cy="13426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734550" y="5019673"/>
            <a:ext cx="44450" cy="7165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9779000" y="5051636"/>
            <a:ext cx="44450" cy="3968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9823450" y="4927600"/>
            <a:ext cx="44450" cy="124036"/>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867900" y="4803563"/>
            <a:ext cx="44450" cy="12403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912350" y="4763876"/>
            <a:ext cx="44450" cy="3968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956800" y="4763876"/>
            <a:ext cx="44450" cy="7165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001250" y="4835526"/>
            <a:ext cx="44450" cy="13426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045700" y="4969789"/>
            <a:ext cx="44450" cy="10557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0090150" y="5069135"/>
            <a:ext cx="44450" cy="622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0134600" y="4973897"/>
            <a:ext cx="44450" cy="9523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0179050" y="4862833"/>
            <a:ext cx="44450" cy="11106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0223500" y="4808744"/>
            <a:ext cx="44450" cy="54089"/>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267950" y="4808744"/>
            <a:ext cx="44450" cy="2911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0312400" y="4837861"/>
            <a:ext cx="44450" cy="8196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356850" y="4919825"/>
            <a:ext cx="44450" cy="7521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401300" y="4995039"/>
            <a:ext cx="44450" cy="21654"/>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445750" y="4978670"/>
            <a:ext cx="44450" cy="3802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0490200" y="4913630"/>
            <a:ext cx="44450" cy="65040"/>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0534650" y="4866738"/>
            <a:ext cx="44450" cy="46892"/>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579100" y="4865190"/>
            <a:ext cx="44450" cy="1548"/>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623550" y="4865190"/>
            <a:ext cx="44450" cy="38313"/>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668000" y="4903503"/>
            <a:ext cx="44450" cy="48155"/>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712450" y="4951658"/>
            <a:ext cx="44450" cy="26007"/>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0756900" y="4968164"/>
            <a:ext cx="44450" cy="9501"/>
          </a:xfrm>
          <a:prstGeom prst="line">
            <a:avLst/>
          </a:prstGeom>
          <a:ln w="15240">
            <a:solidFill>
              <a:srgbClr val="287F89"/>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718300" y="5219700"/>
            <a:ext cx="45085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ACBBB9"/>
                </a:solidFill>
                <a:latin typeface="Noto Sans CJK KR"/>
              </a:defRPr>
            </a:pPr>
            <a:r>
              <a:rPr>
                <a:ea typeface="Noto Sans CJK KR"/>
              </a:rPr>
              <a:t>귀별 시간·음량·주파수 특성을 함께 반영</a:t>
            </a:r>
          </a:p>
        </p:txBody>
      </p:sp>
      <p:sp>
        <p:nvSpPr>
          <p:cNvPr id="90" name="Rounded Rectangle 89"/>
          <p:cNvSpPr/>
          <p:nvPr/>
        </p:nvSpPr>
        <p:spPr>
          <a:xfrm>
            <a:off x="711200" y="5753100"/>
            <a:ext cx="10769600" cy="482600"/>
          </a:xfrm>
          <a:prstGeom prst="roundRect">
            <a:avLst>
              <a:gd name="adj" fmla="val 10526"/>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01700" y="5867400"/>
            <a:ext cx="10414000" cy="2794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MIT KEMAR 710방향 실측 필터 · 측정점의 방위·고도에 가장 가까운 필터를 선택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거리 표현 · 연속적인 변화</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가까워질수록 크게,</a:t>
            </a:r>
          </a:p>
          <a:p>
            <a:pPr>
              <a:lnSpc>
                <a:spcPct val="118000"/>
              </a:lnSpc>
              <a:spcBef>
                <a:spcPts val="0"/>
              </a:spcBef>
              <a:spcAft>
                <a:spcPts val="0"/>
              </a:spcAft>
              <a:defRPr sz="3100" b="1">
                <a:solidFill>
                  <a:srgbClr val="151D21"/>
                </a:solidFill>
                <a:latin typeface="Noto Sans CJK KR"/>
              </a:defRPr>
            </a:pPr>
            <a:r>
              <a:rPr>
                <a:ea typeface="Noto Sans CJK KR"/>
              </a:rPr>
              <a:t>반복 모드에서는 간격도 짧게</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08</a:t>
            </a:r>
          </a:p>
        </p:txBody>
      </p:sp>
      <p:sp>
        <p:nvSpPr>
          <p:cNvPr id="7" name="Rounded Rectangle 6"/>
          <p:cNvSpPr/>
          <p:nvPr/>
        </p:nvSpPr>
        <p:spPr>
          <a:xfrm>
            <a:off x="711200" y="2679700"/>
            <a:ext cx="5410200" cy="3098800"/>
          </a:xfrm>
          <a:prstGeom prst="roundRect">
            <a:avLst>
              <a:gd name="adj" fmla="val 3278"/>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7900" y="2882900"/>
            <a:ext cx="4889500" cy="342900"/>
          </a:xfrm>
          <a:prstGeom prst="rect">
            <a:avLst/>
          </a:prstGeom>
          <a:noFill/>
        </p:spPr>
        <p:txBody>
          <a:bodyPr wrap="square" lIns="0" rIns="0" tIns="0" bIns="0">
            <a:spAutoFit/>
          </a:bodyPr>
          <a:lstStyle/>
          <a:p>
            <a:pPr>
              <a:lnSpc>
                <a:spcPct val="118000"/>
              </a:lnSpc>
              <a:spcBef>
                <a:spcPts val="0"/>
              </a:spcBef>
              <a:spcAft>
                <a:spcPts val="0"/>
              </a:spcAft>
              <a:defRPr sz="1700" b="1">
                <a:solidFill>
                  <a:srgbClr val="151D21"/>
                </a:solidFill>
                <a:latin typeface="Noto Sans CJK KR"/>
              </a:defRPr>
            </a:pPr>
            <a:r>
              <a:rPr>
                <a:ea typeface="Noto Sans CJK KR"/>
              </a:rPr>
              <a:t>거리 → 음량의 연속 변화</a:t>
            </a:r>
          </a:p>
        </p:txBody>
      </p:sp>
      <p:cxnSp>
        <p:nvCxnSpPr>
          <p:cNvPr id="9" name="Connector 8"/>
          <p:cNvCxnSpPr/>
          <p:nvPr/>
        </p:nvCxnSpPr>
        <p:spPr>
          <a:xfrm flipV="1">
            <a:off x="1371600" y="3683000"/>
            <a:ext cx="0" cy="1333500"/>
          </a:xfrm>
          <a:prstGeom prst="line">
            <a:avLst/>
          </a:prstGeom>
          <a:ln w="12700">
            <a:solidFill>
              <a:srgbClr val="66716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71600" y="5016500"/>
            <a:ext cx="4127500" cy="0"/>
          </a:xfrm>
          <a:prstGeom prst="line">
            <a:avLst/>
          </a:prstGeom>
          <a:ln w="12700">
            <a:solidFill>
              <a:srgbClr val="66716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3810000"/>
            <a:ext cx="4127500" cy="1003300"/>
          </a:xfrm>
          <a:prstGeom prst="line">
            <a:avLst/>
          </a:prstGeom>
          <a:ln w="38100">
            <a:solidFill>
              <a:srgbClr val="287F89"/>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320800" y="3759199"/>
            <a:ext cx="101600" cy="101600"/>
          </a:xfrm>
          <a:prstGeom prst="ellipse">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48300" y="4762500"/>
            <a:ext cx="101600" cy="101600"/>
          </a:xfrm>
          <a:prstGeom prst="ellipse">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454400"/>
            <a:ext cx="698500" cy="3048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크게</a:t>
            </a:r>
          </a:p>
        </p:txBody>
      </p:sp>
      <p:sp>
        <p:nvSpPr>
          <p:cNvPr id="15" name="TextBox 14"/>
          <p:cNvSpPr txBox="1"/>
          <p:nvPr/>
        </p:nvSpPr>
        <p:spPr>
          <a:xfrm>
            <a:off x="914400" y="4711700"/>
            <a:ext cx="698500" cy="3048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작게</a:t>
            </a:r>
          </a:p>
        </p:txBody>
      </p:sp>
      <p:sp>
        <p:nvSpPr>
          <p:cNvPr id="16" name="TextBox 15"/>
          <p:cNvSpPr txBox="1"/>
          <p:nvPr/>
        </p:nvSpPr>
        <p:spPr>
          <a:xfrm>
            <a:off x="1155700" y="5130800"/>
            <a:ext cx="1181100" cy="3175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20cm 이하</a:t>
            </a:r>
          </a:p>
        </p:txBody>
      </p:sp>
      <p:sp>
        <p:nvSpPr>
          <p:cNvPr id="17" name="TextBox 16"/>
          <p:cNvSpPr txBox="1"/>
          <p:nvPr/>
        </p:nvSpPr>
        <p:spPr>
          <a:xfrm>
            <a:off x="5067300" y="5130800"/>
            <a:ext cx="635000" cy="317500"/>
          </a:xfrm>
          <a:prstGeom prst="rect">
            <a:avLst/>
          </a:prstGeom>
          <a:noFill/>
        </p:spPr>
        <p:txBody>
          <a:bodyPr wrap="square" lIns="0" rIns="0" tIns="0" bIns="0">
            <a:spAutoFit/>
          </a:bodyPr>
          <a:lstStyle/>
          <a:p>
            <a:pPr>
              <a:lnSpc>
                <a:spcPct val="118000"/>
              </a:lnSpc>
              <a:spcBef>
                <a:spcPts val="0"/>
              </a:spcBef>
              <a:spcAft>
                <a:spcPts val="0"/>
              </a:spcAft>
              <a:defRPr sz="1100" b="0">
                <a:solidFill>
                  <a:srgbClr val="66716F"/>
                </a:solidFill>
                <a:latin typeface="Noto Sans CJK KR"/>
              </a:defRPr>
            </a:pPr>
            <a:r>
              <a:rPr>
                <a:ea typeface="Noto Sans CJK KR"/>
              </a:rPr>
              <a:t>4m</a:t>
            </a:r>
          </a:p>
        </p:txBody>
      </p:sp>
      <p:sp>
        <p:nvSpPr>
          <p:cNvPr id="18" name="TextBox 17"/>
          <p:cNvSpPr txBox="1"/>
          <p:nvPr/>
        </p:nvSpPr>
        <p:spPr>
          <a:xfrm>
            <a:off x="977900" y="5511800"/>
            <a:ext cx="4889500" cy="254000"/>
          </a:xfrm>
          <a:prstGeom prst="rect">
            <a:avLst/>
          </a:prstGeom>
          <a:noFill/>
        </p:spPr>
        <p:txBody>
          <a:bodyPr wrap="square" lIns="0" rIns="0" tIns="0" bIns="0">
            <a:spAutoFit/>
          </a:bodyPr>
          <a:lstStyle/>
          <a:p>
            <a:pPr>
              <a:lnSpc>
                <a:spcPct val="118000"/>
              </a:lnSpc>
              <a:spcBef>
                <a:spcPts val="0"/>
              </a:spcBef>
              <a:spcAft>
                <a:spcPts val="0"/>
              </a:spcAft>
              <a:defRPr sz="1100" b="0">
                <a:solidFill>
                  <a:srgbClr val="287F89"/>
                </a:solidFill>
                <a:latin typeface="Noto Sans CJK KR"/>
              </a:defRPr>
            </a:pPr>
            <a:r>
              <a:rPr>
                <a:ea typeface="Noto Sans CJK KR"/>
              </a:rPr>
              <a:t>두 단계 경보가 아니라 중간 거리에서도 선형 변화</a:t>
            </a:r>
          </a:p>
        </p:txBody>
      </p:sp>
      <p:sp>
        <p:nvSpPr>
          <p:cNvPr id="19" name="Rounded Rectangle 18"/>
          <p:cNvSpPr/>
          <p:nvPr/>
        </p:nvSpPr>
        <p:spPr>
          <a:xfrm>
            <a:off x="6388100" y="2679700"/>
            <a:ext cx="5092700" cy="1498600"/>
          </a:xfrm>
          <a:prstGeom prst="roundRect">
            <a:avLst>
              <a:gd name="adj" fmla="val 6779"/>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42100" y="2870200"/>
            <a:ext cx="4597400" cy="368300"/>
          </a:xfrm>
          <a:prstGeom prst="rect">
            <a:avLst/>
          </a:prstGeom>
          <a:noFill/>
        </p:spPr>
        <p:txBody>
          <a:bodyPr wrap="square" lIns="0" rIns="0" tIns="0" bIns="0">
            <a:spAutoFit/>
          </a:bodyPr>
          <a:lstStyle/>
          <a:p>
            <a:pPr>
              <a:lnSpc>
                <a:spcPct val="118000"/>
              </a:lnSpc>
              <a:spcBef>
                <a:spcPts val="0"/>
              </a:spcBef>
              <a:spcAft>
                <a:spcPts val="0"/>
              </a:spcAft>
              <a:defRPr sz="1800" b="1">
                <a:solidFill>
                  <a:srgbClr val="151D21"/>
                </a:solidFill>
                <a:latin typeface="Noto Sans CJK KR"/>
              </a:defRPr>
            </a:pPr>
            <a:r>
              <a:rPr>
                <a:ea typeface="Noto Sans CJK KR"/>
              </a:rPr>
              <a:t>한 점 반복 방향음</a:t>
            </a:r>
          </a:p>
        </p:txBody>
      </p:sp>
      <p:sp>
        <p:nvSpPr>
          <p:cNvPr id="21" name="TextBox 20"/>
          <p:cNvSpPr txBox="1"/>
          <p:nvPr/>
        </p:nvSpPr>
        <p:spPr>
          <a:xfrm>
            <a:off x="6642100" y="3352800"/>
            <a:ext cx="4597400" cy="673100"/>
          </a:xfrm>
          <a:prstGeom prst="rect">
            <a:avLst/>
          </a:prstGeom>
          <a:noFill/>
        </p:spPr>
        <p:txBody>
          <a:bodyPr wrap="square" lIns="0" rIns="0" tIns="0" bIns="0">
            <a:spAutoFit/>
          </a:bodyPr>
          <a:lstStyle/>
          <a:p>
            <a:pPr>
              <a:lnSpc>
                <a:spcPct val="118000"/>
              </a:lnSpc>
              <a:spcBef>
                <a:spcPts val="0"/>
              </a:spcBef>
              <a:spcAft>
                <a:spcPts val="0"/>
              </a:spcAft>
              <a:defRPr sz="1500" b="0">
                <a:solidFill>
                  <a:srgbClr val="66716F"/>
                </a:solidFill>
                <a:latin typeface="Noto Sans CJK KR"/>
              </a:defRPr>
            </a:pPr>
            <a:r>
              <a:rPr>
                <a:ea typeface="Noto Sans CJK KR"/>
              </a:rPr>
              <a:t>거리 → 음량 + 반복 간격</a:t>
            </a:r>
          </a:p>
          <a:p>
            <a:pPr>
              <a:lnSpc>
                <a:spcPct val="118000"/>
              </a:lnSpc>
              <a:spcBef>
                <a:spcPts val="0"/>
              </a:spcBef>
              <a:spcAft>
                <a:spcPts val="0"/>
              </a:spcAft>
              <a:defRPr sz="1500" b="0">
                <a:solidFill>
                  <a:srgbClr val="66716F"/>
                </a:solidFill>
                <a:latin typeface="Noto Sans CJK KR"/>
              </a:defRPr>
            </a:pPr>
            <a:r>
              <a:rPr>
                <a:ea typeface="Noto Sans CJK KR"/>
              </a:rPr>
              <a:t>가까우면 빠르게, 멀면 느리게</a:t>
            </a:r>
          </a:p>
        </p:txBody>
      </p:sp>
      <p:sp>
        <p:nvSpPr>
          <p:cNvPr id="22" name="Rounded Rectangle 21"/>
          <p:cNvSpPr/>
          <p:nvPr/>
        </p:nvSpPr>
        <p:spPr>
          <a:xfrm>
            <a:off x="6388100" y="4279900"/>
            <a:ext cx="5092700" cy="1498600"/>
          </a:xfrm>
          <a:prstGeom prst="roundRect">
            <a:avLst>
              <a:gd name="adj" fmla="val 6779"/>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42100" y="4470400"/>
            <a:ext cx="4597400" cy="368300"/>
          </a:xfrm>
          <a:prstGeom prst="rect">
            <a:avLst/>
          </a:prstGeom>
          <a:noFill/>
        </p:spPr>
        <p:txBody>
          <a:bodyPr wrap="square" lIns="0" rIns="0" tIns="0" bIns="0">
            <a:spAutoFit/>
          </a:bodyPr>
          <a:lstStyle/>
          <a:p>
            <a:pPr>
              <a:lnSpc>
                <a:spcPct val="118000"/>
              </a:lnSpc>
              <a:spcBef>
                <a:spcPts val="0"/>
              </a:spcBef>
              <a:spcAft>
                <a:spcPts val="0"/>
              </a:spcAft>
              <a:defRPr sz="1800" b="1">
                <a:solidFill>
                  <a:srgbClr val="FFFFFF"/>
                </a:solidFill>
                <a:latin typeface="Noto Sans CJK KR"/>
              </a:defRPr>
            </a:pPr>
            <a:r>
              <a:rPr>
                <a:ea typeface="Noto Sans CJK KR"/>
              </a:rPr>
              <a:t>레이더식 스캔</a:t>
            </a:r>
          </a:p>
        </p:txBody>
      </p:sp>
      <p:sp>
        <p:nvSpPr>
          <p:cNvPr id="24" name="TextBox 23"/>
          <p:cNvSpPr txBox="1"/>
          <p:nvPr/>
        </p:nvSpPr>
        <p:spPr>
          <a:xfrm>
            <a:off x="6642100" y="4953000"/>
            <a:ext cx="4597400" cy="673100"/>
          </a:xfrm>
          <a:prstGeom prst="rect">
            <a:avLst/>
          </a:prstGeom>
          <a:noFill/>
        </p:spPr>
        <p:txBody>
          <a:bodyPr wrap="square" lIns="0" rIns="0" tIns="0" bIns="0">
            <a:spAutoFit/>
          </a:bodyPr>
          <a:lstStyle/>
          <a:p>
            <a:pPr>
              <a:lnSpc>
                <a:spcPct val="118000"/>
              </a:lnSpc>
              <a:spcBef>
                <a:spcPts val="0"/>
              </a:spcBef>
              <a:spcAft>
                <a:spcPts val="0"/>
              </a:spcAft>
              <a:defRPr sz="1500" b="0">
                <a:solidFill>
                  <a:srgbClr val="ACBBB9"/>
                </a:solidFill>
                <a:latin typeface="Noto Sans CJK KR"/>
              </a:defRPr>
            </a:pPr>
            <a:r>
              <a:rPr>
                <a:ea typeface="Noto Sans CJK KR"/>
              </a:rPr>
              <a:t>거리 → 음량 / 방향 → HRTF</a:t>
            </a:r>
          </a:p>
          <a:p>
            <a:pPr>
              <a:lnSpc>
                <a:spcPct val="118000"/>
              </a:lnSpc>
              <a:spcBef>
                <a:spcPts val="0"/>
              </a:spcBef>
              <a:spcAft>
                <a:spcPts val="0"/>
              </a:spcAft>
              <a:defRPr sz="1500" b="0">
                <a:solidFill>
                  <a:srgbClr val="ACBBB9"/>
                </a:solidFill>
                <a:latin typeface="Noto Sans CJK KR"/>
              </a:defRPr>
            </a:pPr>
            <a:r>
              <a:rPr>
                <a:ea typeface="Noto Sans CJK KR"/>
              </a:rPr>
              <a:t>스캔 주기는 거리와 무관하게 1초 고정</a:t>
            </a:r>
          </a:p>
        </p:txBody>
      </p:sp>
      <p:sp>
        <p:nvSpPr>
          <p:cNvPr id="25" name="TextBox 24"/>
          <p:cNvSpPr txBox="1"/>
          <p:nvPr/>
        </p:nvSpPr>
        <p:spPr>
          <a:xfrm>
            <a:off x="736600" y="5981700"/>
            <a:ext cx="10718800" cy="2667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4m 초과·유효하지 않은 값은 무음 처리한다. 음량은 방향 단서를 유지한 채 조절한다.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C45831"/>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F1E5DB"/>
                </a:solidFill>
                <a:latin typeface="Noto Sans CJK KR"/>
              </a:defRPr>
            </a:pPr>
            <a:r>
              <a:rPr>
                <a:ea typeface="Noto Sans CJK KR"/>
              </a:rPr>
              <a:t>레이더에서 착안한 청각 스캔</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FFFFFF"/>
                </a:solidFill>
                <a:latin typeface="Noto Sans CJK KR"/>
              </a:defRPr>
            </a:pPr>
            <a:r>
              <a:rPr>
                <a:ea typeface="Noto Sans CJK KR"/>
              </a:rPr>
              <a:t>레이더처럼, 1초에 한 번</a:t>
            </a:r>
          </a:p>
          <a:p>
            <a:pPr>
              <a:lnSpc>
                <a:spcPct val="118000"/>
              </a:lnSpc>
              <a:spcBef>
                <a:spcPts val="0"/>
              </a:spcBef>
              <a:spcAft>
                <a:spcPts val="0"/>
              </a:spcAft>
              <a:defRPr sz="3100" b="1">
                <a:solidFill>
                  <a:srgbClr val="FFFFFF"/>
                </a:solidFill>
                <a:latin typeface="Noto Sans CJK KR"/>
              </a:defRPr>
            </a:pPr>
            <a:r>
              <a:rPr>
                <a:ea typeface="Noto Sans CJK KR"/>
              </a:rPr>
              <a:t>왼쪽에서 오른쪽으로 듣는다</a:t>
            </a:r>
          </a:p>
        </p:txBody>
      </p:sp>
      <p:cxnSp>
        <p:nvCxnSpPr>
          <p:cNvPr id="4" name="Connector 3"/>
          <p:cNvCxnSpPr/>
          <p:nvPr/>
        </p:nvCxnSpPr>
        <p:spPr>
          <a:xfrm>
            <a:off x="711200" y="6400800"/>
            <a:ext cx="10769600" cy="0"/>
          </a:xfrm>
          <a:prstGeom prst="line">
            <a:avLst/>
          </a:prstGeom>
          <a:ln w="7620">
            <a:solidFill>
              <a:srgbClr val="F1E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F1E5DB"/>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F1E5DB"/>
                </a:solidFill>
                <a:latin typeface="Noto Sans CJK KR"/>
              </a:defRPr>
            </a:pPr>
            <a:r>
              <a:rPr>
                <a:ea typeface="Noto Sans CJK KR"/>
              </a:rPr>
              <a:t>09</a:t>
            </a:r>
          </a:p>
        </p:txBody>
      </p:sp>
      <p:sp>
        <p:nvSpPr>
          <p:cNvPr id="7" name="TextBox 6"/>
          <p:cNvSpPr txBox="1"/>
          <p:nvPr/>
        </p:nvSpPr>
        <p:spPr>
          <a:xfrm>
            <a:off x="736600" y="2374900"/>
            <a:ext cx="10706100" cy="342900"/>
          </a:xfrm>
          <a:prstGeom prst="rect">
            <a:avLst/>
          </a:prstGeom>
          <a:noFill/>
        </p:spPr>
        <p:txBody>
          <a:bodyPr wrap="square" lIns="0" rIns="0" tIns="0" bIns="0">
            <a:spAutoFit/>
          </a:bodyPr>
          <a:lstStyle/>
          <a:p>
            <a:pPr>
              <a:lnSpc>
                <a:spcPct val="118000"/>
              </a:lnSpc>
              <a:spcBef>
                <a:spcPts val="0"/>
              </a:spcBef>
              <a:spcAft>
                <a:spcPts val="0"/>
              </a:spcAft>
              <a:defRPr sz="1600" b="0">
                <a:solidFill>
                  <a:srgbClr val="FFFFFF"/>
                </a:solidFill>
                <a:latin typeface="Noto Sans CJK KR"/>
              </a:defRPr>
            </a:pPr>
            <a:r>
              <a:rPr>
                <a:ea typeface="Noto Sans CJK KR"/>
              </a:rPr>
              <a:t>여러 방향의 정보를 동시에 울리지 않고, 정해진 시간 순서로 펼친다.</a:t>
            </a:r>
          </a:p>
        </p:txBody>
      </p:sp>
      <p:sp>
        <p:nvSpPr>
          <p:cNvPr id="8" name="Rounded Rectangle 7"/>
          <p:cNvSpPr/>
          <p:nvPr/>
        </p:nvSpPr>
        <p:spPr>
          <a:xfrm>
            <a:off x="1016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651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286000" y="3759199"/>
            <a:ext cx="596900" cy="279400"/>
          </a:xfrm>
          <a:prstGeom prst="roundRect">
            <a:avLst>
              <a:gd name="adj" fmla="val 9090"/>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21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56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90999"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26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61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96000" y="3759199"/>
            <a:ext cx="596900" cy="279400"/>
          </a:xfrm>
          <a:prstGeom prst="roundRect">
            <a:avLst>
              <a:gd name="adj" fmla="val 9090"/>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31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66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01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36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71000" y="3759199"/>
            <a:ext cx="596900" cy="279400"/>
          </a:xfrm>
          <a:prstGeom prst="roundRect">
            <a:avLst>
              <a:gd name="adj" fmla="val 9090"/>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906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541000" y="3759199"/>
            <a:ext cx="596900" cy="279400"/>
          </a:xfrm>
          <a:prstGeom prst="roundRect">
            <a:avLst>
              <a:gd name="adj" fmla="val 9090"/>
            </a:avLst>
          </a:prstGeom>
          <a:solidFill>
            <a:srgbClr val="F1E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2286000" y="3441700"/>
            <a:ext cx="0" cy="2540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333500" y="2832100"/>
            <a:ext cx="1905000" cy="368300"/>
          </a:xfrm>
          <a:prstGeom prst="rect">
            <a:avLst/>
          </a:prstGeom>
          <a:noFill/>
        </p:spPr>
        <p:txBody>
          <a:bodyPr wrap="square" lIns="0" rIns="0" tIns="0" bIns="0">
            <a:spAutoFit/>
          </a:bodyPr>
          <a:lstStyle/>
          <a:p>
            <a:pPr algn="ctr">
              <a:lnSpc>
                <a:spcPct val="118000"/>
              </a:lnSpc>
              <a:spcBef>
                <a:spcPts val="0"/>
              </a:spcBef>
              <a:spcAft>
                <a:spcPts val="0"/>
              </a:spcAft>
              <a:defRPr sz="1900" b="1">
                <a:solidFill>
                  <a:srgbClr val="FFFFFF"/>
                </a:solidFill>
                <a:latin typeface="Noto Sans CJK KR"/>
              </a:defRPr>
            </a:pPr>
            <a:r>
              <a:rPr>
                <a:ea typeface="Noto Sans CJK KR"/>
              </a:rPr>
              <a:t>왼쪽</a:t>
            </a:r>
          </a:p>
        </p:txBody>
      </p:sp>
      <p:sp>
        <p:nvSpPr>
          <p:cNvPr id="26" name="TextBox 25"/>
          <p:cNvSpPr txBox="1"/>
          <p:nvPr/>
        </p:nvSpPr>
        <p:spPr>
          <a:xfrm>
            <a:off x="1333500" y="3213100"/>
            <a:ext cx="1905000" cy="2794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F1E5DB"/>
                </a:solidFill>
                <a:latin typeface="Noto Sans CJK KR"/>
              </a:defRPr>
            </a:pPr>
            <a:r>
              <a:rPr>
                <a:ea typeface="Noto Sans CJK KR"/>
              </a:rPr>
              <a:t>가상 0.5m</a:t>
            </a:r>
          </a:p>
        </p:txBody>
      </p:sp>
      <p:cxnSp>
        <p:nvCxnSpPr>
          <p:cNvPr id="27" name="Connector 26"/>
          <p:cNvCxnSpPr/>
          <p:nvPr/>
        </p:nvCxnSpPr>
        <p:spPr>
          <a:xfrm>
            <a:off x="6096000" y="3441700"/>
            <a:ext cx="0" cy="2540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143500" y="2832100"/>
            <a:ext cx="1905000" cy="368300"/>
          </a:xfrm>
          <a:prstGeom prst="rect">
            <a:avLst/>
          </a:prstGeom>
          <a:noFill/>
        </p:spPr>
        <p:txBody>
          <a:bodyPr wrap="square" lIns="0" rIns="0" tIns="0" bIns="0">
            <a:spAutoFit/>
          </a:bodyPr>
          <a:lstStyle/>
          <a:p>
            <a:pPr algn="ctr">
              <a:lnSpc>
                <a:spcPct val="118000"/>
              </a:lnSpc>
              <a:spcBef>
                <a:spcPts val="0"/>
              </a:spcBef>
              <a:spcAft>
                <a:spcPts val="0"/>
              </a:spcAft>
              <a:defRPr sz="1900" b="1">
                <a:solidFill>
                  <a:srgbClr val="FFFFFF"/>
                </a:solidFill>
                <a:latin typeface="Noto Sans CJK KR"/>
              </a:defRPr>
            </a:pPr>
            <a:r>
              <a:rPr>
                <a:ea typeface="Noto Sans CJK KR"/>
              </a:rPr>
              <a:t>정면</a:t>
            </a:r>
          </a:p>
        </p:txBody>
      </p:sp>
      <p:sp>
        <p:nvSpPr>
          <p:cNvPr id="29" name="TextBox 28"/>
          <p:cNvSpPr txBox="1"/>
          <p:nvPr/>
        </p:nvSpPr>
        <p:spPr>
          <a:xfrm>
            <a:off x="5143500" y="3213100"/>
            <a:ext cx="1905000" cy="2794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F1E5DB"/>
                </a:solidFill>
                <a:latin typeface="Noto Sans CJK KR"/>
              </a:defRPr>
            </a:pPr>
            <a:r>
              <a:rPr>
                <a:ea typeface="Noto Sans CJK KR"/>
              </a:rPr>
              <a:t>가상 1.5m</a:t>
            </a:r>
          </a:p>
        </p:txBody>
      </p:sp>
      <p:cxnSp>
        <p:nvCxnSpPr>
          <p:cNvPr id="30" name="Connector 29"/>
          <p:cNvCxnSpPr/>
          <p:nvPr/>
        </p:nvCxnSpPr>
        <p:spPr>
          <a:xfrm>
            <a:off x="9276080" y="3441700"/>
            <a:ext cx="0" cy="25400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23580" y="2832100"/>
            <a:ext cx="1905000" cy="368300"/>
          </a:xfrm>
          <a:prstGeom prst="rect">
            <a:avLst/>
          </a:prstGeom>
          <a:noFill/>
        </p:spPr>
        <p:txBody>
          <a:bodyPr wrap="square" lIns="0" rIns="0" tIns="0" bIns="0">
            <a:spAutoFit/>
          </a:bodyPr>
          <a:lstStyle/>
          <a:p>
            <a:pPr algn="ctr">
              <a:lnSpc>
                <a:spcPct val="118000"/>
              </a:lnSpc>
              <a:spcBef>
                <a:spcPts val="0"/>
              </a:spcBef>
              <a:spcAft>
                <a:spcPts val="0"/>
              </a:spcAft>
              <a:defRPr sz="1900" b="1">
                <a:solidFill>
                  <a:srgbClr val="FFFFFF"/>
                </a:solidFill>
                <a:latin typeface="Noto Sans CJK KR"/>
              </a:defRPr>
            </a:pPr>
            <a:r>
              <a:rPr>
                <a:ea typeface="Noto Sans CJK KR"/>
              </a:rPr>
              <a:t>오른쪽</a:t>
            </a:r>
          </a:p>
        </p:txBody>
      </p:sp>
      <p:sp>
        <p:nvSpPr>
          <p:cNvPr id="32" name="TextBox 31"/>
          <p:cNvSpPr txBox="1"/>
          <p:nvPr/>
        </p:nvSpPr>
        <p:spPr>
          <a:xfrm>
            <a:off x="8323580" y="3213100"/>
            <a:ext cx="1905000" cy="2794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F1E5DB"/>
                </a:solidFill>
                <a:latin typeface="Noto Sans CJK KR"/>
              </a:defRPr>
            </a:pPr>
            <a:r>
              <a:rPr>
                <a:ea typeface="Noto Sans CJK KR"/>
              </a:rPr>
              <a:t>가상 3m</a:t>
            </a:r>
          </a:p>
        </p:txBody>
      </p:sp>
      <p:sp>
        <p:nvSpPr>
          <p:cNvPr id="33" name="TextBox 32"/>
          <p:cNvSpPr txBox="1"/>
          <p:nvPr/>
        </p:nvSpPr>
        <p:spPr>
          <a:xfrm>
            <a:off x="711200" y="4318000"/>
            <a:ext cx="2159000" cy="317500"/>
          </a:xfrm>
          <a:prstGeom prst="rect">
            <a:avLst/>
          </a:prstGeom>
          <a:noFill/>
        </p:spPr>
        <p:txBody>
          <a:bodyPr wrap="square" lIns="0" rIns="0" tIns="0" bIns="0">
            <a:spAutoFit/>
          </a:bodyPr>
          <a:lstStyle/>
          <a:p>
            <a:pPr algn="ctr">
              <a:lnSpc>
                <a:spcPct val="118000"/>
              </a:lnSpc>
              <a:spcBef>
                <a:spcPts val="0"/>
              </a:spcBef>
              <a:spcAft>
                <a:spcPts val="0"/>
              </a:spcAft>
              <a:defRPr sz="1400" b="1">
                <a:solidFill>
                  <a:srgbClr val="FFFFFF"/>
                </a:solidFill>
                <a:latin typeface="Noto Sans CJK KR"/>
              </a:defRPr>
            </a:pPr>
            <a:r>
              <a:rPr>
                <a:ea typeface="Noto Sans CJK KR"/>
              </a:rPr>
              <a:t>90° · 왼쪽 끝</a:t>
            </a:r>
          </a:p>
        </p:txBody>
      </p:sp>
      <p:sp>
        <p:nvSpPr>
          <p:cNvPr id="34" name="TextBox 33"/>
          <p:cNvSpPr txBox="1"/>
          <p:nvPr/>
        </p:nvSpPr>
        <p:spPr>
          <a:xfrm>
            <a:off x="711200" y="4699000"/>
            <a:ext cx="2159000" cy="2794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F1E5DB"/>
                </a:solidFill>
                <a:latin typeface="Noto Sans CJK KR"/>
              </a:defRPr>
            </a:pPr>
            <a:r>
              <a:rPr>
                <a:ea typeface="Noto Sans CJK KR"/>
              </a:rPr>
              <a:t>0초</a:t>
            </a:r>
          </a:p>
        </p:txBody>
      </p:sp>
      <p:sp>
        <p:nvSpPr>
          <p:cNvPr id="35" name="TextBox 34"/>
          <p:cNvSpPr txBox="1"/>
          <p:nvPr/>
        </p:nvSpPr>
        <p:spPr>
          <a:xfrm>
            <a:off x="5016500" y="4318000"/>
            <a:ext cx="2159000" cy="317500"/>
          </a:xfrm>
          <a:prstGeom prst="rect">
            <a:avLst/>
          </a:prstGeom>
          <a:noFill/>
        </p:spPr>
        <p:txBody>
          <a:bodyPr wrap="square" lIns="0" rIns="0" tIns="0" bIns="0">
            <a:spAutoFit/>
          </a:bodyPr>
          <a:lstStyle/>
          <a:p>
            <a:pPr algn="ctr">
              <a:lnSpc>
                <a:spcPct val="118000"/>
              </a:lnSpc>
              <a:spcBef>
                <a:spcPts val="0"/>
              </a:spcBef>
              <a:spcAft>
                <a:spcPts val="0"/>
              </a:spcAft>
              <a:defRPr sz="1400" b="1">
                <a:solidFill>
                  <a:srgbClr val="FFFFFF"/>
                </a:solidFill>
                <a:latin typeface="Noto Sans CJK KR"/>
              </a:defRPr>
            </a:pPr>
            <a:r>
              <a:rPr>
                <a:ea typeface="Noto Sans CJK KR"/>
              </a:rPr>
              <a:t>45° · 정면</a:t>
            </a:r>
          </a:p>
        </p:txBody>
      </p:sp>
      <p:sp>
        <p:nvSpPr>
          <p:cNvPr id="36" name="TextBox 35"/>
          <p:cNvSpPr txBox="1"/>
          <p:nvPr/>
        </p:nvSpPr>
        <p:spPr>
          <a:xfrm>
            <a:off x="5016500" y="4699000"/>
            <a:ext cx="2159000" cy="2794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F1E5DB"/>
                </a:solidFill>
                <a:latin typeface="Noto Sans CJK KR"/>
              </a:defRPr>
            </a:pPr>
            <a:r>
              <a:rPr>
                <a:ea typeface="Noto Sans CJK KR"/>
              </a:rPr>
              <a:t>0.5초</a:t>
            </a:r>
          </a:p>
        </p:txBody>
      </p:sp>
      <p:sp>
        <p:nvSpPr>
          <p:cNvPr id="37" name="TextBox 36"/>
          <p:cNvSpPr txBox="1"/>
          <p:nvPr/>
        </p:nvSpPr>
        <p:spPr>
          <a:xfrm>
            <a:off x="9321800" y="4318000"/>
            <a:ext cx="2159000" cy="317500"/>
          </a:xfrm>
          <a:prstGeom prst="rect">
            <a:avLst/>
          </a:prstGeom>
          <a:noFill/>
        </p:spPr>
        <p:txBody>
          <a:bodyPr wrap="square" lIns="0" rIns="0" tIns="0" bIns="0">
            <a:spAutoFit/>
          </a:bodyPr>
          <a:lstStyle/>
          <a:p>
            <a:pPr algn="ctr">
              <a:lnSpc>
                <a:spcPct val="118000"/>
              </a:lnSpc>
              <a:spcBef>
                <a:spcPts val="0"/>
              </a:spcBef>
              <a:spcAft>
                <a:spcPts val="0"/>
              </a:spcAft>
              <a:defRPr sz="1400" b="1">
                <a:solidFill>
                  <a:srgbClr val="FFFFFF"/>
                </a:solidFill>
                <a:latin typeface="Noto Sans CJK KR"/>
              </a:defRPr>
            </a:pPr>
            <a:r>
              <a:rPr>
                <a:ea typeface="Noto Sans CJK KR"/>
              </a:rPr>
              <a:t>0° · 오른쪽 끝</a:t>
            </a:r>
          </a:p>
        </p:txBody>
      </p:sp>
      <p:sp>
        <p:nvSpPr>
          <p:cNvPr id="38" name="TextBox 37"/>
          <p:cNvSpPr txBox="1"/>
          <p:nvPr/>
        </p:nvSpPr>
        <p:spPr>
          <a:xfrm>
            <a:off x="9321800" y="4699000"/>
            <a:ext cx="2159000" cy="279400"/>
          </a:xfrm>
          <a:prstGeom prst="rect">
            <a:avLst/>
          </a:prstGeom>
          <a:noFill/>
        </p:spPr>
        <p:txBody>
          <a:bodyPr wrap="square" lIns="0" rIns="0" tIns="0" bIns="0">
            <a:spAutoFit/>
          </a:bodyPr>
          <a:lstStyle/>
          <a:p>
            <a:pPr algn="ctr">
              <a:lnSpc>
                <a:spcPct val="118000"/>
              </a:lnSpc>
              <a:spcBef>
                <a:spcPts val="0"/>
              </a:spcBef>
              <a:spcAft>
                <a:spcPts val="0"/>
              </a:spcAft>
              <a:defRPr sz="1200" b="0">
                <a:solidFill>
                  <a:srgbClr val="F1E5DB"/>
                </a:solidFill>
                <a:latin typeface="Noto Sans CJK KR"/>
              </a:defRPr>
            </a:pPr>
            <a:r>
              <a:rPr>
                <a:ea typeface="Noto Sans CJK KR"/>
              </a:rPr>
              <a:t>1초</a:t>
            </a:r>
          </a:p>
        </p:txBody>
      </p:sp>
      <p:sp>
        <p:nvSpPr>
          <p:cNvPr id="39" name="TextBox 38"/>
          <p:cNvSpPr txBox="1"/>
          <p:nvPr/>
        </p:nvSpPr>
        <p:spPr>
          <a:xfrm>
            <a:off x="736600" y="5308600"/>
            <a:ext cx="10706100" cy="393700"/>
          </a:xfrm>
          <a:prstGeom prst="rect">
            <a:avLst/>
          </a:prstGeom>
          <a:noFill/>
        </p:spPr>
        <p:txBody>
          <a:bodyPr wrap="square" lIns="0" rIns="0" tIns="0" bIns="0">
            <a:spAutoFit/>
          </a:bodyPr>
          <a:lstStyle/>
          <a:p>
            <a:pPr>
              <a:lnSpc>
                <a:spcPct val="118000"/>
              </a:lnSpc>
              <a:spcBef>
                <a:spcPts val="0"/>
              </a:spcBef>
              <a:spcAft>
                <a:spcPts val="0"/>
              </a:spcAft>
              <a:defRPr sz="2100" b="1">
                <a:solidFill>
                  <a:srgbClr val="FFFFFF"/>
                </a:solidFill>
                <a:latin typeface="Noto Sans CJK KR"/>
              </a:defRPr>
            </a:pPr>
            <a:r>
              <a:rPr>
                <a:ea typeface="Noto Sans CJK KR"/>
              </a:rPr>
              <a:t>전방 90° → 16개 가로 구간 → 구간당 약 62.5ms</a:t>
            </a:r>
          </a:p>
        </p:txBody>
      </p:sp>
      <p:sp>
        <p:nvSpPr>
          <p:cNvPr id="40" name="TextBox 39"/>
          <p:cNvSpPr txBox="1"/>
          <p:nvPr/>
        </p:nvSpPr>
        <p:spPr>
          <a:xfrm>
            <a:off x="736600" y="5892800"/>
            <a:ext cx="10706100" cy="330200"/>
          </a:xfrm>
          <a:prstGeom prst="rect">
            <a:avLst/>
          </a:prstGeom>
          <a:noFill/>
        </p:spPr>
        <p:txBody>
          <a:bodyPr wrap="square" lIns="0" rIns="0" tIns="0" bIns="0">
            <a:spAutoFit/>
          </a:bodyPr>
          <a:lstStyle/>
          <a:p>
            <a:pPr>
              <a:lnSpc>
                <a:spcPct val="118000"/>
              </a:lnSpc>
              <a:spcBef>
                <a:spcPts val="0"/>
              </a:spcBef>
              <a:spcAft>
                <a:spcPts val="0"/>
              </a:spcAft>
              <a:defRPr sz="1200" b="0">
                <a:solidFill>
                  <a:srgbClr val="F1E5DB"/>
                </a:solidFill>
                <a:latin typeface="Noto Sans CJK KR"/>
              </a:defRPr>
            </a:pPr>
            <a:r>
              <a:rPr>
                <a:ea typeface="Noto Sans CJK KR"/>
              </a:rPr>
              <a:t>선택되지 않은 구간은 무음으로 유지 · 그림의 세 점은 설명용 가상 예시</a:t>
            </a:r>
          </a:p>
        </p:txBody>
      </p:sp>
      <p:sp>
        <p:nvSpPr>
          <p:cNvPr id="41" name="TextBox 40">
            <a:hlinkClick r:id="rId2"/>
          </p:cNvPr>
          <p:cNvSpPr txBox="1"/>
          <p:nvPr/>
        </p:nvSpPr>
        <p:spPr>
          <a:xfrm>
            <a:off x="8585200" y="5956300"/>
            <a:ext cx="2857500" cy="254000"/>
          </a:xfrm>
          <a:prstGeom prst="rect">
            <a:avLst/>
          </a:prstGeom>
          <a:noFill/>
        </p:spPr>
        <p:txBody>
          <a:bodyPr wrap="square" lIns="0" rIns="0" tIns="0" bIns="0">
            <a:spAutoFit/>
          </a:bodyPr>
          <a:lstStyle/>
          <a:p>
            <a:pPr algn="r">
              <a:lnSpc>
                <a:spcPct val="118000"/>
              </a:lnSpc>
              <a:spcBef>
                <a:spcPts val="0"/>
              </a:spcBef>
              <a:spcAft>
                <a:spcPts val="0"/>
              </a:spcAft>
              <a:defRPr sz="1000" b="0">
                <a:solidFill>
                  <a:srgbClr val="FFFFFF"/>
                </a:solidFill>
                <a:latin typeface="Noto Sans CJK KR"/>
              </a:defRPr>
            </a:pPr>
            <a:r>
              <a:rPr>
                <a:ea typeface="Noto Sans CJK KR"/>
              </a:rPr>
              <a:t>가상 3점 음향 예시 듣기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어느 방향을 들려줄 것인가</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기본은 최대 3방향,</a:t>
            </a:r>
          </a:p>
          <a:p>
            <a:pPr>
              <a:lnSpc>
                <a:spcPct val="118000"/>
              </a:lnSpc>
              <a:spcBef>
                <a:spcPts val="0"/>
              </a:spcBef>
              <a:spcAft>
                <a:spcPts val="0"/>
              </a:spcAft>
              <a:defRPr sz="3100" b="1">
                <a:solidFill>
                  <a:srgbClr val="151D21"/>
                </a:solidFill>
                <a:latin typeface="Noto Sans CJK KR"/>
              </a:defRPr>
            </a:pPr>
            <a:r>
              <a:rPr>
                <a:ea typeface="Noto Sans CJK KR"/>
              </a:rPr>
              <a:t>한쪽 정보에만 몰리지 않게 고른다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10</a:t>
            </a:r>
          </a:p>
        </p:txBody>
      </p:sp>
      <p:sp>
        <p:nvSpPr>
          <p:cNvPr id="7" name="Rounded Rectangle 6"/>
          <p:cNvSpPr/>
          <p:nvPr/>
        </p:nvSpPr>
        <p:spPr>
          <a:xfrm>
            <a:off x="711200" y="2768600"/>
            <a:ext cx="2616200" cy="2095499"/>
          </a:xfrm>
          <a:prstGeom prst="roundRect">
            <a:avLst>
              <a:gd name="adj" fmla="val 4848"/>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9799" y="2959100"/>
            <a:ext cx="2171700" cy="342900"/>
          </a:xfrm>
          <a:prstGeom prst="rect">
            <a:avLst/>
          </a:prstGeom>
          <a:noFill/>
        </p:spPr>
        <p:txBody>
          <a:bodyPr wrap="square" lIns="0" rIns="0" tIns="0" bIns="0">
            <a:spAutoFit/>
          </a:bodyPr>
          <a:lstStyle/>
          <a:p>
            <a:pPr>
              <a:lnSpc>
                <a:spcPct val="118000"/>
              </a:lnSpc>
              <a:spcBef>
                <a:spcPts val="0"/>
              </a:spcBef>
              <a:spcAft>
                <a:spcPts val="0"/>
              </a:spcAft>
              <a:defRPr sz="1800" b="1">
                <a:solidFill>
                  <a:srgbClr val="151D21"/>
                </a:solidFill>
                <a:latin typeface="Noto Sans CJK KR"/>
              </a:defRPr>
            </a:pPr>
            <a:r>
              <a:rPr>
                <a:ea typeface="Noto Sans CJK KR"/>
              </a:rPr>
              <a:t>왼쪽 영역</a:t>
            </a:r>
          </a:p>
        </p:txBody>
      </p:sp>
      <p:sp>
        <p:nvSpPr>
          <p:cNvPr id="9" name="Oval 8"/>
          <p:cNvSpPr/>
          <p:nvPr/>
        </p:nvSpPr>
        <p:spPr>
          <a:xfrm>
            <a:off x="1028700" y="3644900"/>
            <a:ext cx="431800" cy="431800"/>
          </a:xfrm>
          <a:prstGeom prst="ellipse">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2500" y="4254500"/>
            <a:ext cx="609600" cy="2667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287F89"/>
                </a:solidFill>
                <a:latin typeface="Noto Sans CJK KR"/>
              </a:defRPr>
            </a:pPr>
            <a:r>
              <a:rPr>
                <a:ea typeface="Noto Sans CJK KR"/>
              </a:rPr>
              <a:t>0.4m</a:t>
            </a:r>
          </a:p>
        </p:txBody>
      </p:sp>
      <p:sp>
        <p:nvSpPr>
          <p:cNvPr id="11" name="Oval 10"/>
          <p:cNvSpPr/>
          <p:nvPr/>
        </p:nvSpPr>
        <p:spPr>
          <a:xfrm>
            <a:off x="1701800" y="3644900"/>
            <a:ext cx="431800" cy="4318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25600" y="4254500"/>
            <a:ext cx="609600" cy="2667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0.6m</a:t>
            </a:r>
          </a:p>
        </p:txBody>
      </p:sp>
      <p:sp>
        <p:nvSpPr>
          <p:cNvPr id="13" name="Oval 12"/>
          <p:cNvSpPr/>
          <p:nvPr/>
        </p:nvSpPr>
        <p:spPr>
          <a:xfrm>
            <a:off x="2374900" y="3644900"/>
            <a:ext cx="431800" cy="431800"/>
          </a:xfrm>
          <a:prstGeom prst="ellipse">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98700" y="4254500"/>
            <a:ext cx="609600" cy="2667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0.8m</a:t>
            </a:r>
          </a:p>
        </p:txBody>
      </p:sp>
      <p:sp>
        <p:nvSpPr>
          <p:cNvPr id="15" name="Rounded Rectangle 14"/>
          <p:cNvSpPr/>
          <p:nvPr/>
        </p:nvSpPr>
        <p:spPr>
          <a:xfrm>
            <a:off x="3581400" y="2768600"/>
            <a:ext cx="2616200" cy="2095499"/>
          </a:xfrm>
          <a:prstGeom prst="roundRect">
            <a:avLst>
              <a:gd name="adj" fmla="val 4848"/>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10000" y="2959100"/>
            <a:ext cx="2171700" cy="342900"/>
          </a:xfrm>
          <a:prstGeom prst="rect">
            <a:avLst/>
          </a:prstGeom>
          <a:noFill/>
        </p:spPr>
        <p:txBody>
          <a:bodyPr wrap="square" lIns="0" rIns="0" tIns="0" bIns="0">
            <a:spAutoFit/>
          </a:bodyPr>
          <a:lstStyle/>
          <a:p>
            <a:pPr>
              <a:lnSpc>
                <a:spcPct val="118000"/>
              </a:lnSpc>
              <a:spcBef>
                <a:spcPts val="0"/>
              </a:spcBef>
              <a:spcAft>
                <a:spcPts val="0"/>
              </a:spcAft>
              <a:defRPr sz="1800" b="1">
                <a:solidFill>
                  <a:srgbClr val="151D21"/>
                </a:solidFill>
                <a:latin typeface="Noto Sans CJK KR"/>
              </a:defRPr>
            </a:pPr>
            <a:r>
              <a:rPr>
                <a:ea typeface="Noto Sans CJK KR"/>
              </a:rPr>
              <a:t>정면 영역</a:t>
            </a:r>
          </a:p>
        </p:txBody>
      </p:sp>
      <p:sp>
        <p:nvSpPr>
          <p:cNvPr id="17" name="Oval 16"/>
          <p:cNvSpPr/>
          <p:nvPr/>
        </p:nvSpPr>
        <p:spPr>
          <a:xfrm>
            <a:off x="3898900" y="3644900"/>
            <a:ext cx="431800" cy="431800"/>
          </a:xfrm>
          <a:prstGeom prst="ellipse">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22700" y="4254500"/>
            <a:ext cx="609600" cy="2667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287F89"/>
                </a:solidFill>
                <a:latin typeface="Noto Sans CJK KR"/>
              </a:defRPr>
            </a:pPr>
            <a:r>
              <a:rPr>
                <a:ea typeface="Noto Sans CJK KR"/>
              </a:rPr>
              <a:t>1.2m</a:t>
            </a:r>
          </a:p>
        </p:txBody>
      </p:sp>
      <p:sp>
        <p:nvSpPr>
          <p:cNvPr id="19" name="Rounded Rectangle 18"/>
          <p:cNvSpPr/>
          <p:nvPr/>
        </p:nvSpPr>
        <p:spPr>
          <a:xfrm>
            <a:off x="6451600" y="2768600"/>
            <a:ext cx="2616200" cy="2095499"/>
          </a:xfrm>
          <a:prstGeom prst="roundRect">
            <a:avLst>
              <a:gd name="adj" fmla="val 4848"/>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80200" y="2959100"/>
            <a:ext cx="2171700" cy="342900"/>
          </a:xfrm>
          <a:prstGeom prst="rect">
            <a:avLst/>
          </a:prstGeom>
          <a:noFill/>
        </p:spPr>
        <p:txBody>
          <a:bodyPr wrap="square" lIns="0" rIns="0" tIns="0" bIns="0">
            <a:spAutoFit/>
          </a:bodyPr>
          <a:lstStyle/>
          <a:p>
            <a:pPr>
              <a:lnSpc>
                <a:spcPct val="118000"/>
              </a:lnSpc>
              <a:spcBef>
                <a:spcPts val="0"/>
              </a:spcBef>
              <a:spcAft>
                <a:spcPts val="0"/>
              </a:spcAft>
              <a:defRPr sz="1800" b="1">
                <a:solidFill>
                  <a:srgbClr val="151D21"/>
                </a:solidFill>
                <a:latin typeface="Noto Sans CJK KR"/>
              </a:defRPr>
            </a:pPr>
            <a:r>
              <a:rPr>
                <a:ea typeface="Noto Sans CJK KR"/>
              </a:rPr>
              <a:t>오른쪽 영역</a:t>
            </a:r>
          </a:p>
        </p:txBody>
      </p:sp>
      <p:sp>
        <p:nvSpPr>
          <p:cNvPr id="21" name="Oval 20"/>
          <p:cNvSpPr/>
          <p:nvPr/>
        </p:nvSpPr>
        <p:spPr>
          <a:xfrm>
            <a:off x="6769100" y="3644900"/>
            <a:ext cx="431800" cy="431800"/>
          </a:xfrm>
          <a:prstGeom prst="ellipse">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92900" y="4254500"/>
            <a:ext cx="609600" cy="2667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287F89"/>
                </a:solidFill>
                <a:latin typeface="Noto Sans CJK KR"/>
              </a:defRPr>
            </a:pPr>
            <a:r>
              <a:rPr>
                <a:ea typeface="Noto Sans CJK KR"/>
              </a:rPr>
              <a:t>2.3m</a:t>
            </a:r>
          </a:p>
        </p:txBody>
      </p:sp>
      <p:sp>
        <p:nvSpPr>
          <p:cNvPr id="23" name="Rounded Rectangle 22"/>
          <p:cNvSpPr/>
          <p:nvPr/>
        </p:nvSpPr>
        <p:spPr>
          <a:xfrm>
            <a:off x="9372600" y="2768600"/>
            <a:ext cx="2108200" cy="2095499"/>
          </a:xfrm>
          <a:prstGeom prst="roundRect">
            <a:avLst>
              <a:gd name="adj" fmla="val 4848"/>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6600" y="3009900"/>
            <a:ext cx="1625600" cy="317500"/>
          </a:xfrm>
          <a:prstGeom prst="rect">
            <a:avLst/>
          </a:prstGeom>
          <a:noFill/>
        </p:spPr>
        <p:txBody>
          <a:bodyPr wrap="square" lIns="0" rIns="0" tIns="0" bIns="0">
            <a:spAutoFit/>
          </a:bodyPr>
          <a:lstStyle/>
          <a:p>
            <a:pPr>
              <a:lnSpc>
                <a:spcPct val="118000"/>
              </a:lnSpc>
              <a:spcBef>
                <a:spcPts val="0"/>
              </a:spcBef>
              <a:spcAft>
                <a:spcPts val="0"/>
              </a:spcAft>
              <a:defRPr sz="1300" b="0">
                <a:solidFill>
                  <a:srgbClr val="ACBBB9"/>
                </a:solidFill>
                <a:latin typeface="Noto Sans CJK KR"/>
              </a:defRPr>
            </a:pPr>
            <a:r>
              <a:rPr>
                <a:ea typeface="Noto Sans CJK KR"/>
              </a:rPr>
              <a:t>기본 설정</a:t>
            </a:r>
          </a:p>
        </p:txBody>
      </p:sp>
      <p:sp>
        <p:nvSpPr>
          <p:cNvPr id="25" name="TextBox 24"/>
          <p:cNvSpPr txBox="1"/>
          <p:nvPr/>
        </p:nvSpPr>
        <p:spPr>
          <a:xfrm>
            <a:off x="9601200" y="3492500"/>
            <a:ext cx="1625600" cy="673100"/>
          </a:xfrm>
          <a:prstGeom prst="rect">
            <a:avLst/>
          </a:prstGeom>
          <a:noFill/>
        </p:spPr>
        <p:txBody>
          <a:bodyPr wrap="square" lIns="0" rIns="0" tIns="0" bIns="0">
            <a:spAutoFit/>
          </a:bodyPr>
          <a:lstStyle/>
          <a:p>
            <a:pPr>
              <a:lnSpc>
                <a:spcPct val="118000"/>
              </a:lnSpc>
              <a:spcBef>
                <a:spcPts val="0"/>
              </a:spcBef>
              <a:spcAft>
                <a:spcPts val="0"/>
              </a:spcAft>
              <a:defRPr sz="3100" b="1">
                <a:solidFill>
                  <a:srgbClr val="FFFFFF"/>
                </a:solidFill>
                <a:latin typeface="Noto Sans CJK KR"/>
              </a:defRPr>
            </a:pPr>
            <a:r>
              <a:rPr>
                <a:ea typeface="Noto Sans CJK KR"/>
              </a:rPr>
              <a:t>최대 3</a:t>
            </a:r>
          </a:p>
        </p:txBody>
      </p:sp>
      <p:sp>
        <p:nvSpPr>
          <p:cNvPr id="26" name="TextBox 25"/>
          <p:cNvSpPr txBox="1"/>
          <p:nvPr/>
        </p:nvSpPr>
        <p:spPr>
          <a:xfrm>
            <a:off x="9626600" y="4279900"/>
            <a:ext cx="1625600" cy="330200"/>
          </a:xfrm>
          <a:prstGeom prst="rect">
            <a:avLst/>
          </a:prstGeom>
          <a:noFill/>
        </p:spPr>
        <p:txBody>
          <a:bodyPr wrap="square" lIns="0" rIns="0" tIns="0" bIns="0">
            <a:spAutoFit/>
          </a:bodyPr>
          <a:lstStyle/>
          <a:p>
            <a:pPr>
              <a:lnSpc>
                <a:spcPct val="118000"/>
              </a:lnSpc>
              <a:spcBef>
                <a:spcPts val="0"/>
              </a:spcBef>
              <a:spcAft>
                <a:spcPts val="0"/>
              </a:spcAft>
              <a:defRPr sz="1200" b="0">
                <a:solidFill>
                  <a:srgbClr val="ACBBB9"/>
                </a:solidFill>
                <a:latin typeface="Noto Sans CJK KR"/>
              </a:defRPr>
            </a:pPr>
            <a:r>
              <a:rPr>
                <a:ea typeface="Noto Sans CJK KR"/>
              </a:rPr>
              <a:t>소리 방향 / 주기</a:t>
            </a:r>
          </a:p>
        </p:txBody>
      </p:sp>
      <p:sp>
        <p:nvSpPr>
          <p:cNvPr id="27" name="TextBox 26"/>
          <p:cNvSpPr txBox="1"/>
          <p:nvPr/>
        </p:nvSpPr>
        <p:spPr>
          <a:xfrm>
            <a:off x="736600" y="5118100"/>
            <a:ext cx="4318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C45831"/>
                </a:solidFill>
                <a:latin typeface="Noto Sans CJK KR"/>
              </a:defRPr>
            </a:pPr>
            <a:r>
              <a:rPr>
                <a:ea typeface="Noto Sans CJK KR"/>
              </a:rPr>
              <a:t>01</a:t>
            </a:r>
          </a:p>
        </p:txBody>
      </p:sp>
      <p:sp>
        <p:nvSpPr>
          <p:cNvPr id="28" name="TextBox 27"/>
          <p:cNvSpPr txBox="1"/>
          <p:nvPr/>
        </p:nvSpPr>
        <p:spPr>
          <a:xfrm>
            <a:off x="1270000" y="5118100"/>
            <a:ext cx="10134600" cy="342900"/>
          </a:xfrm>
          <a:prstGeom prst="rect">
            <a:avLst/>
          </a:prstGeom>
          <a:noFill/>
        </p:spPr>
        <p:txBody>
          <a:bodyPr wrap="square" lIns="0" rIns="0" tIns="0" bIns="0">
            <a:spAutoFit/>
          </a:bodyPr>
          <a:lstStyle/>
          <a:p>
            <a:pPr>
              <a:lnSpc>
                <a:spcPct val="118000"/>
              </a:lnSpc>
              <a:spcBef>
                <a:spcPts val="0"/>
              </a:spcBef>
              <a:spcAft>
                <a:spcPts val="0"/>
              </a:spcAft>
              <a:defRPr sz="1400" b="0">
                <a:solidFill>
                  <a:srgbClr val="151D21"/>
                </a:solidFill>
                <a:latin typeface="Noto Sans CJK KR"/>
              </a:defRPr>
            </a:pPr>
            <a:r>
              <a:rPr>
                <a:ea typeface="Noto Sans CJK KR"/>
              </a:rPr>
              <a:t>각 가로 구간에서 가까운 유효 측정점 한 개를 후보로 선택</a:t>
            </a:r>
          </a:p>
        </p:txBody>
      </p:sp>
      <p:sp>
        <p:nvSpPr>
          <p:cNvPr id="29" name="TextBox 28"/>
          <p:cNvSpPr txBox="1"/>
          <p:nvPr/>
        </p:nvSpPr>
        <p:spPr>
          <a:xfrm>
            <a:off x="736600" y="5537200"/>
            <a:ext cx="431800" cy="292100"/>
          </a:xfrm>
          <a:prstGeom prst="rect">
            <a:avLst/>
          </a:prstGeom>
          <a:noFill/>
        </p:spPr>
        <p:txBody>
          <a:bodyPr wrap="square" lIns="0" rIns="0" tIns="0" bIns="0">
            <a:spAutoFit/>
          </a:bodyPr>
          <a:lstStyle/>
          <a:p>
            <a:pPr>
              <a:lnSpc>
                <a:spcPct val="118000"/>
              </a:lnSpc>
              <a:spcBef>
                <a:spcPts val="0"/>
              </a:spcBef>
              <a:spcAft>
                <a:spcPts val="0"/>
              </a:spcAft>
              <a:defRPr sz="1200" b="1">
                <a:solidFill>
                  <a:srgbClr val="C45831"/>
                </a:solidFill>
                <a:latin typeface="Noto Sans CJK KR"/>
              </a:defRPr>
            </a:pPr>
            <a:r>
              <a:rPr>
                <a:ea typeface="Noto Sans CJK KR"/>
              </a:rPr>
              <a:t>02</a:t>
            </a:r>
          </a:p>
        </p:txBody>
      </p:sp>
      <p:sp>
        <p:nvSpPr>
          <p:cNvPr id="30" name="TextBox 29"/>
          <p:cNvSpPr txBox="1"/>
          <p:nvPr/>
        </p:nvSpPr>
        <p:spPr>
          <a:xfrm>
            <a:off x="1270000" y="5537200"/>
            <a:ext cx="10134600" cy="342900"/>
          </a:xfrm>
          <a:prstGeom prst="rect">
            <a:avLst/>
          </a:prstGeom>
          <a:noFill/>
        </p:spPr>
        <p:txBody>
          <a:bodyPr wrap="square" lIns="0" rIns="0" tIns="0" bIns="0">
            <a:spAutoFit/>
          </a:bodyPr>
          <a:lstStyle/>
          <a:p>
            <a:pPr>
              <a:lnSpc>
                <a:spcPct val="118000"/>
              </a:lnSpc>
              <a:spcBef>
                <a:spcPts val="0"/>
              </a:spcBef>
              <a:spcAft>
                <a:spcPts val="0"/>
              </a:spcAft>
              <a:defRPr sz="1400" b="0">
                <a:solidFill>
                  <a:srgbClr val="151D21"/>
                </a:solidFill>
                <a:latin typeface="Noto Sans CJK KR"/>
              </a:defRPr>
            </a:pPr>
            <a:r>
              <a:rPr>
                <a:ea typeface="Noto Sans CJK KR"/>
              </a:rPr>
              <a:t>좌·중·우 영역의 가까운 후보를 우선하되, 15° 미만으로 붙은 후보는 제외</a:t>
            </a:r>
          </a:p>
        </p:txBody>
      </p:sp>
      <p:sp>
        <p:nvSpPr>
          <p:cNvPr id="31" name="TextBox 30"/>
          <p:cNvSpPr txBox="1"/>
          <p:nvPr/>
        </p:nvSpPr>
        <p:spPr>
          <a:xfrm>
            <a:off x="736600" y="6019800"/>
            <a:ext cx="10718800" cy="279400"/>
          </a:xfrm>
          <a:prstGeom prst="rect">
            <a:avLst/>
          </a:prstGeom>
          <a:noFill/>
        </p:spPr>
        <p:txBody>
          <a:bodyPr wrap="square" lIns="0" rIns="0" tIns="0" bIns="0">
            <a:spAutoFit/>
          </a:bodyPr>
          <a:lstStyle/>
          <a:p>
            <a:pPr>
              <a:lnSpc>
                <a:spcPct val="118000"/>
              </a:lnSpc>
              <a:spcBef>
                <a:spcPts val="0"/>
              </a:spcBef>
              <a:spcAft>
                <a:spcPts val="0"/>
              </a:spcAft>
              <a:defRPr sz="1200" b="0">
                <a:solidFill>
                  <a:srgbClr val="66716F"/>
                </a:solidFill>
                <a:latin typeface="Noto Sans CJK KR"/>
              </a:defRPr>
            </a:pPr>
            <a:r>
              <a:rPr>
                <a:ea typeface="Noto Sans CJK KR"/>
              </a:rPr>
              <a:t>1·3·5·전체 16구간 비교 가능 · 방향 수 제한이며, 사물 수를 세거나 벽을 묶는 기능은 아니다.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시스템 아키텍처</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거리 음향과 객체 인식은</a:t>
            </a:r>
          </a:p>
          <a:p>
            <a:pPr>
              <a:lnSpc>
                <a:spcPct val="118000"/>
              </a:lnSpc>
              <a:spcBef>
                <a:spcPts val="0"/>
              </a:spcBef>
              <a:spcAft>
                <a:spcPts val="0"/>
              </a:spcAft>
              <a:defRPr sz="3100" b="1">
                <a:solidFill>
                  <a:srgbClr val="151D21"/>
                </a:solidFill>
                <a:latin typeface="Noto Sans CJK KR"/>
              </a:defRPr>
            </a:pPr>
            <a:r>
              <a:rPr>
                <a:ea typeface="Noto Sans CJK KR"/>
              </a:rPr>
              <a:t>아직 별개의 경로다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11</a:t>
            </a:r>
          </a:p>
        </p:txBody>
      </p:sp>
      <p:sp>
        <p:nvSpPr>
          <p:cNvPr id="7" name="TextBox 6"/>
          <p:cNvSpPr txBox="1"/>
          <p:nvPr/>
        </p:nvSpPr>
        <p:spPr>
          <a:xfrm>
            <a:off x="736600" y="2705100"/>
            <a:ext cx="2794000" cy="317500"/>
          </a:xfrm>
          <a:prstGeom prst="rect">
            <a:avLst/>
          </a:prstGeom>
          <a:noFill/>
        </p:spPr>
        <p:txBody>
          <a:bodyPr wrap="square" lIns="0" rIns="0" tIns="0" bIns="0">
            <a:spAutoFit/>
          </a:bodyPr>
          <a:lstStyle/>
          <a:p>
            <a:pPr>
              <a:lnSpc>
                <a:spcPct val="118000"/>
              </a:lnSpc>
              <a:spcBef>
                <a:spcPts val="0"/>
              </a:spcBef>
              <a:spcAft>
                <a:spcPts val="0"/>
              </a:spcAft>
              <a:defRPr sz="1500" b="1">
                <a:solidFill>
                  <a:srgbClr val="287F89"/>
                </a:solidFill>
                <a:latin typeface="Noto Sans CJK KR"/>
              </a:defRPr>
            </a:pPr>
            <a:r>
              <a:rPr>
                <a:ea typeface="Noto Sans CJK KR"/>
              </a:rPr>
              <a:t>거리·방향 경로</a:t>
            </a:r>
          </a:p>
        </p:txBody>
      </p:sp>
      <p:sp>
        <p:nvSpPr>
          <p:cNvPr id="8" name="TextBox 7"/>
          <p:cNvSpPr txBox="1"/>
          <p:nvPr/>
        </p:nvSpPr>
        <p:spPr>
          <a:xfrm>
            <a:off x="736600" y="4419600"/>
            <a:ext cx="2794000" cy="3175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영상·객체 경로</a:t>
            </a:r>
          </a:p>
        </p:txBody>
      </p:sp>
      <p:sp>
        <p:nvSpPr>
          <p:cNvPr id="9" name="Rounded Rectangle 8"/>
          <p:cNvSpPr/>
          <p:nvPr/>
        </p:nvSpPr>
        <p:spPr>
          <a:xfrm>
            <a:off x="711200" y="3200400"/>
            <a:ext cx="1955800" cy="863600"/>
          </a:xfrm>
          <a:prstGeom prst="roundRect">
            <a:avLst>
              <a:gd name="adj" fmla="val 1176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3340100"/>
            <a:ext cx="1701800" cy="3175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151D21"/>
                </a:solidFill>
                <a:latin typeface="Noto Sans CJK KR"/>
              </a:defRPr>
            </a:pPr>
            <a:r>
              <a:rPr>
                <a:ea typeface="Noto Sans CJK KR"/>
              </a:rPr>
              <a:t>ToF A+B</a:t>
            </a:r>
          </a:p>
        </p:txBody>
      </p:sp>
      <p:sp>
        <p:nvSpPr>
          <p:cNvPr id="11" name="TextBox 10"/>
          <p:cNvSpPr txBox="1"/>
          <p:nvPr/>
        </p:nvSpPr>
        <p:spPr>
          <a:xfrm>
            <a:off x="838200" y="3708400"/>
            <a:ext cx="17018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128존 거리</a:t>
            </a:r>
          </a:p>
        </p:txBody>
      </p:sp>
      <p:cxnSp>
        <p:nvCxnSpPr>
          <p:cNvPr id="12" name="Connector 11"/>
          <p:cNvCxnSpPr/>
          <p:nvPr/>
        </p:nvCxnSpPr>
        <p:spPr>
          <a:xfrm>
            <a:off x="2679700" y="3619500"/>
            <a:ext cx="177800" cy="0"/>
          </a:xfrm>
          <a:prstGeom prst="line">
            <a:avLst/>
          </a:prstGeom>
          <a:ln w="1778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08300" y="3200400"/>
            <a:ext cx="1955800" cy="863600"/>
          </a:xfrm>
          <a:prstGeom prst="roundRect">
            <a:avLst>
              <a:gd name="adj" fmla="val 1176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5300" y="3340100"/>
            <a:ext cx="1701800" cy="3175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151D21"/>
                </a:solidFill>
                <a:latin typeface="Noto Sans CJK KR"/>
              </a:defRPr>
            </a:pPr>
            <a:r>
              <a:rPr>
                <a:ea typeface="Noto Sans CJK KR"/>
              </a:rPr>
              <a:t>유효값 확인</a:t>
            </a:r>
          </a:p>
        </p:txBody>
      </p:sp>
      <p:sp>
        <p:nvSpPr>
          <p:cNvPr id="15" name="TextBox 14"/>
          <p:cNvSpPr txBox="1"/>
          <p:nvPr/>
        </p:nvSpPr>
        <p:spPr>
          <a:xfrm>
            <a:off x="3035300" y="3708400"/>
            <a:ext cx="17018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방향 추정</a:t>
            </a:r>
          </a:p>
        </p:txBody>
      </p:sp>
      <p:cxnSp>
        <p:nvCxnSpPr>
          <p:cNvPr id="16" name="Connector 15"/>
          <p:cNvCxnSpPr/>
          <p:nvPr/>
        </p:nvCxnSpPr>
        <p:spPr>
          <a:xfrm>
            <a:off x="4876800" y="3619500"/>
            <a:ext cx="177800" cy="0"/>
          </a:xfrm>
          <a:prstGeom prst="line">
            <a:avLst/>
          </a:prstGeom>
          <a:ln w="1778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05400" y="3200400"/>
            <a:ext cx="1955800" cy="863600"/>
          </a:xfrm>
          <a:prstGeom prst="roundRect">
            <a:avLst>
              <a:gd name="adj" fmla="val 1176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32400" y="3340100"/>
            <a:ext cx="1701800" cy="3175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151D21"/>
                </a:solidFill>
                <a:latin typeface="Noto Sans CJK KR"/>
              </a:defRPr>
            </a:pPr>
            <a:r>
              <a:rPr>
                <a:ea typeface="Noto Sans CJK KR"/>
              </a:rPr>
              <a:t>후보 선택</a:t>
            </a:r>
          </a:p>
        </p:txBody>
      </p:sp>
      <p:sp>
        <p:nvSpPr>
          <p:cNvPr id="19" name="TextBox 18"/>
          <p:cNvSpPr txBox="1"/>
          <p:nvPr/>
        </p:nvSpPr>
        <p:spPr>
          <a:xfrm>
            <a:off x="5232400" y="3708400"/>
            <a:ext cx="17018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최대 3방향</a:t>
            </a:r>
          </a:p>
        </p:txBody>
      </p:sp>
      <p:cxnSp>
        <p:nvCxnSpPr>
          <p:cNvPr id="20" name="Connector 19"/>
          <p:cNvCxnSpPr/>
          <p:nvPr/>
        </p:nvCxnSpPr>
        <p:spPr>
          <a:xfrm>
            <a:off x="7073900" y="3619500"/>
            <a:ext cx="177800" cy="0"/>
          </a:xfrm>
          <a:prstGeom prst="line">
            <a:avLst/>
          </a:prstGeom>
          <a:ln w="1778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02500" y="3200400"/>
            <a:ext cx="1955800" cy="863600"/>
          </a:xfrm>
          <a:prstGeom prst="roundRect">
            <a:avLst>
              <a:gd name="adj" fmla="val 11764"/>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29500" y="3340100"/>
            <a:ext cx="1701800" cy="3175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FFFFFF"/>
                </a:solidFill>
                <a:latin typeface="Noto Sans CJK KR"/>
              </a:defRPr>
            </a:pPr>
            <a:r>
              <a:rPr>
                <a:ea typeface="Noto Sans CJK KR"/>
              </a:rPr>
              <a:t>HRTF 합성</a:t>
            </a:r>
          </a:p>
        </p:txBody>
      </p:sp>
      <p:sp>
        <p:nvSpPr>
          <p:cNvPr id="23" name="TextBox 22"/>
          <p:cNvSpPr txBox="1"/>
          <p:nvPr/>
        </p:nvSpPr>
        <p:spPr>
          <a:xfrm>
            <a:off x="7429500" y="3708400"/>
            <a:ext cx="17018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FFFFFF"/>
                </a:solidFill>
                <a:latin typeface="Noto Sans CJK KR"/>
              </a:defRPr>
            </a:pPr>
            <a:r>
              <a:rPr>
                <a:ea typeface="Noto Sans CJK KR"/>
              </a:rPr>
              <a:t>좌→우 스캔</a:t>
            </a:r>
          </a:p>
        </p:txBody>
      </p:sp>
      <p:cxnSp>
        <p:nvCxnSpPr>
          <p:cNvPr id="24" name="Connector 23"/>
          <p:cNvCxnSpPr/>
          <p:nvPr/>
        </p:nvCxnSpPr>
        <p:spPr>
          <a:xfrm>
            <a:off x="9271000" y="3619500"/>
            <a:ext cx="177800" cy="0"/>
          </a:xfrm>
          <a:prstGeom prst="line">
            <a:avLst/>
          </a:prstGeom>
          <a:ln w="17780">
            <a:solidFill>
              <a:srgbClr val="287F89"/>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499600" y="3200400"/>
            <a:ext cx="1955800" cy="863600"/>
          </a:xfrm>
          <a:prstGeom prst="roundRect">
            <a:avLst>
              <a:gd name="adj" fmla="val 1176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26600" y="3340100"/>
            <a:ext cx="1701800" cy="3175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151D21"/>
                </a:solidFill>
                <a:latin typeface="Noto Sans CJK KR"/>
              </a:defRPr>
            </a:pPr>
            <a:r>
              <a:rPr>
                <a:ea typeface="Noto Sans CJK KR"/>
              </a:rPr>
              <a:t>이어폰</a:t>
            </a:r>
          </a:p>
        </p:txBody>
      </p:sp>
      <p:sp>
        <p:nvSpPr>
          <p:cNvPr id="27" name="TextBox 26"/>
          <p:cNvSpPr txBox="1"/>
          <p:nvPr/>
        </p:nvSpPr>
        <p:spPr>
          <a:xfrm>
            <a:off x="9626600" y="3708400"/>
            <a:ext cx="17018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방향·음량</a:t>
            </a:r>
          </a:p>
        </p:txBody>
      </p:sp>
      <p:sp>
        <p:nvSpPr>
          <p:cNvPr id="28" name="Rounded Rectangle 27"/>
          <p:cNvSpPr/>
          <p:nvPr/>
        </p:nvSpPr>
        <p:spPr>
          <a:xfrm>
            <a:off x="711200" y="4876800"/>
            <a:ext cx="2476500" cy="863600"/>
          </a:xfrm>
          <a:prstGeom prst="roundRect">
            <a:avLst>
              <a:gd name="adj" fmla="val 1176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8200" y="5016500"/>
            <a:ext cx="2222500" cy="3175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151D21"/>
                </a:solidFill>
                <a:latin typeface="Noto Sans CJK KR"/>
              </a:defRPr>
            </a:pPr>
            <a:r>
              <a:rPr>
                <a:ea typeface="Noto Sans CJK KR"/>
              </a:rPr>
              <a:t>Sense 카메라</a:t>
            </a:r>
          </a:p>
        </p:txBody>
      </p:sp>
      <p:sp>
        <p:nvSpPr>
          <p:cNvPr id="30" name="TextBox 29"/>
          <p:cNvSpPr txBox="1"/>
          <p:nvPr/>
        </p:nvSpPr>
        <p:spPr>
          <a:xfrm>
            <a:off x="838200" y="5384800"/>
            <a:ext cx="22225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JPEG</a:t>
            </a:r>
          </a:p>
        </p:txBody>
      </p:sp>
      <p:cxnSp>
        <p:nvCxnSpPr>
          <p:cNvPr id="31" name="Connector 30"/>
          <p:cNvCxnSpPr/>
          <p:nvPr/>
        </p:nvCxnSpPr>
        <p:spPr>
          <a:xfrm>
            <a:off x="3213100" y="5308600"/>
            <a:ext cx="203200" cy="0"/>
          </a:xfrm>
          <a:prstGeom prst="line">
            <a:avLst/>
          </a:prstGeom>
          <a:ln w="16510">
            <a:solidFill>
              <a:srgbClr val="C45831"/>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467100" y="4876800"/>
            <a:ext cx="2476500" cy="863600"/>
          </a:xfrm>
          <a:prstGeom prst="roundRect">
            <a:avLst>
              <a:gd name="adj" fmla="val 1176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94100" y="5016500"/>
            <a:ext cx="2222500" cy="3175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151D21"/>
                </a:solidFill>
                <a:latin typeface="Noto Sans CJK KR"/>
              </a:defRPr>
            </a:pPr>
            <a:r>
              <a:rPr>
                <a:ea typeface="Noto Sans CJK KR"/>
              </a:rPr>
              <a:t>USB 전송</a:t>
            </a:r>
          </a:p>
        </p:txBody>
      </p:sp>
      <p:sp>
        <p:nvSpPr>
          <p:cNvPr id="34" name="TextBox 33"/>
          <p:cNvSpPr txBox="1"/>
          <p:nvPr/>
        </p:nvSpPr>
        <p:spPr>
          <a:xfrm>
            <a:off x="3594100" y="5384800"/>
            <a:ext cx="22225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영상 전달</a:t>
            </a:r>
          </a:p>
        </p:txBody>
      </p:sp>
      <p:cxnSp>
        <p:nvCxnSpPr>
          <p:cNvPr id="35" name="Connector 34"/>
          <p:cNvCxnSpPr/>
          <p:nvPr/>
        </p:nvCxnSpPr>
        <p:spPr>
          <a:xfrm>
            <a:off x="5969000" y="5308600"/>
            <a:ext cx="203200" cy="0"/>
          </a:xfrm>
          <a:prstGeom prst="line">
            <a:avLst/>
          </a:prstGeom>
          <a:ln w="16510">
            <a:solidFill>
              <a:srgbClr val="C45831"/>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223000" y="4876800"/>
            <a:ext cx="2476500" cy="863600"/>
          </a:xfrm>
          <a:prstGeom prst="roundRect">
            <a:avLst>
              <a:gd name="adj" fmla="val 1176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0000" y="5016500"/>
            <a:ext cx="2222500" cy="3175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151D21"/>
                </a:solidFill>
                <a:latin typeface="Noto Sans CJK KR"/>
              </a:defRPr>
            </a:pPr>
            <a:r>
              <a:rPr>
                <a:ea typeface="Noto Sans CJK KR"/>
              </a:rPr>
              <a:t>휴대폰 YOLOX</a:t>
            </a:r>
          </a:p>
        </p:txBody>
      </p:sp>
      <p:sp>
        <p:nvSpPr>
          <p:cNvPr id="38" name="TextBox 37"/>
          <p:cNvSpPr txBox="1"/>
          <p:nvPr/>
        </p:nvSpPr>
        <p:spPr>
          <a:xfrm>
            <a:off x="6350000" y="5384800"/>
            <a:ext cx="22225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로컬 객체 탐지</a:t>
            </a:r>
          </a:p>
        </p:txBody>
      </p:sp>
      <p:cxnSp>
        <p:nvCxnSpPr>
          <p:cNvPr id="39" name="Connector 38"/>
          <p:cNvCxnSpPr/>
          <p:nvPr/>
        </p:nvCxnSpPr>
        <p:spPr>
          <a:xfrm>
            <a:off x="8724900" y="5308600"/>
            <a:ext cx="203200" cy="0"/>
          </a:xfrm>
          <a:prstGeom prst="line">
            <a:avLst/>
          </a:prstGeom>
          <a:ln w="16510">
            <a:solidFill>
              <a:srgbClr val="C45831"/>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978900" y="4876800"/>
            <a:ext cx="2476500" cy="863600"/>
          </a:xfrm>
          <a:prstGeom prst="roundRect">
            <a:avLst>
              <a:gd name="adj" fmla="val 1176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05900" y="5016500"/>
            <a:ext cx="2222500" cy="317500"/>
          </a:xfrm>
          <a:prstGeom prst="rect">
            <a:avLst/>
          </a:prstGeom>
          <a:noFill/>
        </p:spPr>
        <p:txBody>
          <a:bodyPr wrap="square" lIns="0" rIns="0" tIns="0" bIns="0">
            <a:spAutoFit/>
          </a:bodyPr>
          <a:lstStyle/>
          <a:p>
            <a:pPr algn="ctr">
              <a:lnSpc>
                <a:spcPct val="118000"/>
              </a:lnSpc>
              <a:spcBef>
                <a:spcPts val="0"/>
              </a:spcBef>
              <a:spcAft>
                <a:spcPts val="0"/>
              </a:spcAft>
              <a:defRPr sz="1600" b="1">
                <a:solidFill>
                  <a:srgbClr val="151D21"/>
                </a:solidFill>
                <a:latin typeface="Noto Sans CJK KR"/>
              </a:defRPr>
            </a:pPr>
            <a:r>
              <a:rPr>
                <a:ea typeface="Noto Sans CJK KR"/>
              </a:rPr>
              <a:t>물체 이름</a:t>
            </a:r>
          </a:p>
        </p:txBody>
      </p:sp>
      <p:sp>
        <p:nvSpPr>
          <p:cNvPr id="42" name="TextBox 41"/>
          <p:cNvSpPr txBox="1"/>
          <p:nvPr/>
        </p:nvSpPr>
        <p:spPr>
          <a:xfrm>
            <a:off x="9105900" y="5384800"/>
            <a:ext cx="2222500" cy="254000"/>
          </a:xfrm>
          <a:prstGeom prst="rect">
            <a:avLst/>
          </a:prstGeom>
          <a:noFill/>
        </p:spPr>
        <p:txBody>
          <a:bodyPr wrap="square" lIns="0" rIns="0" tIns="0" bIns="0">
            <a:spAutoFit/>
          </a:bodyPr>
          <a:lstStyle/>
          <a:p>
            <a:pPr algn="ctr">
              <a:lnSpc>
                <a:spcPct val="118000"/>
              </a:lnSpc>
              <a:spcBef>
                <a:spcPts val="0"/>
              </a:spcBef>
              <a:spcAft>
                <a:spcPts val="0"/>
              </a:spcAft>
              <a:defRPr sz="1100" b="0">
                <a:solidFill>
                  <a:srgbClr val="66716F"/>
                </a:solidFill>
                <a:latin typeface="Noto Sans CJK KR"/>
              </a:defRPr>
            </a:pPr>
            <a:r>
              <a:rPr>
                <a:ea typeface="Noto Sans CJK KR"/>
              </a:rPr>
              <a:t>TTS 경로 구현</a:t>
            </a:r>
          </a:p>
        </p:txBody>
      </p:sp>
      <p:sp>
        <p:nvSpPr>
          <p:cNvPr id="43" name="TextBox 42"/>
          <p:cNvSpPr txBox="1"/>
          <p:nvPr/>
        </p:nvSpPr>
        <p:spPr>
          <a:xfrm>
            <a:off x="736600" y="5981700"/>
            <a:ext cx="10718800" cy="279400"/>
          </a:xfrm>
          <a:prstGeom prst="rect">
            <a:avLst/>
          </a:prstGeom>
          <a:noFill/>
        </p:spPr>
        <p:txBody>
          <a:bodyPr wrap="square" lIns="0" rIns="0" tIns="0" bIns="0">
            <a:spAutoFit/>
          </a:bodyPr>
          <a:lstStyle/>
          <a:p>
            <a:pPr>
              <a:lnSpc>
                <a:spcPct val="118000"/>
              </a:lnSpc>
              <a:spcBef>
                <a:spcPts val="0"/>
              </a:spcBef>
              <a:spcAft>
                <a:spcPts val="0"/>
              </a:spcAft>
              <a:defRPr sz="1200" b="1">
                <a:solidFill>
                  <a:srgbClr val="C45831"/>
                </a:solidFill>
                <a:latin typeface="Noto Sans CJK KR"/>
              </a:defRPr>
            </a:pPr>
            <a:r>
              <a:rPr>
                <a:ea typeface="Noto Sans CJK KR"/>
              </a:rPr>
              <a:t>다음 연결 과제: 카메라가 찾은 물체와 ToF의 거리·방향을 같은 대상으로 대응시키기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현재 진행 상황</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실제 센서 값으로</a:t>
            </a:r>
          </a:p>
          <a:p>
            <a:pPr>
              <a:lnSpc>
                <a:spcPct val="118000"/>
              </a:lnSpc>
              <a:spcBef>
                <a:spcPts val="0"/>
              </a:spcBef>
              <a:spcAft>
                <a:spcPts val="0"/>
              </a:spcAft>
              <a:defRPr sz="3100" b="1">
                <a:solidFill>
                  <a:srgbClr val="151D21"/>
                </a:solidFill>
                <a:latin typeface="Noto Sans CJK KR"/>
              </a:defRPr>
            </a:pPr>
            <a:r>
              <a:rPr>
                <a:ea typeface="Noto Sans CJK KR"/>
              </a:rPr>
              <a:t>방향음을 듣는 단계까지 연결했다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12</a:t>
            </a:r>
          </a:p>
        </p:txBody>
      </p:sp>
      <p:sp>
        <p:nvSpPr>
          <p:cNvPr id="7" name="Rectangle 6"/>
          <p:cNvSpPr/>
          <p:nvPr/>
        </p:nvSpPr>
        <p:spPr>
          <a:xfrm>
            <a:off x="711200" y="2667000"/>
            <a:ext cx="10769600" cy="520700"/>
          </a:xfrm>
          <a:prstGeom prst="rect">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9799" y="2806700"/>
            <a:ext cx="35560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FFFFFF"/>
                </a:solidFill>
                <a:latin typeface="Noto Sans CJK KR"/>
              </a:defRPr>
            </a:pPr>
            <a:r>
              <a:rPr>
                <a:ea typeface="Noto Sans CJK KR"/>
              </a:rPr>
              <a:t>확인 항목</a:t>
            </a:r>
          </a:p>
        </p:txBody>
      </p:sp>
      <p:sp>
        <p:nvSpPr>
          <p:cNvPr id="9" name="TextBox 8"/>
          <p:cNvSpPr txBox="1"/>
          <p:nvPr/>
        </p:nvSpPr>
        <p:spPr>
          <a:xfrm>
            <a:off x="4699000" y="2806700"/>
            <a:ext cx="2159000"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FFFFFF"/>
                </a:solidFill>
                <a:latin typeface="Noto Sans CJK KR"/>
              </a:defRPr>
            </a:pPr>
            <a:r>
              <a:rPr>
                <a:ea typeface="Noto Sans CJK KR"/>
              </a:rPr>
              <a:t>현재 상태</a:t>
            </a:r>
          </a:p>
        </p:txBody>
      </p:sp>
      <p:sp>
        <p:nvSpPr>
          <p:cNvPr id="10" name="TextBox 9"/>
          <p:cNvSpPr txBox="1"/>
          <p:nvPr/>
        </p:nvSpPr>
        <p:spPr>
          <a:xfrm>
            <a:off x="7150100" y="2806700"/>
            <a:ext cx="4076699" cy="317500"/>
          </a:xfrm>
          <a:prstGeom prst="rect">
            <a:avLst/>
          </a:prstGeom>
          <a:noFill/>
        </p:spPr>
        <p:txBody>
          <a:bodyPr wrap="square" lIns="0" rIns="0" tIns="0" bIns="0">
            <a:spAutoFit/>
          </a:bodyPr>
          <a:lstStyle/>
          <a:p>
            <a:pPr>
              <a:lnSpc>
                <a:spcPct val="118000"/>
              </a:lnSpc>
              <a:spcBef>
                <a:spcPts val="0"/>
              </a:spcBef>
              <a:spcAft>
                <a:spcPts val="0"/>
              </a:spcAft>
              <a:defRPr sz="1300" b="1">
                <a:solidFill>
                  <a:srgbClr val="FFFFFF"/>
                </a:solidFill>
                <a:latin typeface="Noto Sans CJK KR"/>
              </a:defRPr>
            </a:pPr>
            <a:r>
              <a:rPr>
                <a:ea typeface="Noto Sans CJK KR"/>
              </a:rPr>
              <a:t>확인 내용 / 남은 일</a:t>
            </a:r>
          </a:p>
        </p:txBody>
      </p:sp>
      <p:sp>
        <p:nvSpPr>
          <p:cNvPr id="11" name="Rectangle 10"/>
          <p:cNvSpPr/>
          <p:nvPr/>
        </p:nvSpPr>
        <p:spPr>
          <a:xfrm>
            <a:off x="711200" y="3187700"/>
            <a:ext cx="10769600" cy="584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9799" y="3340100"/>
            <a:ext cx="3556000" cy="355600"/>
          </a:xfrm>
          <a:prstGeom prst="rect">
            <a:avLst/>
          </a:prstGeom>
          <a:noFill/>
        </p:spPr>
        <p:txBody>
          <a:bodyPr wrap="square" lIns="0" rIns="0" tIns="0" bIns="0">
            <a:spAutoFit/>
          </a:bodyPr>
          <a:lstStyle/>
          <a:p>
            <a:pPr>
              <a:lnSpc>
                <a:spcPct val="118000"/>
              </a:lnSpc>
              <a:spcBef>
                <a:spcPts val="0"/>
              </a:spcBef>
              <a:spcAft>
                <a:spcPts val="0"/>
              </a:spcAft>
              <a:defRPr sz="1500" b="1">
                <a:solidFill>
                  <a:srgbClr val="151D21"/>
                </a:solidFill>
                <a:latin typeface="Noto Sans CJK KR"/>
              </a:defRPr>
            </a:pPr>
            <a:r>
              <a:rPr>
                <a:ea typeface="Noto Sans CJK KR"/>
              </a:rPr>
              <a:t>두 센서 거리 측정</a:t>
            </a:r>
          </a:p>
        </p:txBody>
      </p:sp>
      <p:sp>
        <p:nvSpPr>
          <p:cNvPr id="13" name="TextBox 12"/>
          <p:cNvSpPr txBox="1"/>
          <p:nvPr/>
        </p:nvSpPr>
        <p:spPr>
          <a:xfrm>
            <a:off x="4699000" y="3352800"/>
            <a:ext cx="2209800" cy="330200"/>
          </a:xfrm>
          <a:prstGeom prst="rect">
            <a:avLst/>
          </a:prstGeom>
          <a:noFill/>
        </p:spPr>
        <p:txBody>
          <a:bodyPr wrap="square" lIns="0" rIns="0" tIns="0" bIns="0">
            <a:spAutoFit/>
          </a:bodyPr>
          <a:lstStyle/>
          <a:p>
            <a:pPr>
              <a:lnSpc>
                <a:spcPct val="118000"/>
              </a:lnSpc>
              <a:spcBef>
                <a:spcPts val="0"/>
              </a:spcBef>
              <a:spcAft>
                <a:spcPts val="0"/>
              </a:spcAft>
              <a:defRPr sz="1300" b="1">
                <a:solidFill>
                  <a:srgbClr val="287F89"/>
                </a:solidFill>
                <a:latin typeface="Noto Sans CJK KR"/>
              </a:defRPr>
            </a:pPr>
            <a:r>
              <a:rPr>
                <a:ea typeface="Noto Sans CJK KR"/>
              </a:rPr>
              <a:t>실물 확인</a:t>
            </a:r>
          </a:p>
        </p:txBody>
      </p:sp>
      <p:sp>
        <p:nvSpPr>
          <p:cNvPr id="14" name="TextBox 13"/>
          <p:cNvSpPr txBox="1"/>
          <p:nvPr/>
        </p:nvSpPr>
        <p:spPr>
          <a:xfrm>
            <a:off x="7150100" y="3352800"/>
            <a:ext cx="4076699" cy="342900"/>
          </a:xfrm>
          <a:prstGeom prst="rect">
            <a:avLst/>
          </a:prstGeom>
          <a:noFill/>
        </p:spPr>
        <p:txBody>
          <a:bodyPr wrap="square" lIns="0" rIns="0" tIns="0" bIns="0">
            <a:spAutoFit/>
          </a:bodyPr>
          <a:lstStyle/>
          <a:p>
            <a:pPr>
              <a:lnSpc>
                <a:spcPct val="118000"/>
              </a:lnSpc>
              <a:spcBef>
                <a:spcPts val="0"/>
              </a:spcBef>
              <a:spcAft>
                <a:spcPts val="0"/>
              </a:spcAft>
              <a:defRPr sz="1300" b="0">
                <a:solidFill>
                  <a:srgbClr val="66716F"/>
                </a:solidFill>
                <a:latin typeface="Noto Sans CJK KR"/>
              </a:defRPr>
            </a:pPr>
            <a:r>
              <a:rPr>
                <a:ea typeface="Noto Sans CJK KR"/>
              </a:rPr>
              <a:t>A·B 8×8 격자 수신·갱신</a:t>
            </a:r>
          </a:p>
        </p:txBody>
      </p:sp>
      <p:sp>
        <p:nvSpPr>
          <p:cNvPr id="15" name="Rectangle 14"/>
          <p:cNvSpPr/>
          <p:nvPr/>
        </p:nvSpPr>
        <p:spPr>
          <a:xfrm>
            <a:off x="711200" y="3771900"/>
            <a:ext cx="10769600" cy="584200"/>
          </a:xfrm>
          <a:prstGeom prst="rect">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9799" y="3924300"/>
            <a:ext cx="3556000" cy="355600"/>
          </a:xfrm>
          <a:prstGeom prst="rect">
            <a:avLst/>
          </a:prstGeom>
          <a:noFill/>
        </p:spPr>
        <p:txBody>
          <a:bodyPr wrap="square" lIns="0" rIns="0" tIns="0" bIns="0">
            <a:spAutoFit/>
          </a:bodyPr>
          <a:lstStyle/>
          <a:p>
            <a:pPr>
              <a:lnSpc>
                <a:spcPct val="118000"/>
              </a:lnSpc>
              <a:spcBef>
                <a:spcPts val="0"/>
              </a:spcBef>
              <a:spcAft>
                <a:spcPts val="0"/>
              </a:spcAft>
              <a:defRPr sz="1500" b="1">
                <a:solidFill>
                  <a:srgbClr val="151D21"/>
                </a:solidFill>
                <a:latin typeface="Noto Sans CJK KR"/>
              </a:defRPr>
            </a:pPr>
            <a:r>
              <a:rPr>
                <a:ea typeface="Noto Sans CJK KR"/>
              </a:rPr>
              <a:t>거리음 · HRTF 방향음</a:t>
            </a:r>
          </a:p>
        </p:txBody>
      </p:sp>
      <p:sp>
        <p:nvSpPr>
          <p:cNvPr id="17" name="TextBox 16"/>
          <p:cNvSpPr txBox="1"/>
          <p:nvPr/>
        </p:nvSpPr>
        <p:spPr>
          <a:xfrm>
            <a:off x="4699000" y="3937000"/>
            <a:ext cx="2209800" cy="330200"/>
          </a:xfrm>
          <a:prstGeom prst="rect">
            <a:avLst/>
          </a:prstGeom>
          <a:noFill/>
        </p:spPr>
        <p:txBody>
          <a:bodyPr wrap="square" lIns="0" rIns="0" tIns="0" bIns="0">
            <a:spAutoFit/>
          </a:bodyPr>
          <a:lstStyle/>
          <a:p>
            <a:pPr>
              <a:lnSpc>
                <a:spcPct val="118000"/>
              </a:lnSpc>
              <a:spcBef>
                <a:spcPts val="0"/>
              </a:spcBef>
              <a:spcAft>
                <a:spcPts val="0"/>
              </a:spcAft>
              <a:defRPr sz="1300" b="1">
                <a:solidFill>
                  <a:srgbClr val="287F89"/>
                </a:solidFill>
                <a:latin typeface="Noto Sans CJK KR"/>
              </a:defRPr>
            </a:pPr>
            <a:r>
              <a:rPr>
                <a:ea typeface="Noto Sans CJK KR"/>
              </a:rPr>
              <a:t>실물 확인</a:t>
            </a:r>
          </a:p>
        </p:txBody>
      </p:sp>
      <p:sp>
        <p:nvSpPr>
          <p:cNvPr id="18" name="TextBox 17"/>
          <p:cNvSpPr txBox="1"/>
          <p:nvPr/>
        </p:nvSpPr>
        <p:spPr>
          <a:xfrm>
            <a:off x="7150100" y="3937000"/>
            <a:ext cx="4076699" cy="342900"/>
          </a:xfrm>
          <a:prstGeom prst="rect">
            <a:avLst/>
          </a:prstGeom>
          <a:noFill/>
        </p:spPr>
        <p:txBody>
          <a:bodyPr wrap="square" lIns="0" rIns="0" tIns="0" bIns="0">
            <a:spAutoFit/>
          </a:bodyPr>
          <a:lstStyle/>
          <a:p>
            <a:pPr>
              <a:lnSpc>
                <a:spcPct val="118000"/>
              </a:lnSpc>
              <a:spcBef>
                <a:spcPts val="0"/>
              </a:spcBef>
              <a:spcAft>
                <a:spcPts val="0"/>
              </a:spcAft>
              <a:defRPr sz="1300" b="0">
                <a:solidFill>
                  <a:srgbClr val="66716F"/>
                </a:solidFill>
                <a:latin typeface="Noto Sans CJK KR"/>
              </a:defRPr>
            </a:pPr>
            <a:r>
              <a:rPr>
                <a:ea typeface="Noto Sans CJK KR"/>
              </a:rPr>
              <a:t>소리 출력과 좌우 방향 체감 확인</a:t>
            </a:r>
          </a:p>
        </p:txBody>
      </p:sp>
      <p:sp>
        <p:nvSpPr>
          <p:cNvPr id="19" name="Rectangle 18"/>
          <p:cNvSpPr/>
          <p:nvPr/>
        </p:nvSpPr>
        <p:spPr>
          <a:xfrm>
            <a:off x="711200" y="4356100"/>
            <a:ext cx="10769600" cy="584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9799" y="4508500"/>
            <a:ext cx="3556000" cy="355600"/>
          </a:xfrm>
          <a:prstGeom prst="rect">
            <a:avLst/>
          </a:prstGeom>
          <a:noFill/>
        </p:spPr>
        <p:txBody>
          <a:bodyPr wrap="square" lIns="0" rIns="0" tIns="0" bIns="0">
            <a:spAutoFit/>
          </a:bodyPr>
          <a:lstStyle/>
          <a:p>
            <a:pPr>
              <a:lnSpc>
                <a:spcPct val="118000"/>
              </a:lnSpc>
              <a:spcBef>
                <a:spcPts val="0"/>
              </a:spcBef>
              <a:spcAft>
                <a:spcPts val="0"/>
              </a:spcAft>
              <a:defRPr sz="1500" b="1">
                <a:solidFill>
                  <a:srgbClr val="151D21"/>
                </a:solidFill>
                <a:latin typeface="Noto Sans CJK KR"/>
              </a:defRPr>
            </a:pPr>
            <a:r>
              <a:rPr>
                <a:ea typeface="Noto Sans CJK KR"/>
              </a:rPr>
              <a:t>1초 좌→우 스캔</a:t>
            </a:r>
          </a:p>
        </p:txBody>
      </p:sp>
      <p:sp>
        <p:nvSpPr>
          <p:cNvPr id="21" name="TextBox 20"/>
          <p:cNvSpPr txBox="1"/>
          <p:nvPr/>
        </p:nvSpPr>
        <p:spPr>
          <a:xfrm>
            <a:off x="4699000" y="4521200"/>
            <a:ext cx="2209800" cy="330200"/>
          </a:xfrm>
          <a:prstGeom prst="rect">
            <a:avLst/>
          </a:prstGeom>
          <a:noFill/>
        </p:spPr>
        <p:txBody>
          <a:bodyPr wrap="square" lIns="0" rIns="0" tIns="0" bIns="0">
            <a:spAutoFit/>
          </a:bodyPr>
          <a:lstStyle/>
          <a:p>
            <a:pPr>
              <a:lnSpc>
                <a:spcPct val="118000"/>
              </a:lnSpc>
              <a:spcBef>
                <a:spcPts val="0"/>
              </a:spcBef>
              <a:spcAft>
                <a:spcPts val="0"/>
              </a:spcAft>
              <a:defRPr sz="1300" b="1">
                <a:solidFill>
                  <a:srgbClr val="287F89"/>
                </a:solidFill>
                <a:latin typeface="Noto Sans CJK KR"/>
              </a:defRPr>
            </a:pPr>
            <a:r>
              <a:rPr>
                <a:ea typeface="Noto Sans CJK KR"/>
              </a:rPr>
              <a:t>구현 · 기능 확인</a:t>
            </a:r>
          </a:p>
        </p:txBody>
      </p:sp>
      <p:sp>
        <p:nvSpPr>
          <p:cNvPr id="22" name="TextBox 21"/>
          <p:cNvSpPr txBox="1"/>
          <p:nvPr/>
        </p:nvSpPr>
        <p:spPr>
          <a:xfrm>
            <a:off x="7150100" y="4521200"/>
            <a:ext cx="4076699" cy="342900"/>
          </a:xfrm>
          <a:prstGeom prst="rect">
            <a:avLst/>
          </a:prstGeom>
          <a:noFill/>
        </p:spPr>
        <p:txBody>
          <a:bodyPr wrap="square" lIns="0" rIns="0" tIns="0" bIns="0">
            <a:spAutoFit/>
          </a:bodyPr>
          <a:lstStyle/>
          <a:p>
            <a:pPr>
              <a:lnSpc>
                <a:spcPct val="118000"/>
              </a:lnSpc>
              <a:spcBef>
                <a:spcPts val="0"/>
              </a:spcBef>
              <a:spcAft>
                <a:spcPts val="0"/>
              </a:spcAft>
              <a:defRPr sz="1300" b="0">
                <a:solidFill>
                  <a:srgbClr val="66716F"/>
                </a:solidFill>
                <a:latin typeface="Noto Sans CJK KR"/>
              </a:defRPr>
            </a:pPr>
            <a:r>
              <a:rPr>
                <a:ea typeface="Noto Sans CJK KR"/>
              </a:rPr>
              <a:t>방향 수 선택과 순차 출력</a:t>
            </a:r>
          </a:p>
        </p:txBody>
      </p:sp>
      <p:sp>
        <p:nvSpPr>
          <p:cNvPr id="23" name="Rectangle 22"/>
          <p:cNvSpPr/>
          <p:nvPr/>
        </p:nvSpPr>
        <p:spPr>
          <a:xfrm>
            <a:off x="711200" y="4940300"/>
            <a:ext cx="10769600" cy="584200"/>
          </a:xfrm>
          <a:prstGeom prst="rect">
            <a:avLst/>
          </a:prstGeom>
          <a:solidFill>
            <a:srgbClr val="E3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9799" y="5092700"/>
            <a:ext cx="3556000" cy="355600"/>
          </a:xfrm>
          <a:prstGeom prst="rect">
            <a:avLst/>
          </a:prstGeom>
          <a:noFill/>
        </p:spPr>
        <p:txBody>
          <a:bodyPr wrap="square" lIns="0" rIns="0" tIns="0" bIns="0">
            <a:spAutoFit/>
          </a:bodyPr>
          <a:lstStyle/>
          <a:p>
            <a:pPr>
              <a:lnSpc>
                <a:spcPct val="118000"/>
              </a:lnSpc>
              <a:spcBef>
                <a:spcPts val="0"/>
              </a:spcBef>
              <a:spcAft>
                <a:spcPts val="0"/>
              </a:spcAft>
              <a:defRPr sz="1500" b="1">
                <a:solidFill>
                  <a:srgbClr val="151D21"/>
                </a:solidFill>
                <a:latin typeface="Noto Sans CJK KR"/>
              </a:defRPr>
            </a:pPr>
            <a:r>
              <a:rPr>
                <a:ea typeface="Noto Sans CJK KR"/>
              </a:rPr>
              <a:t>Sense 카메라 · YOLOX</a:t>
            </a:r>
          </a:p>
        </p:txBody>
      </p:sp>
      <p:sp>
        <p:nvSpPr>
          <p:cNvPr id="25" name="TextBox 24"/>
          <p:cNvSpPr txBox="1"/>
          <p:nvPr/>
        </p:nvSpPr>
        <p:spPr>
          <a:xfrm>
            <a:off x="4699000" y="5105400"/>
            <a:ext cx="2209800" cy="330200"/>
          </a:xfrm>
          <a:prstGeom prst="rect">
            <a:avLst/>
          </a:prstGeom>
          <a:noFill/>
        </p:spPr>
        <p:txBody>
          <a:bodyPr wrap="square" lIns="0" rIns="0" tIns="0" bIns="0">
            <a:spAutoFit/>
          </a:bodyPr>
          <a:lstStyle/>
          <a:p>
            <a:pPr>
              <a:lnSpc>
                <a:spcPct val="118000"/>
              </a:lnSpc>
              <a:spcBef>
                <a:spcPts val="0"/>
              </a:spcBef>
              <a:spcAft>
                <a:spcPts val="0"/>
              </a:spcAft>
              <a:defRPr sz="1300" b="1">
                <a:solidFill>
                  <a:srgbClr val="66716F"/>
                </a:solidFill>
                <a:latin typeface="Noto Sans CJK KR"/>
              </a:defRPr>
            </a:pPr>
            <a:r>
              <a:rPr>
                <a:ea typeface="Noto Sans CJK KR"/>
              </a:rPr>
              <a:t>코드 구현</a:t>
            </a:r>
          </a:p>
        </p:txBody>
      </p:sp>
      <p:sp>
        <p:nvSpPr>
          <p:cNvPr id="26" name="TextBox 25"/>
          <p:cNvSpPr txBox="1"/>
          <p:nvPr/>
        </p:nvSpPr>
        <p:spPr>
          <a:xfrm>
            <a:off x="7150100" y="5105400"/>
            <a:ext cx="4076699" cy="342900"/>
          </a:xfrm>
          <a:prstGeom prst="rect">
            <a:avLst/>
          </a:prstGeom>
          <a:noFill/>
        </p:spPr>
        <p:txBody>
          <a:bodyPr wrap="square" lIns="0" rIns="0" tIns="0" bIns="0">
            <a:spAutoFit/>
          </a:bodyPr>
          <a:lstStyle/>
          <a:p>
            <a:pPr>
              <a:lnSpc>
                <a:spcPct val="118000"/>
              </a:lnSpc>
              <a:spcBef>
                <a:spcPts val="0"/>
              </a:spcBef>
              <a:spcAft>
                <a:spcPts val="0"/>
              </a:spcAft>
              <a:defRPr sz="1300" b="0">
                <a:solidFill>
                  <a:srgbClr val="66716F"/>
                </a:solidFill>
                <a:latin typeface="Noto Sans CJK KR"/>
              </a:defRPr>
            </a:pPr>
            <a:r>
              <a:rPr>
                <a:ea typeface="Noto Sans CJK KR"/>
              </a:rPr>
              <a:t>물체·거리 대응과 정량 평가 필요</a:t>
            </a:r>
          </a:p>
        </p:txBody>
      </p:sp>
      <p:sp>
        <p:nvSpPr>
          <p:cNvPr id="27" name="Rounded Rectangle 26"/>
          <p:cNvSpPr/>
          <p:nvPr/>
        </p:nvSpPr>
        <p:spPr>
          <a:xfrm>
            <a:off x="711200" y="5727700"/>
            <a:ext cx="10769600" cy="482600"/>
          </a:xfrm>
          <a:prstGeom prst="roundRect">
            <a:avLst>
              <a:gd name="adj" fmla="val 10526"/>
            </a:avLst>
          </a:prstGeom>
          <a:solidFill>
            <a:srgbClr val="151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7100" y="5842000"/>
            <a:ext cx="10337800" cy="304800"/>
          </a:xfrm>
          <a:prstGeom prst="rect">
            <a:avLst/>
          </a:prstGeom>
          <a:noFill/>
        </p:spPr>
        <p:txBody>
          <a:bodyPr wrap="square" lIns="0" rIns="0" tIns="0" bIns="0">
            <a:spAutoFit/>
          </a:bodyPr>
          <a:lstStyle/>
          <a:p>
            <a:pPr>
              <a:lnSpc>
                <a:spcPct val="118000"/>
              </a:lnSpc>
              <a:spcBef>
                <a:spcPts val="0"/>
              </a:spcBef>
              <a:spcAft>
                <a:spcPts val="0"/>
              </a:spcAft>
              <a:defRPr sz="1300" b="1">
                <a:solidFill>
                  <a:srgbClr val="FFFFFF"/>
                </a:solidFill>
                <a:latin typeface="Noto Sans CJK KR"/>
              </a:defRPr>
            </a:pPr>
            <a:r>
              <a:rPr>
                <a:ea typeface="Noto Sans CJK KR"/>
              </a:rPr>
              <a:t>자동 검증 49개 통과  ·  다음 측정: 거리 오차 / 전체 지연 / 방향 식별률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다음 검증 · 정량 실험 설계</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151D21"/>
                </a:solidFill>
                <a:latin typeface="Noto Sans CJK KR"/>
              </a:defRPr>
            </a:pPr>
            <a:r>
              <a:rPr>
                <a:ea typeface="Noto Sans CJK KR"/>
              </a:rPr>
              <a:t>이제는 얼마나 정확하고,</a:t>
            </a:r>
          </a:p>
          <a:p>
            <a:pPr>
              <a:lnSpc>
                <a:spcPct val="118000"/>
              </a:lnSpc>
              <a:spcBef>
                <a:spcPts val="0"/>
              </a:spcBef>
              <a:spcAft>
                <a:spcPts val="0"/>
              </a:spcAft>
              <a:defRPr sz="3100" b="1">
                <a:solidFill>
                  <a:srgbClr val="151D21"/>
                </a:solidFill>
                <a:latin typeface="Noto Sans CJK KR"/>
              </a:defRPr>
            </a:pPr>
            <a:r>
              <a:rPr>
                <a:ea typeface="Noto Sans CJK KR"/>
              </a:rPr>
              <a:t>얼마나 구별하기 쉬운지 측정한다</a:t>
            </a:r>
          </a:p>
        </p:txBody>
      </p:sp>
      <p:cxnSp>
        <p:nvCxnSpPr>
          <p:cNvPr id="4" name="Connector 3"/>
          <p:cNvCxnSpPr/>
          <p:nvPr/>
        </p:nvCxnSpPr>
        <p:spPr>
          <a:xfrm>
            <a:off x="711200" y="6400800"/>
            <a:ext cx="10769600" cy="0"/>
          </a:xfrm>
          <a:prstGeom prst="line">
            <a:avLst/>
          </a:prstGeom>
          <a:ln w="7620">
            <a:solidFill>
              <a:srgbClr val="DADBD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66716F"/>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66716F"/>
                </a:solidFill>
                <a:latin typeface="Noto Sans CJK KR"/>
              </a:defRPr>
            </a:pPr>
            <a:r>
              <a:rPr>
                <a:ea typeface="Noto Sans CJK KR"/>
              </a:rPr>
              <a:t>13</a:t>
            </a:r>
          </a:p>
        </p:txBody>
      </p:sp>
      <p:sp>
        <p:nvSpPr>
          <p:cNvPr id="7" name="Rounded Rectangle 6"/>
          <p:cNvSpPr/>
          <p:nvPr/>
        </p:nvSpPr>
        <p:spPr>
          <a:xfrm>
            <a:off x="711200" y="2768600"/>
            <a:ext cx="3352800" cy="2882900"/>
          </a:xfrm>
          <a:prstGeom prst="roundRect">
            <a:avLst>
              <a:gd name="adj" fmla="val 352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5200" y="2971800"/>
            <a:ext cx="2794000" cy="317500"/>
          </a:xfrm>
          <a:prstGeom prst="rect">
            <a:avLst/>
          </a:prstGeom>
          <a:noFill/>
        </p:spPr>
        <p:txBody>
          <a:bodyPr wrap="square" lIns="0" rIns="0" tIns="0" bIns="0">
            <a:spAutoFit/>
          </a:bodyPr>
          <a:lstStyle/>
          <a:p>
            <a:pPr>
              <a:lnSpc>
                <a:spcPct val="118000"/>
              </a:lnSpc>
              <a:spcBef>
                <a:spcPts val="0"/>
              </a:spcBef>
              <a:spcAft>
                <a:spcPts val="0"/>
              </a:spcAft>
              <a:defRPr sz="1400" b="1">
                <a:solidFill>
                  <a:srgbClr val="C45831"/>
                </a:solidFill>
                <a:latin typeface="Noto Sans CJK KR"/>
              </a:defRPr>
            </a:pPr>
            <a:r>
              <a:rPr>
                <a:ea typeface="Noto Sans CJK KR"/>
              </a:rPr>
              <a:t>01</a:t>
            </a:r>
          </a:p>
        </p:txBody>
      </p:sp>
      <p:sp>
        <p:nvSpPr>
          <p:cNvPr id="9" name="TextBox 8"/>
          <p:cNvSpPr txBox="1"/>
          <p:nvPr/>
        </p:nvSpPr>
        <p:spPr>
          <a:xfrm>
            <a:off x="965200" y="3492500"/>
            <a:ext cx="2794000" cy="393700"/>
          </a:xfrm>
          <a:prstGeom prst="rect">
            <a:avLst/>
          </a:prstGeom>
          <a:noFill/>
        </p:spPr>
        <p:txBody>
          <a:bodyPr wrap="square" lIns="0" rIns="0" tIns="0" bIns="0">
            <a:spAutoFit/>
          </a:bodyPr>
          <a:lstStyle/>
          <a:p>
            <a:pPr>
              <a:lnSpc>
                <a:spcPct val="118000"/>
              </a:lnSpc>
              <a:spcBef>
                <a:spcPts val="0"/>
              </a:spcBef>
              <a:spcAft>
                <a:spcPts val="0"/>
              </a:spcAft>
              <a:defRPr sz="2100" b="1">
                <a:solidFill>
                  <a:srgbClr val="151D21"/>
                </a:solidFill>
                <a:latin typeface="Noto Sans CJK KR"/>
              </a:defRPr>
            </a:pPr>
            <a:r>
              <a:rPr>
                <a:ea typeface="Noto Sans CJK KR"/>
              </a:rPr>
              <a:t>거리 안정성</a:t>
            </a:r>
          </a:p>
        </p:txBody>
      </p:sp>
      <p:sp>
        <p:nvSpPr>
          <p:cNvPr id="10" name="TextBox 9"/>
          <p:cNvSpPr txBox="1"/>
          <p:nvPr/>
        </p:nvSpPr>
        <p:spPr>
          <a:xfrm>
            <a:off x="965200" y="4114800"/>
            <a:ext cx="2857500" cy="8382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30·50·100·200·400cm</a:t>
            </a:r>
          </a:p>
          <a:p>
            <a:pPr>
              <a:lnSpc>
                <a:spcPct val="118000"/>
              </a:lnSpc>
              <a:spcBef>
                <a:spcPts val="0"/>
              </a:spcBef>
              <a:spcAft>
                <a:spcPts val="0"/>
              </a:spcAft>
              <a:defRPr sz="1400" b="0">
                <a:solidFill>
                  <a:srgbClr val="66716F"/>
                </a:solidFill>
                <a:latin typeface="Noto Sans CJK KR"/>
              </a:defRPr>
            </a:pPr>
            <a:r>
              <a:rPr>
                <a:ea typeface="Noto Sans CJK KR"/>
              </a:rPr>
              <a:t>흰 벽과 재질별로 반복 측정</a:t>
            </a:r>
          </a:p>
        </p:txBody>
      </p:sp>
      <p:cxnSp>
        <p:nvCxnSpPr>
          <p:cNvPr id="11" name="Connector 10"/>
          <p:cNvCxnSpPr/>
          <p:nvPr/>
        </p:nvCxnSpPr>
        <p:spPr>
          <a:xfrm>
            <a:off x="965200" y="5041900"/>
            <a:ext cx="2844800" cy="0"/>
          </a:xfrm>
          <a:prstGeom prst="line">
            <a:avLst/>
          </a:prstGeom>
          <a:ln w="15240">
            <a:solidFill>
              <a:srgbClr val="DADBD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65200" y="5257800"/>
            <a:ext cx="2857500" cy="3175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오차 · 유효값 비율 · 흔들림</a:t>
            </a:r>
          </a:p>
        </p:txBody>
      </p:sp>
      <p:sp>
        <p:nvSpPr>
          <p:cNvPr id="13" name="Rounded Rectangle 12"/>
          <p:cNvSpPr/>
          <p:nvPr/>
        </p:nvSpPr>
        <p:spPr>
          <a:xfrm>
            <a:off x="4419600" y="2768600"/>
            <a:ext cx="3352800" cy="2882900"/>
          </a:xfrm>
          <a:prstGeom prst="roundRect">
            <a:avLst>
              <a:gd name="adj" fmla="val 352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73600" y="2971800"/>
            <a:ext cx="2794000" cy="317500"/>
          </a:xfrm>
          <a:prstGeom prst="rect">
            <a:avLst/>
          </a:prstGeom>
          <a:noFill/>
        </p:spPr>
        <p:txBody>
          <a:bodyPr wrap="square" lIns="0" rIns="0" tIns="0" bIns="0">
            <a:spAutoFit/>
          </a:bodyPr>
          <a:lstStyle/>
          <a:p>
            <a:pPr>
              <a:lnSpc>
                <a:spcPct val="118000"/>
              </a:lnSpc>
              <a:spcBef>
                <a:spcPts val="0"/>
              </a:spcBef>
              <a:spcAft>
                <a:spcPts val="0"/>
              </a:spcAft>
              <a:defRPr sz="1400" b="1">
                <a:solidFill>
                  <a:srgbClr val="C45831"/>
                </a:solidFill>
                <a:latin typeface="Noto Sans CJK KR"/>
              </a:defRPr>
            </a:pPr>
            <a:r>
              <a:rPr>
                <a:ea typeface="Noto Sans CJK KR"/>
              </a:rPr>
              <a:t>02</a:t>
            </a:r>
          </a:p>
        </p:txBody>
      </p:sp>
      <p:sp>
        <p:nvSpPr>
          <p:cNvPr id="15" name="TextBox 14"/>
          <p:cNvSpPr txBox="1"/>
          <p:nvPr/>
        </p:nvSpPr>
        <p:spPr>
          <a:xfrm>
            <a:off x="4673600" y="3492500"/>
            <a:ext cx="2794000" cy="393700"/>
          </a:xfrm>
          <a:prstGeom prst="rect">
            <a:avLst/>
          </a:prstGeom>
          <a:noFill/>
        </p:spPr>
        <p:txBody>
          <a:bodyPr wrap="square" lIns="0" rIns="0" tIns="0" bIns="0">
            <a:spAutoFit/>
          </a:bodyPr>
          <a:lstStyle/>
          <a:p>
            <a:pPr>
              <a:lnSpc>
                <a:spcPct val="118000"/>
              </a:lnSpc>
              <a:spcBef>
                <a:spcPts val="0"/>
              </a:spcBef>
              <a:spcAft>
                <a:spcPts val="0"/>
              </a:spcAft>
              <a:defRPr sz="2100" b="1">
                <a:solidFill>
                  <a:srgbClr val="151D21"/>
                </a:solidFill>
                <a:latin typeface="Noto Sans CJK KR"/>
              </a:defRPr>
            </a:pPr>
            <a:r>
              <a:rPr>
                <a:ea typeface="Noto Sans CJK KR"/>
              </a:rPr>
              <a:t>소리 도달 지연</a:t>
            </a:r>
          </a:p>
        </p:txBody>
      </p:sp>
      <p:sp>
        <p:nvSpPr>
          <p:cNvPr id="16" name="TextBox 15"/>
          <p:cNvSpPr txBox="1"/>
          <p:nvPr/>
        </p:nvSpPr>
        <p:spPr>
          <a:xfrm>
            <a:off x="4673600" y="4114800"/>
            <a:ext cx="2857500" cy="8382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센서 앞 변화 → 귀에 들리는 시점</a:t>
            </a:r>
          </a:p>
          <a:p>
            <a:pPr>
              <a:lnSpc>
                <a:spcPct val="118000"/>
              </a:lnSpc>
              <a:spcBef>
                <a:spcPts val="0"/>
              </a:spcBef>
              <a:spcAft>
                <a:spcPts val="0"/>
              </a:spcAft>
              <a:defRPr sz="1400" b="0">
                <a:solidFill>
                  <a:srgbClr val="66716F"/>
                </a:solidFill>
                <a:latin typeface="Noto Sans CJK KR"/>
              </a:defRPr>
            </a:pPr>
            <a:r>
              <a:rPr>
                <a:ea typeface="Noto Sans CJK KR"/>
              </a:rPr>
              <a:t>USB·Bluetooth 지연을 나눠 기록</a:t>
            </a:r>
          </a:p>
        </p:txBody>
      </p:sp>
      <p:cxnSp>
        <p:nvCxnSpPr>
          <p:cNvPr id="17" name="Connector 16"/>
          <p:cNvCxnSpPr/>
          <p:nvPr/>
        </p:nvCxnSpPr>
        <p:spPr>
          <a:xfrm>
            <a:off x="4673600" y="5041900"/>
            <a:ext cx="2844799" cy="0"/>
          </a:xfrm>
          <a:prstGeom prst="line">
            <a:avLst/>
          </a:prstGeom>
          <a:ln w="15240">
            <a:solidFill>
              <a:srgbClr val="DADBD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673600" y="5257800"/>
            <a:ext cx="2857500" cy="3175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평균 · 분포 · 최악 지연</a:t>
            </a:r>
          </a:p>
        </p:txBody>
      </p:sp>
      <p:sp>
        <p:nvSpPr>
          <p:cNvPr id="19" name="Rounded Rectangle 18"/>
          <p:cNvSpPr/>
          <p:nvPr/>
        </p:nvSpPr>
        <p:spPr>
          <a:xfrm>
            <a:off x="8128000" y="2768600"/>
            <a:ext cx="3352800" cy="2882900"/>
          </a:xfrm>
          <a:prstGeom prst="roundRect">
            <a:avLst>
              <a:gd name="adj" fmla="val 3524"/>
            </a:avLst>
          </a:prstGeom>
          <a:solidFill>
            <a:srgbClr val="FFFFFF"/>
          </a:solidFill>
          <a:ln w="8890">
            <a:solidFill>
              <a:srgbClr val="DADB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1999" y="2971800"/>
            <a:ext cx="2794000" cy="317500"/>
          </a:xfrm>
          <a:prstGeom prst="rect">
            <a:avLst/>
          </a:prstGeom>
          <a:noFill/>
        </p:spPr>
        <p:txBody>
          <a:bodyPr wrap="square" lIns="0" rIns="0" tIns="0" bIns="0">
            <a:spAutoFit/>
          </a:bodyPr>
          <a:lstStyle/>
          <a:p>
            <a:pPr>
              <a:lnSpc>
                <a:spcPct val="118000"/>
              </a:lnSpc>
              <a:spcBef>
                <a:spcPts val="0"/>
              </a:spcBef>
              <a:spcAft>
                <a:spcPts val="0"/>
              </a:spcAft>
              <a:defRPr sz="1400" b="1">
                <a:solidFill>
                  <a:srgbClr val="C45831"/>
                </a:solidFill>
                <a:latin typeface="Noto Sans CJK KR"/>
              </a:defRPr>
            </a:pPr>
            <a:r>
              <a:rPr>
                <a:ea typeface="Noto Sans CJK KR"/>
              </a:rPr>
              <a:t>03</a:t>
            </a:r>
          </a:p>
        </p:txBody>
      </p:sp>
      <p:sp>
        <p:nvSpPr>
          <p:cNvPr id="21" name="TextBox 20"/>
          <p:cNvSpPr txBox="1"/>
          <p:nvPr/>
        </p:nvSpPr>
        <p:spPr>
          <a:xfrm>
            <a:off x="8381999" y="3492500"/>
            <a:ext cx="2794000" cy="393700"/>
          </a:xfrm>
          <a:prstGeom prst="rect">
            <a:avLst/>
          </a:prstGeom>
          <a:noFill/>
        </p:spPr>
        <p:txBody>
          <a:bodyPr wrap="square" lIns="0" rIns="0" tIns="0" bIns="0">
            <a:spAutoFit/>
          </a:bodyPr>
          <a:lstStyle/>
          <a:p>
            <a:pPr>
              <a:lnSpc>
                <a:spcPct val="118000"/>
              </a:lnSpc>
              <a:spcBef>
                <a:spcPts val="0"/>
              </a:spcBef>
              <a:spcAft>
                <a:spcPts val="0"/>
              </a:spcAft>
              <a:defRPr sz="2100" b="1">
                <a:solidFill>
                  <a:srgbClr val="151D21"/>
                </a:solidFill>
                <a:latin typeface="Noto Sans CJK KR"/>
              </a:defRPr>
            </a:pPr>
            <a:r>
              <a:rPr>
                <a:ea typeface="Noto Sans CJK KR"/>
              </a:rPr>
              <a:t>청각 구별 성능</a:t>
            </a:r>
          </a:p>
        </p:txBody>
      </p:sp>
      <p:sp>
        <p:nvSpPr>
          <p:cNvPr id="22" name="TextBox 21"/>
          <p:cNvSpPr txBox="1"/>
          <p:nvPr/>
        </p:nvSpPr>
        <p:spPr>
          <a:xfrm>
            <a:off x="8381999" y="4114800"/>
            <a:ext cx="2857500" cy="838200"/>
          </a:xfrm>
          <a:prstGeom prst="rect">
            <a:avLst/>
          </a:prstGeom>
          <a:noFill/>
        </p:spPr>
        <p:txBody>
          <a:bodyPr wrap="square" lIns="0" rIns="0" tIns="0" bIns="0">
            <a:spAutoFit/>
          </a:bodyPr>
          <a:lstStyle/>
          <a:p>
            <a:pPr>
              <a:lnSpc>
                <a:spcPct val="118000"/>
              </a:lnSpc>
              <a:spcBef>
                <a:spcPts val="0"/>
              </a:spcBef>
              <a:spcAft>
                <a:spcPts val="0"/>
              </a:spcAft>
              <a:defRPr sz="1400" b="0">
                <a:solidFill>
                  <a:srgbClr val="66716F"/>
                </a:solidFill>
                <a:latin typeface="Noto Sans CJK KR"/>
              </a:defRPr>
            </a:pPr>
            <a:r>
              <a:rPr>
                <a:ea typeface="Noto Sans CJK KR"/>
              </a:rPr>
              <a:t>정지 상태에서 좌·중·우 맞히기</a:t>
            </a:r>
          </a:p>
          <a:p>
            <a:pPr>
              <a:lnSpc>
                <a:spcPct val="118000"/>
              </a:lnSpc>
              <a:spcBef>
                <a:spcPts val="0"/>
              </a:spcBef>
              <a:spcAft>
                <a:spcPts val="0"/>
              </a:spcAft>
              <a:defRPr sz="1400" b="0">
                <a:solidFill>
                  <a:srgbClr val="66716F"/>
                </a:solidFill>
                <a:latin typeface="Noto Sans CJK KR"/>
              </a:defRPr>
            </a:pPr>
            <a:r>
              <a:rPr>
                <a:ea typeface="Noto Sans CJK KR"/>
              </a:rPr>
              <a:t>최대 1·3·5방향을 비교</a:t>
            </a:r>
          </a:p>
        </p:txBody>
      </p:sp>
      <p:cxnSp>
        <p:nvCxnSpPr>
          <p:cNvPr id="23" name="Connector 22"/>
          <p:cNvCxnSpPr/>
          <p:nvPr/>
        </p:nvCxnSpPr>
        <p:spPr>
          <a:xfrm>
            <a:off x="8381999" y="5041900"/>
            <a:ext cx="2844801" cy="0"/>
          </a:xfrm>
          <a:prstGeom prst="line">
            <a:avLst/>
          </a:prstGeom>
          <a:ln w="15240">
            <a:solidFill>
              <a:srgbClr val="DADBD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381999" y="5257800"/>
            <a:ext cx="2857500" cy="317500"/>
          </a:xfrm>
          <a:prstGeom prst="rect">
            <a:avLst/>
          </a:prstGeom>
          <a:noFill/>
        </p:spPr>
        <p:txBody>
          <a:bodyPr wrap="square" lIns="0" rIns="0" tIns="0" bIns="0">
            <a:spAutoFit/>
          </a:bodyPr>
          <a:lstStyle/>
          <a:p>
            <a:pPr>
              <a:lnSpc>
                <a:spcPct val="118000"/>
              </a:lnSpc>
              <a:spcBef>
                <a:spcPts val="0"/>
              </a:spcBef>
              <a:spcAft>
                <a:spcPts val="0"/>
              </a:spcAft>
              <a:defRPr sz="1200" b="1">
                <a:solidFill>
                  <a:srgbClr val="287F89"/>
                </a:solidFill>
                <a:latin typeface="Noto Sans CJK KR"/>
              </a:defRPr>
            </a:pPr>
            <a:r>
              <a:rPr>
                <a:ea typeface="Noto Sans CJK KR"/>
              </a:rPr>
              <a:t>방향 정답률 · 응답 시간</a:t>
            </a:r>
          </a:p>
        </p:txBody>
      </p:sp>
      <p:sp>
        <p:nvSpPr>
          <p:cNvPr id="25" name="TextBox 24"/>
          <p:cNvSpPr txBox="1"/>
          <p:nvPr/>
        </p:nvSpPr>
        <p:spPr>
          <a:xfrm>
            <a:off x="736600" y="5905500"/>
            <a:ext cx="10668000" cy="355600"/>
          </a:xfrm>
          <a:prstGeom prst="rect">
            <a:avLst/>
          </a:prstGeom>
          <a:noFill/>
        </p:spPr>
        <p:txBody>
          <a:bodyPr wrap="square" lIns="0" rIns="0" tIns="0" bIns="0">
            <a:spAutoFit/>
          </a:bodyPr>
          <a:lstStyle/>
          <a:p>
            <a:pPr>
              <a:lnSpc>
                <a:spcPct val="118000"/>
              </a:lnSpc>
              <a:spcBef>
                <a:spcPts val="0"/>
              </a:spcBef>
              <a:spcAft>
                <a:spcPts val="0"/>
              </a:spcAft>
              <a:defRPr sz="1300" b="0">
                <a:solidFill>
                  <a:srgbClr val="66716F"/>
                </a:solidFill>
                <a:latin typeface="Noto Sans CJK KR"/>
              </a:defRPr>
            </a:pPr>
            <a:r>
              <a:rPr>
                <a:ea typeface="Noto Sans CJK KR"/>
              </a:rPr>
              <a:t>1초 스캔은 예약 주기다. 센서 갱신과 실제 소리 도달 지연은 별도로 측정한다.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1D21"/>
        </a:solidFill>
        <a:effectLst/>
      </p:bgPr>
    </p:bg>
    <p:spTree>
      <p:nvGrpSpPr>
        <p:cNvPr id="1" name=""/>
        <p:cNvGrpSpPr/>
        <p:nvPr/>
      </p:nvGrpSpPr>
      <p:grpSpPr/>
      <p:sp>
        <p:nvSpPr>
          <p:cNvPr id="2" name="TextBox 1"/>
          <p:cNvSpPr txBox="1"/>
          <p:nvPr/>
        </p:nvSpPr>
        <p:spPr>
          <a:xfrm>
            <a:off x="711200" y="393700"/>
            <a:ext cx="10541000" cy="254000"/>
          </a:xfrm>
          <a:prstGeom prst="rect">
            <a:avLst/>
          </a:prstGeom>
          <a:noFill/>
        </p:spPr>
        <p:txBody>
          <a:bodyPr wrap="square" lIns="0" rIns="0" tIns="0" bIns="0">
            <a:spAutoFit/>
          </a:bodyPr>
          <a:lstStyle/>
          <a:p>
            <a:pPr>
              <a:lnSpc>
                <a:spcPct val="118000"/>
              </a:lnSpc>
              <a:spcBef>
                <a:spcPts val="0"/>
              </a:spcBef>
              <a:spcAft>
                <a:spcPts val="0"/>
              </a:spcAft>
              <a:defRPr sz="1100" b="1">
                <a:solidFill>
                  <a:srgbClr val="C45831"/>
                </a:solidFill>
                <a:latin typeface="Noto Sans CJK KR"/>
              </a:defRPr>
            </a:pPr>
            <a:r>
              <a:rPr>
                <a:ea typeface="Noto Sans CJK KR"/>
              </a:rPr>
              <a:t>남은 과제 · 다음 단계</a:t>
            </a:r>
          </a:p>
        </p:txBody>
      </p:sp>
      <p:sp>
        <p:nvSpPr>
          <p:cNvPr id="3" name="TextBox 2"/>
          <p:cNvSpPr txBox="1"/>
          <p:nvPr/>
        </p:nvSpPr>
        <p:spPr>
          <a:xfrm>
            <a:off x="711200" y="965200"/>
            <a:ext cx="10795000" cy="1193800"/>
          </a:xfrm>
          <a:prstGeom prst="rect">
            <a:avLst/>
          </a:prstGeom>
          <a:noFill/>
        </p:spPr>
        <p:txBody>
          <a:bodyPr wrap="square" lIns="0" rIns="0" tIns="0" bIns="0">
            <a:spAutoFit/>
          </a:bodyPr>
          <a:lstStyle/>
          <a:p>
            <a:pPr>
              <a:lnSpc>
                <a:spcPct val="118000"/>
              </a:lnSpc>
              <a:spcBef>
                <a:spcPts val="0"/>
              </a:spcBef>
              <a:spcAft>
                <a:spcPts val="0"/>
              </a:spcAft>
              <a:defRPr sz="3100" b="1">
                <a:solidFill>
                  <a:srgbClr val="FFFFFF"/>
                </a:solidFill>
                <a:latin typeface="Noto Sans CJK KR"/>
              </a:defRPr>
            </a:pPr>
            <a:r>
              <a:rPr>
                <a:ea typeface="Noto Sans CJK KR"/>
              </a:rPr>
              <a:t>다음 목표는</a:t>
            </a:r>
          </a:p>
          <a:p>
            <a:pPr>
              <a:lnSpc>
                <a:spcPct val="118000"/>
              </a:lnSpc>
              <a:spcBef>
                <a:spcPts val="0"/>
              </a:spcBef>
              <a:spcAft>
                <a:spcPts val="0"/>
              </a:spcAft>
              <a:defRPr sz="3100" b="1">
                <a:solidFill>
                  <a:srgbClr val="FFFFFF"/>
                </a:solidFill>
                <a:latin typeface="Noto Sans CJK KR"/>
              </a:defRPr>
            </a:pPr>
            <a:r>
              <a:rPr>
                <a:ea typeface="Noto Sans CJK KR"/>
              </a:rPr>
              <a:t>‘들린다’에서 ‘구별할 수 있다’로</a:t>
            </a:r>
          </a:p>
        </p:txBody>
      </p:sp>
      <p:cxnSp>
        <p:nvCxnSpPr>
          <p:cNvPr id="4" name="Connector 3"/>
          <p:cNvCxnSpPr/>
          <p:nvPr/>
        </p:nvCxnSpPr>
        <p:spPr>
          <a:xfrm>
            <a:off x="711200" y="6400800"/>
            <a:ext cx="10769600" cy="0"/>
          </a:xfrm>
          <a:prstGeom prst="line">
            <a:avLst/>
          </a:prstGeom>
          <a:ln w="7620">
            <a:solidFill>
              <a:srgbClr val="3A47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11200" y="6540500"/>
            <a:ext cx="7620000" cy="203200"/>
          </a:xfrm>
          <a:prstGeom prst="rect">
            <a:avLst/>
          </a:prstGeom>
          <a:noFill/>
        </p:spPr>
        <p:txBody>
          <a:bodyPr wrap="square" lIns="0" rIns="0" tIns="0" bIns="0">
            <a:spAutoFit/>
          </a:bodyPr>
          <a:lstStyle/>
          <a:p>
            <a:pPr>
              <a:lnSpc>
                <a:spcPct val="118000"/>
              </a:lnSpc>
              <a:spcBef>
                <a:spcPts val="0"/>
              </a:spcBef>
              <a:spcAft>
                <a:spcPts val="0"/>
              </a:spcAft>
              <a:defRPr sz="900" b="0">
                <a:solidFill>
                  <a:srgbClr val="ACBBB9"/>
                </a:solidFill>
                <a:latin typeface="Noto Sans CJK KR"/>
              </a:defRPr>
            </a:pPr>
            <a:r>
              <a:rPr>
                <a:ea typeface="Noto Sans CJK KR"/>
              </a:rPr>
              <a:t>PBL1 · Third Eye</a:t>
            </a:r>
          </a:p>
        </p:txBody>
      </p:sp>
      <p:sp>
        <p:nvSpPr>
          <p:cNvPr id="6" name="TextBox 5"/>
          <p:cNvSpPr txBox="1"/>
          <p:nvPr/>
        </p:nvSpPr>
        <p:spPr>
          <a:xfrm>
            <a:off x="10922000" y="6489700"/>
            <a:ext cx="558800" cy="254000"/>
          </a:xfrm>
          <a:prstGeom prst="rect">
            <a:avLst/>
          </a:prstGeom>
          <a:noFill/>
        </p:spPr>
        <p:txBody>
          <a:bodyPr wrap="square" lIns="0" rIns="0" tIns="0" bIns="0">
            <a:spAutoFit/>
          </a:bodyPr>
          <a:lstStyle/>
          <a:p>
            <a:pPr algn="r">
              <a:lnSpc>
                <a:spcPct val="118000"/>
              </a:lnSpc>
              <a:spcBef>
                <a:spcPts val="0"/>
              </a:spcBef>
              <a:spcAft>
                <a:spcPts val="0"/>
              </a:spcAft>
              <a:defRPr sz="1100" b="0">
                <a:solidFill>
                  <a:srgbClr val="ACBBB9"/>
                </a:solidFill>
                <a:latin typeface="Noto Sans CJK KR"/>
              </a:defRPr>
            </a:pPr>
            <a:r>
              <a:rPr>
                <a:ea typeface="Noto Sans CJK KR"/>
              </a:rPr>
              <a:t>14</a:t>
            </a:r>
          </a:p>
        </p:txBody>
      </p:sp>
      <p:sp>
        <p:nvSpPr>
          <p:cNvPr id="7" name="TextBox 6"/>
          <p:cNvSpPr txBox="1"/>
          <p:nvPr/>
        </p:nvSpPr>
        <p:spPr>
          <a:xfrm>
            <a:off x="736600" y="2743200"/>
            <a:ext cx="558800" cy="3302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01</a:t>
            </a:r>
          </a:p>
        </p:txBody>
      </p:sp>
      <p:sp>
        <p:nvSpPr>
          <p:cNvPr id="8" name="TextBox 7"/>
          <p:cNvSpPr txBox="1"/>
          <p:nvPr/>
        </p:nvSpPr>
        <p:spPr>
          <a:xfrm>
            <a:off x="1460500" y="2705100"/>
            <a:ext cx="4064000" cy="406400"/>
          </a:xfrm>
          <a:prstGeom prst="rect">
            <a:avLst/>
          </a:prstGeom>
          <a:noFill/>
        </p:spPr>
        <p:txBody>
          <a:bodyPr wrap="square" lIns="0" rIns="0" tIns="0" bIns="0">
            <a:spAutoFit/>
          </a:bodyPr>
          <a:lstStyle/>
          <a:p>
            <a:pPr>
              <a:lnSpc>
                <a:spcPct val="118000"/>
              </a:lnSpc>
              <a:spcBef>
                <a:spcPts val="0"/>
              </a:spcBef>
              <a:spcAft>
                <a:spcPts val="0"/>
              </a:spcAft>
              <a:defRPr sz="2200" b="1">
                <a:solidFill>
                  <a:srgbClr val="FFFFFF"/>
                </a:solidFill>
                <a:latin typeface="Noto Sans CJK KR"/>
              </a:defRPr>
            </a:pPr>
            <a:r>
              <a:rPr>
                <a:ea typeface="Noto Sans CJK KR"/>
              </a:rPr>
              <a:t>실환경 소리 튜닝</a:t>
            </a:r>
          </a:p>
        </p:txBody>
      </p:sp>
      <p:sp>
        <p:nvSpPr>
          <p:cNvPr id="9" name="TextBox 8"/>
          <p:cNvSpPr txBox="1"/>
          <p:nvPr/>
        </p:nvSpPr>
        <p:spPr>
          <a:xfrm>
            <a:off x="1460500" y="3175000"/>
            <a:ext cx="9652000" cy="355600"/>
          </a:xfrm>
          <a:prstGeom prst="rect">
            <a:avLst/>
          </a:prstGeom>
          <a:noFill/>
        </p:spPr>
        <p:txBody>
          <a:bodyPr wrap="square" lIns="0" rIns="0" tIns="0" bIns="0">
            <a:spAutoFit/>
          </a:bodyPr>
          <a:lstStyle/>
          <a:p>
            <a:pPr>
              <a:lnSpc>
                <a:spcPct val="118000"/>
              </a:lnSpc>
              <a:spcBef>
                <a:spcPts val="0"/>
              </a:spcBef>
              <a:spcAft>
                <a:spcPts val="0"/>
              </a:spcAft>
              <a:defRPr sz="1500" b="0">
                <a:solidFill>
                  <a:srgbClr val="ACBBB9"/>
                </a:solidFill>
                <a:latin typeface="Noto Sans CJK KR"/>
              </a:defRPr>
            </a:pPr>
            <a:r>
              <a:rPr>
                <a:ea typeface="Noto Sans CJK KR"/>
              </a:rPr>
              <a:t>정량 실험으로 방향 수·음량 곡선·스캔 속도 비교</a:t>
            </a:r>
          </a:p>
        </p:txBody>
      </p:sp>
      <p:sp>
        <p:nvSpPr>
          <p:cNvPr id="10" name="TextBox 9"/>
          <p:cNvSpPr txBox="1"/>
          <p:nvPr/>
        </p:nvSpPr>
        <p:spPr>
          <a:xfrm>
            <a:off x="736600" y="3695700"/>
            <a:ext cx="558800" cy="3302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02</a:t>
            </a:r>
          </a:p>
        </p:txBody>
      </p:sp>
      <p:sp>
        <p:nvSpPr>
          <p:cNvPr id="11" name="TextBox 10"/>
          <p:cNvSpPr txBox="1"/>
          <p:nvPr/>
        </p:nvSpPr>
        <p:spPr>
          <a:xfrm>
            <a:off x="1460500" y="3657600"/>
            <a:ext cx="4064000" cy="406400"/>
          </a:xfrm>
          <a:prstGeom prst="rect">
            <a:avLst/>
          </a:prstGeom>
          <a:noFill/>
        </p:spPr>
        <p:txBody>
          <a:bodyPr wrap="square" lIns="0" rIns="0" tIns="0" bIns="0">
            <a:spAutoFit/>
          </a:bodyPr>
          <a:lstStyle/>
          <a:p>
            <a:pPr>
              <a:lnSpc>
                <a:spcPct val="118000"/>
              </a:lnSpc>
              <a:spcBef>
                <a:spcPts val="0"/>
              </a:spcBef>
              <a:spcAft>
                <a:spcPts val="0"/>
              </a:spcAft>
              <a:defRPr sz="2200" b="1">
                <a:solidFill>
                  <a:srgbClr val="FFFFFF"/>
                </a:solidFill>
                <a:latin typeface="Noto Sans CJK KR"/>
              </a:defRPr>
            </a:pPr>
            <a:r>
              <a:rPr>
                <a:ea typeface="Noto Sans CJK KR"/>
              </a:rPr>
              <a:t>대상과 의미 연결</a:t>
            </a:r>
          </a:p>
        </p:txBody>
      </p:sp>
      <p:sp>
        <p:nvSpPr>
          <p:cNvPr id="12" name="TextBox 11"/>
          <p:cNvSpPr txBox="1"/>
          <p:nvPr/>
        </p:nvSpPr>
        <p:spPr>
          <a:xfrm>
            <a:off x="1460500" y="4127500"/>
            <a:ext cx="9652000" cy="355600"/>
          </a:xfrm>
          <a:prstGeom prst="rect">
            <a:avLst/>
          </a:prstGeom>
          <a:noFill/>
        </p:spPr>
        <p:txBody>
          <a:bodyPr wrap="square" lIns="0" rIns="0" tIns="0" bIns="0">
            <a:spAutoFit/>
          </a:bodyPr>
          <a:lstStyle/>
          <a:p>
            <a:pPr>
              <a:lnSpc>
                <a:spcPct val="118000"/>
              </a:lnSpc>
              <a:spcBef>
                <a:spcPts val="0"/>
              </a:spcBef>
              <a:spcAft>
                <a:spcPts val="0"/>
              </a:spcAft>
              <a:defRPr sz="1500" b="0">
                <a:solidFill>
                  <a:srgbClr val="ACBBB9"/>
                </a:solidFill>
                <a:latin typeface="Noto Sans CJK KR"/>
              </a:defRPr>
            </a:pPr>
            <a:r>
              <a:rPr>
                <a:ea typeface="Noto Sans CJK KR"/>
              </a:rPr>
              <a:t>표면 묶기·추적, 위험도 판단, 카메라–거리 대응</a:t>
            </a:r>
          </a:p>
        </p:txBody>
      </p:sp>
      <p:sp>
        <p:nvSpPr>
          <p:cNvPr id="13" name="TextBox 12"/>
          <p:cNvSpPr txBox="1"/>
          <p:nvPr/>
        </p:nvSpPr>
        <p:spPr>
          <a:xfrm>
            <a:off x="736600" y="4648200"/>
            <a:ext cx="558800" cy="330200"/>
          </a:xfrm>
          <a:prstGeom prst="rect">
            <a:avLst/>
          </a:prstGeom>
          <a:noFill/>
        </p:spPr>
        <p:txBody>
          <a:bodyPr wrap="square" lIns="0" rIns="0" tIns="0" bIns="0">
            <a:spAutoFit/>
          </a:bodyPr>
          <a:lstStyle/>
          <a:p>
            <a:pPr>
              <a:lnSpc>
                <a:spcPct val="118000"/>
              </a:lnSpc>
              <a:spcBef>
                <a:spcPts val="0"/>
              </a:spcBef>
              <a:spcAft>
                <a:spcPts val="0"/>
              </a:spcAft>
              <a:defRPr sz="1500" b="1">
                <a:solidFill>
                  <a:srgbClr val="C45831"/>
                </a:solidFill>
                <a:latin typeface="Noto Sans CJK KR"/>
              </a:defRPr>
            </a:pPr>
            <a:r>
              <a:rPr>
                <a:ea typeface="Noto Sans CJK KR"/>
              </a:rPr>
              <a:t>03</a:t>
            </a:r>
          </a:p>
        </p:txBody>
      </p:sp>
      <p:sp>
        <p:nvSpPr>
          <p:cNvPr id="14" name="TextBox 13"/>
          <p:cNvSpPr txBox="1"/>
          <p:nvPr/>
        </p:nvSpPr>
        <p:spPr>
          <a:xfrm>
            <a:off x="1460500" y="4610100"/>
            <a:ext cx="4064000" cy="406400"/>
          </a:xfrm>
          <a:prstGeom prst="rect">
            <a:avLst/>
          </a:prstGeom>
          <a:noFill/>
        </p:spPr>
        <p:txBody>
          <a:bodyPr wrap="square" lIns="0" rIns="0" tIns="0" bIns="0">
            <a:spAutoFit/>
          </a:bodyPr>
          <a:lstStyle/>
          <a:p>
            <a:pPr>
              <a:lnSpc>
                <a:spcPct val="118000"/>
              </a:lnSpc>
              <a:spcBef>
                <a:spcPts val="0"/>
              </a:spcBef>
              <a:spcAft>
                <a:spcPts val="0"/>
              </a:spcAft>
              <a:defRPr sz="2200" b="1">
                <a:solidFill>
                  <a:srgbClr val="FFFFFF"/>
                </a:solidFill>
                <a:latin typeface="Noto Sans CJK KR"/>
              </a:defRPr>
            </a:pPr>
            <a:r>
              <a:rPr>
                <a:ea typeface="Noto Sans CJK KR"/>
              </a:rPr>
              <a:t>착용 형태와 사용자 평가</a:t>
            </a:r>
          </a:p>
        </p:txBody>
      </p:sp>
      <p:sp>
        <p:nvSpPr>
          <p:cNvPr id="15" name="TextBox 14"/>
          <p:cNvSpPr txBox="1"/>
          <p:nvPr/>
        </p:nvSpPr>
        <p:spPr>
          <a:xfrm>
            <a:off x="1460500" y="5080000"/>
            <a:ext cx="9652000" cy="355600"/>
          </a:xfrm>
          <a:prstGeom prst="rect">
            <a:avLst/>
          </a:prstGeom>
          <a:noFill/>
        </p:spPr>
        <p:txBody>
          <a:bodyPr wrap="square" lIns="0" rIns="0" tIns="0" bIns="0">
            <a:spAutoFit/>
          </a:bodyPr>
          <a:lstStyle/>
          <a:p>
            <a:pPr>
              <a:lnSpc>
                <a:spcPct val="118000"/>
              </a:lnSpc>
              <a:spcBef>
                <a:spcPts val="0"/>
              </a:spcBef>
              <a:spcAft>
                <a:spcPts val="0"/>
              </a:spcAft>
              <a:defRPr sz="1500" b="0">
                <a:solidFill>
                  <a:srgbClr val="ACBBB9"/>
                </a:solidFill>
                <a:latin typeface="Noto Sans CJK KR"/>
              </a:defRPr>
            </a:pPr>
            <a:r>
              <a:rPr>
                <a:ea typeface="Noto Sans CJK KR"/>
              </a:rPr>
              <a:t>배선 정리·안경형 구조·착용 오차와 사용성 확인</a:t>
            </a:r>
          </a:p>
        </p:txBody>
      </p:sp>
      <p:sp>
        <p:nvSpPr>
          <p:cNvPr id="16" name="Rounded Rectangle 15"/>
          <p:cNvSpPr/>
          <p:nvPr/>
        </p:nvSpPr>
        <p:spPr>
          <a:xfrm>
            <a:off x="711200" y="5702300"/>
            <a:ext cx="10769600" cy="520700"/>
          </a:xfrm>
          <a:prstGeom prst="roundRect">
            <a:avLst>
              <a:gd name="adj" fmla="val 9756"/>
            </a:avLst>
          </a:prstGeom>
          <a:solidFill>
            <a:srgbClr val="287F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2500" y="5842000"/>
            <a:ext cx="10287000" cy="317500"/>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Noto Sans CJK KR"/>
              </a:defRPr>
            </a:pPr>
            <a:r>
              <a:rPr>
                <a:ea typeface="Noto Sans CJK KR"/>
              </a:rPr>
              <a:t>이번 성과: 두 센서의 실측 거리 → 세밀한 방향음 → 순차 스캔까지 연결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 Eye — 중간 발표</dc:title>
  <dc:subject>두 ToF 센서의 8×8 거리 측정, HRTF 방향음과 레이더식 청각 스캔</dc:subject>
  <dc:creator>최배종 · 임종민</dc:creator>
  <cp:keywords>Third Eye, ToF, VL53L8CX, HRTF, 청각 스캔, 중간 발표</cp:keywords>
  <dc:description>2026-10-26 현재 코드와 사용자 실기기 확인을 반영한 14장 발표 자료. 모든 슬라이드의 텍스트와 도형은 편집 가능.</dc:description>
  <cp:lastModifiedBy>Steve Canny</cp:lastModifiedBy>
  <cp:revision>1</cp:revision>
  <dcterms:created xsi:type="dcterms:W3CDTF">2013-01-27T09:14:16Z</dcterms:created>
  <dcterms:modified xsi:type="dcterms:W3CDTF">2013-01-27T09:15:58Z</dcterms:modified>
  <cp:category/>
</cp:coreProperties>
</file>