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도입 · 약 40초</a:t>
            </a:r>
          </a:p>
          <a:p/>
          <a:p>
            <a:r>
              <a:t>Third Eye는 시각 정보를 소리로 전달하는 보조 장치를 목표로 하는 프로젝트입니다. 지난 발표 때는 센서 조립과 소리 설계가 중심이었습니다. 이번에는 두 센서의 실제 거리 격자를 휴대폰으로 받고, 측정한 방향에서 소리가 나는 단계까지 연결했습니다. 오늘은 어떻게 거리를 방향음으로 바꾸었는지, 그리고 여러 방향의 정보를 한꺼번에 들려주지 않기 위해 도입한 레이더식 스캔을 설명하겠습니다.</a:t>
            </a:r>
          </a:p>
          <a:p/>
          <a:p>
            <a:r>
              <a:t>근거 / 참고</a:t>
            </a:r>
          </a:p>
          <a:p>
            <a:r>
              <a:t>현재 앱 0.11.2-scan / feature/radar-scan. 사용자가 두 센서 격자·소리 출력·방향 동작을 확인한 대화 기록 기준.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계기와 개념 · 약 1분</a:t>
            </a:r>
          </a:p>
          <a:p/>
          <a:p>
            <a:r>
              <a:t>처음의 관심은 보이는 사람이 보이지 않는 것을 보는 방법이었습니다. 여기서 질문을 뒤집어, 보이는 것을 볼 수 없는 사람에게 전달하려면 어떻게 해야 할지 생각했습니다. 그 결과 시각 정보를 청각으로 바꾸는 장치를 구상했습니다. 우리가 만드는 장치는 두 ToF 센서로 전방의 거리와 방향을 측정하고 이를 HRTF 방향음과 거리별 음량으로 변환해 이어폰으로 전달합니다. 반향정위에서 공간을 소리로 이해한다는 발상을 얻었지만, 사용자가 반사음을 직접 해석하는 방식과는 다릅니다.</a:t>
            </a:r>
          </a:p>
          <a:p/>
          <a:p>
            <a:r>
              <a:t>근거 / 참고</a:t>
            </a:r>
          </a:p>
          <a:p>
            <a:r>
              <a:t>사용자가 처음 제공한 PDF 2·3페이지와 이번 수정 요청의 아이디어 계기를 통합.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목표와 이번 범위 · 약 50초</a:t>
            </a:r>
          </a:p>
          <a:p/>
          <a:p>
            <a:r>
              <a:t>최종적으로는 이동 보조와 물체 상호작용이라는 두 목표를 갖고 있습니다. 이동에서는 넓은 전방 공간의 거리와 방향이 중요하고, 물체를 집는 경우에는 중앙의 물체 이름과 정확한 거리 대응이 필요합니다. 이번 진행의 중심은 첫 번째 목표를 위한 거리와 방향의 전달입니다. 다만 소리가 난다는 것과 실제로 보행에 도움이 된다는 것은 검증 단계가 다릅니다. 보행 효용은 앞으로 정량 실험으로 확인할 예정입니다.</a:t>
            </a:r>
          </a:p>
          <a:p/>
          <a:p>
            <a:r>
              <a:t>근거 / 참고</a:t>
            </a:r>
          </a:p>
          <a:p>
            <a:r>
              <a:t>원본 PDF 4페이지 갱신. 범위는 프로젝트의 관심·설계 범위이며 센서의 절대 정확도 보장 구간이 아님.</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하드웨어와 실제 제작물 · 약 1분</a:t>
            </a:r>
          </a:p>
          <a:p/>
          <a:p>
            <a:r>
              <a:t>왼쪽은 시스템 구성이고 오른쪽은 이 구성에 따라 직접 연결한 테스트용 프로토타입입니다. VL53L8CX 두 개와 XIAO ESP32-S3 Sense를 점퍼선으로 연결했습니다. ESP32는 거리와 카메라 영상을 USB로 보내고 휴대폰이 객체 인식과 소리 합성을 담당합니다. 이 사진은 최종 안경 형태가 아니라 기능을 검증하기 위해 제작한 구조입니다. 다음 장에서는 이 프로토타입에서 Y형 점퍼선을 사용해 두 센서가 배선을 공유하면서도 각각의 측정값을 구분하는 방법을 설명하겠습니다.</a:t>
            </a:r>
          </a:p>
          <a:p/>
          <a:p>
            <a:r>
              <a:t>근거 / 참고</a:t>
            </a:r>
          </a:p>
          <a:p>
            <a:r>
              <a:t>사진 1: 사용자가 보낸 실제 테스트 프로토타입. 물품 구매·납땜·프로토타입 제작 완료는 사용자의 이번 진행 상황 확인을 반영.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Y선과 주소 충돌 해결 · 약 1분</a:t>
            </a:r>
          </a:p>
          <a:p/>
          <a:p>
            <a:r>
              <a:t>사진의 Y형 점퍼선은 한 연결을 두 갈래로 나눠 두 센서가 전원과 I²C 통신선을 공유하게 합니다. Y형으로 나눴다는 것만으로 센서가 구분되지는 않습니다. 같은 모델은 처음 주소가 같기 때문에, LP를 따로 제어해 한 센서씩 통신 가능하게 한 뒤 A는 0x2A, B는 0x2B로 설정합니다. 이후 두 센서를 함께 켜면 같은 SDA·SCL에서 서로 다른 주소로 값을 읽을 수 있습니다. 따라서 공유하는 선과 센서별로 분리해야 하는 LP 제어선을 구분하는 것이 핵심입니다.</a:t>
            </a:r>
          </a:p>
          <a:p/>
          <a:p>
            <a:r>
              <a:t>근거 / 참고</a:t>
            </a:r>
          </a:p>
          <a:p>
            <a:r>
              <a:t>사진 2: 사용자가 직접 제작한 Y형 점퍼선. ThirdEyeSenseUsb.ino의 prepare/setupTof. LP는 통신 분리용이며 완전한 전원 리셋이 아님. ST API의 8비트 주소는 각각 0x54/0x56.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L8 격자와 실제 측정 화면 · 약 1분 5초</a:t>
            </a:r>
          </a:p>
          <a:p/>
          <a:p>
            <a:r>
              <a:t>사용한 센서는 VL53L8CX, 줄여서 L8 센서입니다. ToF 방식으로 적외선의 왕복 시간을 이용해 거리를 측정하며, 각 센서가 8×8의 64개 영역을 출력합니다. 오른쪽 사진은 앱에서 실제로 수신한 두 센서의 거리값이며 단위는 mm입니다. 두 센서의 측정값은 총 128개이고, 단순한 좌우 배치 개념으로 표현하면 가로 16칸, 세로 8칸입니다. 각 칸의 위치와 장착각으로 방위와 고도를 추정합니다. 사진의 수치는 특정 장면의 측정 예시이며 거리 정확도를 평가한 결과는 아닙니다. 현재는 8×8·5Hz 설정과 약 500ms 전송 목표를 사용하고 장착각과 격자 회전·반전 보정은 별도로 확인합니다.</a:t>
            </a:r>
          </a:p>
          <a:p/>
          <a:p>
            <a:r>
              <a:t>근거 / 참고</a:t>
            </a:r>
          </a:p>
          <a:p>
            <a:r>
              <a:t>사진 3: 사용자 제공 실제 A/B 8×8 거리 화면. 각 64개, 총 128개. 128×64 해상도가 아님. 현 계산의 좌우 22.5도·명목 FoV는 실험 모델이며 최적 장착각으로 확정한 수치가 아님.</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HRTF 구현 · 약 1분 15초</a:t>
            </a:r>
          </a:p>
          <a:p/>
          <a:p>
            <a:r>
              <a:t>FPS 게임에서 발소리 방향을 짐작하는 경험처럼, 사람은 두 귀에 도착하는 소리의 차이로 방향을 판단합니다. 시간 차이와 음량 차이 외에도 귓바퀴와 머리 때문에 주파수별로 달라지는 특성이 있습니다. HRTF는 Head-Related Transfer Function의 약자로, 이런 방향별 전달 특성을 필터로 표현한 것입니다. 구현에는 MIT KEMAR의 710개 실측 방향에 대한 HRIR을 사용했습니다. 센서 존에서 추정한 방위와 고도에 가까운 필터를 골라 짧은 광대역 신호를 왼쪽과 오른쪽 귀에 다르게 만듭니다. 현재 사용자는 실기기에서 소리와 방향이 잘 나온다고 확인했습니다. 데이터는 연구와 상업적 이용이 가능하지만 Bill Gardner와 Keith Martin을 인용해야 합니다. 일반적인 MIT 소프트웨어 라이선스라고 부르는 대신 데이터의 사용 조건으로 설명합니다. 개인별 귀 모양과는 차이가 있고, 머리 추적이나 뒤쪽 공간 측정은 현재 구현에 포함되지 않습니다.</a:t>
            </a:r>
          </a:p>
          <a:p/>
          <a:p>
            <a:r>
              <a:t>근거 / 참고</a:t>
            </a:r>
          </a:p>
          <a:p>
            <a:r>
              <a:t>SpatialHrirBank.kt, TofSpatialController.kt. 데이터: Bill Gardner / Keith Martin, MIT Media Laboratory (1994), MIT KEMAR. 실측 HRIR 512탭·44.1kHz, 최근접 방향 선택. 그림의 파형은 원리 설명용. 360도 가상 방향 테스트와 실제 전방 센서 관측 범위는 다름.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거리–음량 수식과 곡선 검토 · 약 1분 15초</a:t>
            </a:r>
          </a:p>
          <a:p/>
          <a:p>
            <a:r>
              <a:t>한 점 반복 모드 설명은 발표에서 빼고 거리와 음량의 관계에 집중하겠습니다. 거리 d를 0.2m에서 4m 사이의 근접도 q로 바꾸면 멀리 있을 때 0, 가까울 때 1이 됩니다. 현재 앱의 선형식은 g가 0.12 더하기 0.43q입니다. 비교할 곡선 후보는 같은 양 끝값을 유지한 기하급수식으로, 가까운 구간에서 음량 변화가 더 가파르게 나타납니다. 두 식을 모두 설계 관점에서 검토할 수 있지만 곡선은 아직 앱에 적용하거나 청취 평가를 한 결과가 아닙니다. 실제로 어떤 관계가 거리 구별에 유리한지는 이어폰을 통한 사용자 실험으로 정할 예정입니다. g는 앱의 디지털 게인이므로 체감 음량이나 음압 dB가 선형이라는 의미는 아닙니다.</a:t>
            </a:r>
          </a:p>
          <a:p/>
          <a:p>
            <a:r>
              <a:t>근거 / 참고</a:t>
            </a:r>
          </a:p>
          <a:p>
            <a:r>
              <a:t>DistanceBeepPolicy.kt의 현재 gain은 0.55−0.43×clip((d−0.2)/3.8,0,1)이며 이 슬라이드의 0.12+0.43q와 동치. 곡선 g=0.12×(0.55/0.12)^q는 새 비교 후보이며 미적용·미검증. 0.2m 이하 포화, 4m 초과/무효 측정은 실제 정책에서 무음.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격자와 스캔의 관계 · 약 1분 20초</a:t>
            </a:r>
          </a:p>
          <a:p/>
          <a:p>
            <a:r>
              <a:t>앞선 한 줄 그림은 입력이 한 줄이라는 뜻이 아니라 소리가 재생되는 시간 순서를 나타낸 것이었습니다. 입력은 센서마다 8×8, 총 128개 측정값입니다. 두 센서를 좌우로 나란히 그리면 가로 16칸, 세로 8칸의 개념도로 표현할 수 있으며 가로 128, 세로 64가 아닙니다. 실제 코드는 단순히 두 영상의 열을 이어 붙이지 않고 추정 방위에 따라 16개 구간으로 다시 분류합니다. 각 구간에서는 유효한 측정점 중 가까운 한 점을 고르고 그 점의 높낮이까지 HRTF에 반영합니다. 같은 가로 방향의 세로 여덟 점을 모두 각각 울리는 방식은 현재 구현되어 있지 않습니다. 위아래 여러 대상을 동시에 보존하는 선택 방식은 앞으로 소리 복잡도와 함께 검토할 수 있습니다. 전체 가로 스캔은 1초, 구간당 약 62.5ms이며 빈 구간은 무음으로 유지합니다.</a:t>
            </a:r>
          </a:p>
          <a:p/>
          <a:p>
            <a:r>
              <a:t>근거 / 참고</a:t>
            </a:r>
          </a:p>
          <a:p>
            <a:r>
              <a:t>RadarScanPolicy.candidates()/bin(), TofProjection, RadarScanController. 16×8은 입력 구조 설명용이며 정밀하게 보정·접합된 거리 영상이라는 뜻은 아님. 선택된 점의 elevation을 실제 HRTF nearest()에 전달함.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방향 수와 위험도 판단의 검토 · 약 1분 10초</a:t>
            </a:r>
          </a:p>
          <a:p/>
          <a:p>
            <a:r>
              <a:t>기본 설정이 세 개라고 해서 최종적으로 세 방향만 사용하기로 결정한 것은 아닙니다. 현재 앱에서 1개, 3개, 5개, 전체 16구간을 비교할 수 있으며, 실험으로 방향 정답률과 응답 시간, 복잡도를 확인해 적절한 방법을 정하려 합니다. 개수를 제한하는 것 외에 같은 벽의 점들을 표면으로 묶거나 상황에 따라 개수를 바꾸는 방법도 검토합니다. 동시에 어떤 대상을 먼저 알릴지에 대한 위험도 기준이 필요합니다. 후보는 거리, 접근 속도 변화, 진행 경로와의 겹침입니다. 접근 변화는 같은 대상을 추적하고 사용자 자신의 움직임을 구분해야 하므로 현재의 단순 거리 변화만으로 충돌 위험이라고 단정할 수 없습니다. 위험도 기반 선택과 경고 우선 처리는 앞으로 구현하고 평가할 과제입니다.</a:t>
            </a:r>
          </a:p>
          <a:p/>
          <a:p>
            <a:r>
              <a:t>근거 / 참고</a:t>
            </a:r>
          </a:p>
          <a:p>
            <a:r>
              <a:t>현재 구현: RadarScanPolicy의 최근접·좌중우 우선·각도 간격·방향 수 제한. 위험도/물체 추적/CPA/TTC 알고리즘은 미구현. 사용자 요청에 따라 최적 개수 미확정과 알고리즘 연구 방향을 명시.</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YOLOX 실제 구동 · 약 1분 10초</a:t>
            </a:r>
          </a:p>
          <a:p/>
          <a:p>
            <a:r>
              <a:t>사물 인식은 휴대폰 카메라 입력으로 먼저 성공했고 이후 ESP32-S3 Sense 카메라 영상으로도 성공했습니다. 오른쪽은 사용자가 보내준 실제 앱 화면으로 키보드, 마우스, 노트북에 탐지 상자가 표시되어 있습니다. 현재 구현은 외부 YOLO API 서버에 요청하는 방식이 아니라 휴대폰 안에서 YOLOX-Nano를 ONNX Runtime으로 실행하는 구조입니다. 화면의 36ms는 이 장면에서 표시된 처리 시간 예시이며 카메라 촬영부터 음성 도달까지의 전체 지연이 아닙니다. 키보드 89%, 마우스 61%, 노트북 52%는 각 탐지의 신뢰도이며 평가 데이터셋의 인식 정확도가 아닙니다. 사물 이름과 ToF 거리값을 동일한 대상으로 연결하는 좌표 융합은 별도 과제입니다.</a:t>
            </a:r>
          </a:p>
          <a:p/>
          <a:p>
            <a:r>
              <a:t>근거 / 참고</a:t>
            </a:r>
          </a:p>
          <a:p>
            <a:r>
              <a:t>사진 4: 사용자 제공 실제 외부 카메라 객체 인식 화면. 사용자가 휴대폰·Sense 카메라 두 입력 경로의 사물 인식 성공을 이번에 명시함. ExternalVisionController.kt/YoloXDetector.kt. PPT에서는 외부 API 서버라는 오해를 피하도록 YOLOX 적용·로컬 추론으로 표기.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현재까지의 발전 과정 · 약 1분 15초</a:t>
            </a:r>
          </a:p>
          <a:p/>
          <a:p>
            <a:r>
              <a:t>하드웨어와 소프트웨어를 나누어 현재까지의 진행을 정리했습니다. 하드웨어는 부품을 구매하고 핀 헤더와 Y형 배선을 납땜한 뒤 테스트용 프로토타입을 제작했습니다. 소프트웨어는 센서 하나의 거리 측정에서 출발했습니다. 이후 YOLOX를 적용해 휴대폰 카메라로 사물 인식을 확인했고 두 센서를 주소로 구분해 동시에 거리를 측정했습니다. 카메라 입력을 ESP32-S3 Sense 카메라로 확장해 사물 인식도 확인했습니다. 마지막으로 실제 거리와 격자 위치를 HRTF 방향음과 음량에 연결해 소리 출력과 방향 동작을 확인했습니다. 이는 기능 성공 기록이며 거리 오차나 사물 인식 정확도의 정량 평가와는 구분합니다.</a:t>
            </a:r>
          </a:p>
          <a:p/>
          <a:p>
            <a:r>
              <a:t>근거 / 참고</a:t>
            </a:r>
          </a:p>
          <a:p>
            <a:r>
              <a:t>사용자가 이번 요청에서 명시한 하드웨어 3단계·소프트웨어 5단계 성공 항목을 반영. 이전 발표의 카메라 단순 코드 구현 상태를 사용자의 최신 실기기 확인으로 갱신.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앞으로의 세 가지 과제 · 약 1분 10초</a:t>
            </a:r>
          </a:p>
          <a:p/>
          <a:p>
            <a:r>
              <a:t>앞으로 할 일은 세 가지로 정리했습니다. 첫째는 센서 각도와 카메라 렌즈 위치를 실제로 비교해 최적 배치를 찾는 것입니다. 현재 사용한 장착각은 실험 모델이며 최적값으로 확정한 것이 아닙니다. 둘째는 8×8 거리 정보를 어떻게 가공하면 정확도와 안정성을 높일 수 있는지 탐색하는 것입니다. 이상치 제거, 시간 평활화, 주변 칸 활용, 표면 묶기 등을 후보로 삼되 테이블 모서리처럼 실제 경계를 지워 버리지 않는지도 함께 평가해야 합니다. 셋째는 실제 사용 성능을 측정하고 개선하는 것입니다. 거리와 방향의 구별 성능, 지연과 인지 부담을 확인하고 소리 수와 음량 곡선, 선택 기준에 반영합니다.</a:t>
            </a:r>
          </a:p>
          <a:p/>
          <a:p>
            <a:r>
              <a:t>근거 / 참고</a:t>
            </a:r>
          </a:p>
          <a:p>
            <a:r>
              <a:t>사용자가 지정한 과제 3개. 가공 알고리즘은 비교 후보이며 현재 정확도 향상이 입증된 결과가 아님. 센서별 실제 FoV·장착 오차·카메라 정렬을 고려할 필요가 있음.</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SLAM으로 정보 복잡도 줄이기 · 약 1분 10초</a:t>
            </a:r>
          </a:p>
          <a:p/>
          <a:p>
            <a:r>
              <a:t>장기적인 다음 단계는 자주 사용하는 방의 구조를 기억해 정보의 복잡도를 줄이는 것입니다. SLAM은 이동과 회전을 추정하면서 주변 지도를 만드는 기술입니다. 기억한 벽이나 책장은 매번 같은 강도로 반복 안내하기보다 현재 접근하는 장애물이나 새로 생긴 변화를 우선 전달하는 데 활용할 수 있습니다. 이를 위해서는 방 안의 현재 위치와 머리가 향하는 방향을 알아야 하고, 다음 방문 때도 저장한 지도와 현재 관측을 맞춰야 합니다. 현재 두 ToF 센서만으로 안정적인 방 지도와 위치 추정을 완성한 상태는 아닙니다. 휴대폰 카메라·IMU 등으로 위치 추정부터 시험하고 센서 좌표와 시간 동기화를 검토할 계획입니다. 기억한 가구도 이동할 수 있으므로 실시간 센서 확인을 계속 유지하며 위험한 접근은 안내해야 합니다.</a:t>
            </a:r>
          </a:p>
          <a:p/>
          <a:p>
            <a:r>
              <a:t>근거 / 참고</a:t>
            </a:r>
          </a:p>
          <a:p>
            <a:r>
              <a:t>SLAM·지도 기억·머리 위치 추정은 향후 연구 과제이며 현재 미구현. 휴대폰을 주머니에 둔 상태의 휴대폰 자세만으로 머리 방향을 알 수 없음. 익숙한 장애물을 일괄 무음 처리한다는 의미가 아님.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D21"/>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PBL1 · 중간 발표</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p>
        </p:txBody>
      </p:sp>
      <p:cxnSp>
        <p:nvCxnSpPr>
          <p:cNvPr id="4" name="Connector 3"/>
          <p:cNvCxnSpPr/>
          <p:nvPr/>
        </p:nvCxnSpPr>
        <p:spPr>
          <a:xfrm>
            <a:off x="711200" y="6400800"/>
            <a:ext cx="10769600" cy="0"/>
          </a:xfrm>
          <a:prstGeom prst="line">
            <a:avLst/>
          </a:prstGeom>
          <a:ln w="7620">
            <a:solidFill>
              <a:srgbClr val="3A47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ACBBB9"/>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ACBBB9"/>
                </a:solidFill>
                <a:latin typeface="Noto Sans CJK KR"/>
              </a:defRPr>
            </a:pPr>
            <a:r>
              <a:rPr>
                <a:ea typeface="Noto Sans CJK KR"/>
              </a:rPr>
              <a:t>01</a:t>
            </a:r>
          </a:p>
        </p:txBody>
      </p:sp>
      <p:sp>
        <p:nvSpPr>
          <p:cNvPr id="7" name="TextBox 6"/>
          <p:cNvSpPr txBox="1"/>
          <p:nvPr/>
        </p:nvSpPr>
        <p:spPr>
          <a:xfrm>
            <a:off x="711200" y="1384300"/>
            <a:ext cx="6477000" cy="1041400"/>
          </a:xfrm>
          <a:prstGeom prst="rect">
            <a:avLst/>
          </a:prstGeom>
          <a:noFill/>
        </p:spPr>
        <p:txBody>
          <a:bodyPr wrap="square" lIns="0" rIns="0" tIns="0" bIns="0">
            <a:spAutoFit/>
          </a:bodyPr>
          <a:lstStyle/>
          <a:p>
            <a:pPr>
              <a:lnSpc>
                <a:spcPct val="118000"/>
              </a:lnSpc>
              <a:spcBef>
                <a:spcPts val="0"/>
              </a:spcBef>
              <a:spcAft>
                <a:spcPts val="0"/>
              </a:spcAft>
              <a:defRPr sz="5800" b="1">
                <a:solidFill>
                  <a:srgbClr val="FFFFFF"/>
                </a:solidFill>
                <a:latin typeface="Noto Sans CJK KR"/>
              </a:defRPr>
            </a:pPr>
            <a:r>
              <a:rPr>
                <a:ea typeface="Noto Sans CJK KR"/>
              </a:rPr>
              <a:t>Third Eye</a:t>
            </a:r>
          </a:p>
        </p:txBody>
      </p:sp>
      <p:sp>
        <p:nvSpPr>
          <p:cNvPr id="8" name="Rectangle 7"/>
          <p:cNvSpPr/>
          <p:nvPr/>
        </p:nvSpPr>
        <p:spPr>
          <a:xfrm>
            <a:off x="749300" y="2654300"/>
            <a:ext cx="914400" cy="50800"/>
          </a:xfrm>
          <a:prstGeom prst="rect">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3048000"/>
            <a:ext cx="6604000" cy="1409700"/>
          </a:xfrm>
          <a:prstGeom prst="rect">
            <a:avLst/>
          </a:prstGeom>
          <a:noFill/>
        </p:spPr>
        <p:txBody>
          <a:bodyPr wrap="square" lIns="0" rIns="0" tIns="0" bIns="0">
            <a:spAutoFit/>
          </a:bodyPr>
          <a:lstStyle/>
          <a:p>
            <a:pPr>
              <a:lnSpc>
                <a:spcPct val="118000"/>
              </a:lnSpc>
              <a:spcBef>
                <a:spcPts val="0"/>
              </a:spcBef>
              <a:spcAft>
                <a:spcPts val="0"/>
              </a:spcAft>
              <a:defRPr sz="2700" b="1">
                <a:solidFill>
                  <a:srgbClr val="FFFFFF"/>
                </a:solidFill>
                <a:latin typeface="Noto Sans CJK KR"/>
              </a:defRPr>
            </a:pPr>
            <a:r>
              <a:rPr>
                <a:ea typeface="Noto Sans CJK KR"/>
              </a:rPr>
              <a:t>두 개의 거리 센서로</a:t>
            </a:r>
          </a:p>
          <a:p>
            <a:pPr>
              <a:lnSpc>
                <a:spcPct val="118000"/>
              </a:lnSpc>
              <a:spcBef>
                <a:spcPts val="0"/>
              </a:spcBef>
              <a:spcAft>
                <a:spcPts val="0"/>
              </a:spcAft>
              <a:defRPr sz="2700" b="1">
                <a:solidFill>
                  <a:srgbClr val="FFFFFF"/>
                </a:solidFill>
                <a:latin typeface="Noto Sans CJK KR"/>
              </a:defRPr>
            </a:pPr>
            <a:r>
              <a:rPr>
                <a:ea typeface="Noto Sans CJK KR"/>
              </a:rPr>
              <a:t>전방 공간을 소리로 전달하다</a:t>
            </a:r>
          </a:p>
        </p:txBody>
      </p:sp>
      <p:sp>
        <p:nvSpPr>
          <p:cNvPr id="10" name="TextBox 9"/>
          <p:cNvSpPr txBox="1"/>
          <p:nvPr/>
        </p:nvSpPr>
        <p:spPr>
          <a:xfrm>
            <a:off x="736600" y="5727700"/>
            <a:ext cx="6096000" cy="304800"/>
          </a:xfrm>
          <a:prstGeom prst="rect">
            <a:avLst/>
          </a:prstGeom>
          <a:noFill/>
        </p:spPr>
        <p:txBody>
          <a:bodyPr wrap="square" lIns="0" rIns="0" tIns="0" bIns="0">
            <a:spAutoFit/>
          </a:bodyPr>
          <a:lstStyle/>
          <a:p>
            <a:pPr>
              <a:lnSpc>
                <a:spcPct val="118000"/>
              </a:lnSpc>
              <a:spcBef>
                <a:spcPts val="0"/>
              </a:spcBef>
              <a:spcAft>
                <a:spcPts val="0"/>
              </a:spcAft>
              <a:defRPr sz="1200" b="0">
                <a:solidFill>
                  <a:srgbClr val="ACBBB9"/>
                </a:solidFill>
                <a:latin typeface="Noto Sans CJK KR"/>
              </a:defRPr>
            </a:pPr>
            <a:r>
              <a:rPr>
                <a:ea typeface="Noto Sans CJK KR"/>
              </a:rPr>
              <a:t>2026.10.26</a:t>
            </a:r>
          </a:p>
        </p:txBody>
      </p:sp>
      <p:sp>
        <p:nvSpPr>
          <p:cNvPr id="11" name="TextBox 10"/>
          <p:cNvSpPr txBox="1"/>
          <p:nvPr/>
        </p:nvSpPr>
        <p:spPr>
          <a:xfrm>
            <a:off x="7645400" y="5676900"/>
            <a:ext cx="3810000" cy="508000"/>
          </a:xfrm>
          <a:prstGeom prst="rect">
            <a:avLst/>
          </a:prstGeom>
          <a:noFill/>
        </p:spPr>
        <p:txBody>
          <a:bodyPr wrap="square" lIns="0" rIns="0" tIns="0" bIns="0">
            <a:spAutoFit/>
          </a:bodyPr>
          <a:lstStyle/>
          <a:p>
            <a:pPr algn="r">
              <a:lnSpc>
                <a:spcPct val="118000"/>
              </a:lnSpc>
              <a:spcBef>
                <a:spcPts val="0"/>
              </a:spcBef>
              <a:spcAft>
                <a:spcPts val="0"/>
              </a:spcAft>
              <a:defRPr sz="1200" b="0">
                <a:solidFill>
                  <a:srgbClr val="ACBBB9"/>
                </a:solidFill>
                <a:latin typeface="Noto Sans CJK KR"/>
              </a:defRPr>
            </a:pPr>
            <a:r>
              <a:rPr>
                <a:ea typeface="Noto Sans CJK KR"/>
              </a:rPr>
              <a:t>2022010900 최배종</a:t>
            </a:r>
          </a:p>
          <a:p>
            <a:pPr algn="r">
              <a:lnSpc>
                <a:spcPct val="118000"/>
              </a:lnSpc>
              <a:spcBef>
                <a:spcPts val="0"/>
              </a:spcBef>
              <a:spcAft>
                <a:spcPts val="0"/>
              </a:spcAft>
              <a:defRPr sz="1200" b="0">
                <a:solidFill>
                  <a:srgbClr val="ACBBB9"/>
                </a:solidFill>
                <a:latin typeface="Noto Sans CJK KR"/>
              </a:defRPr>
            </a:pPr>
            <a:r>
              <a:rPr>
                <a:ea typeface="Noto Sans CJK KR"/>
              </a:rPr>
              <a:t>2021010851 임종민</a:t>
            </a:r>
          </a:p>
        </p:txBody>
      </p:sp>
      <p:cxnSp>
        <p:nvCxnSpPr>
          <p:cNvPr id="12" name="Connector 11"/>
          <p:cNvCxnSpPr/>
          <p:nvPr/>
        </p:nvCxnSpPr>
        <p:spPr>
          <a:xfrm flipV="1">
            <a:off x="8603379" y="3727344"/>
            <a:ext cx="25510" cy="2463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628889" y="3703615"/>
            <a:ext cx="26355" cy="2372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655244" y="3680819"/>
            <a:ext cx="27166" cy="2279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682410" y="3658986"/>
            <a:ext cx="27945" cy="2183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710355" y="3638141"/>
            <a:ext cx="28691" cy="2084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739046" y="3618310"/>
            <a:ext cx="29400" cy="1983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768446" y="3599518"/>
            <a:ext cx="30075" cy="1879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798521" y="3581786"/>
            <a:ext cx="30712" cy="1773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829233" y="3565137"/>
            <a:ext cx="31312" cy="1664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860545" y="3549591"/>
            <a:ext cx="31874" cy="1554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892419" y="3535167"/>
            <a:ext cx="32398" cy="1442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924817" y="3521882"/>
            <a:ext cx="32881" cy="1328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957698" y="3509753"/>
            <a:ext cx="33324" cy="1212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991022" y="3498794"/>
            <a:ext cx="33728" cy="1095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024750" y="3489019"/>
            <a:ext cx="34089" cy="977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058839" y="3480440"/>
            <a:ext cx="34410" cy="857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093249" y="3473066"/>
            <a:ext cx="34689" cy="737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127938" y="3466908"/>
            <a:ext cx="34924" cy="615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9162862" y="3461973"/>
            <a:ext cx="35118" cy="493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197980" y="3458266"/>
            <a:ext cx="35269" cy="370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233249" y="3455792"/>
            <a:ext cx="35377" cy="247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268626" y="3454554"/>
            <a:ext cx="35442" cy="123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304068" y="3454554"/>
            <a:ext cx="35463" cy="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339531" y="3454554"/>
            <a:ext cx="35442" cy="123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74973" y="3455792"/>
            <a:ext cx="35377" cy="247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410350" y="3458266"/>
            <a:ext cx="35269" cy="370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445619" y="3461973"/>
            <a:ext cx="35118" cy="493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480737" y="3466908"/>
            <a:ext cx="34924" cy="615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15661" y="3473066"/>
            <a:ext cx="34689" cy="737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50350" y="3480440"/>
            <a:ext cx="34410" cy="857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584760" y="3489019"/>
            <a:ext cx="34089" cy="977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618849" y="3498794"/>
            <a:ext cx="33728" cy="1095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652577" y="3509753"/>
            <a:ext cx="33324" cy="1212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685901" y="3521882"/>
            <a:ext cx="32881" cy="1328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718782" y="3535167"/>
            <a:ext cx="32398" cy="1442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751180" y="3549591"/>
            <a:ext cx="31874" cy="1554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783054" y="3565137"/>
            <a:ext cx="31312" cy="1664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814366" y="3581786"/>
            <a:ext cx="30712" cy="1773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845078" y="3599518"/>
            <a:ext cx="30075" cy="1879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875153" y="3618310"/>
            <a:ext cx="29400" cy="1983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904553" y="3638141"/>
            <a:ext cx="28691" cy="2084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933244" y="3658986"/>
            <a:ext cx="27945" cy="2183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961189" y="3680819"/>
            <a:ext cx="27166" cy="2279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988355" y="3703615"/>
            <a:ext cx="26355" cy="2372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014710" y="3727344"/>
            <a:ext cx="25510" cy="2463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8091504" y="3197917"/>
            <a:ext cx="43687" cy="4218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135191" y="3157280"/>
            <a:ext cx="45131" cy="406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180322" y="3118243"/>
            <a:ext cx="46523" cy="390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226845" y="3080854"/>
            <a:ext cx="47857" cy="3738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274702" y="3045157"/>
            <a:ext cx="49132" cy="3569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323834" y="3011197"/>
            <a:ext cx="50348" cy="3396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374182" y="2979014"/>
            <a:ext cx="51503" cy="3218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425685" y="2948649"/>
            <a:ext cx="52594" cy="3036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478279" y="2920137"/>
            <a:ext cx="53622" cy="285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531901" y="2893515"/>
            <a:ext cx="54585" cy="2662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586486" y="2868813"/>
            <a:ext cx="55480" cy="2470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641966" y="2846063"/>
            <a:ext cx="56309" cy="2275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698275" y="2825292"/>
            <a:ext cx="57068" cy="2077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755343" y="2806525"/>
            <a:ext cx="57759" cy="1876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813102" y="2789785"/>
            <a:ext cx="58378" cy="1674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8871480" y="2775093"/>
            <a:ext cx="58927" cy="1469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8930407" y="2762466"/>
            <a:ext cx="59404" cy="1262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8989811" y="2751921"/>
            <a:ext cx="59808" cy="1054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9049619" y="2743468"/>
            <a:ext cx="60140" cy="845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109759" y="2737120"/>
            <a:ext cx="60398" cy="634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9170157" y="2732884"/>
            <a:ext cx="60583" cy="423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9230740" y="2730764"/>
            <a:ext cx="60694" cy="212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291434" y="2730764"/>
            <a:ext cx="60731" cy="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352165" y="2730764"/>
            <a:ext cx="60694" cy="212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412859" y="2732884"/>
            <a:ext cx="60583" cy="423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473442" y="2737120"/>
            <a:ext cx="60398" cy="634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533840" y="2743468"/>
            <a:ext cx="60140" cy="845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593980" y="2751921"/>
            <a:ext cx="59808" cy="1054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653788" y="2762466"/>
            <a:ext cx="59404" cy="1262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713192" y="2775093"/>
            <a:ext cx="58927" cy="1469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772119" y="2789785"/>
            <a:ext cx="58378" cy="1674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9830497" y="2806525"/>
            <a:ext cx="57759" cy="1876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888256" y="2825292"/>
            <a:ext cx="57068" cy="2077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9945324" y="2846063"/>
            <a:ext cx="56309" cy="2275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0001633" y="2868813"/>
            <a:ext cx="55480" cy="2470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057113" y="2893515"/>
            <a:ext cx="54585" cy="2662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111698" y="2920137"/>
            <a:ext cx="53622" cy="285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165320" y="2948649"/>
            <a:ext cx="52594" cy="3036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217914" y="2979014"/>
            <a:ext cx="51503" cy="3218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269417" y="3011197"/>
            <a:ext cx="50348" cy="3396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319765" y="3045157"/>
            <a:ext cx="49132" cy="3569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368897" y="3080854"/>
            <a:ext cx="47857" cy="3738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416754" y="3118243"/>
            <a:ext cx="46523" cy="390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463277" y="3157280"/>
            <a:ext cx="45131" cy="406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508408" y="3197917"/>
            <a:ext cx="43687" cy="4218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7570650" y="2659202"/>
            <a:ext cx="62181" cy="6004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7632831" y="2601361"/>
            <a:ext cx="64238" cy="5784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7697069" y="2545798"/>
            <a:ext cx="66219" cy="5556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7763288" y="2492579"/>
            <a:ext cx="68117" cy="5321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7831405" y="2441769"/>
            <a:ext cx="69932" cy="5081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7901337" y="2393432"/>
            <a:ext cx="71664" cy="483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7973001" y="2347625"/>
            <a:ext cx="73307" cy="4580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8046308" y="2304404"/>
            <a:ext cx="74860" cy="4322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8121168" y="2263822"/>
            <a:ext cx="76324" cy="4058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8197492" y="2225928"/>
            <a:ext cx="77693" cy="3789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8275185" y="2190769"/>
            <a:ext cx="78969" cy="3515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8354154" y="2158388"/>
            <a:ext cx="80147" cy="3238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8434301" y="2128823"/>
            <a:ext cx="81229" cy="2956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8515530" y="2102111"/>
            <a:ext cx="82211" cy="267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597741" y="2078284"/>
            <a:ext cx="83093" cy="2382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8680834" y="2057372"/>
            <a:ext cx="83874" cy="209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764708" y="2039400"/>
            <a:ext cx="84553" cy="1797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8849261" y="2024389"/>
            <a:ext cx="85129" cy="1501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934390" y="2012359"/>
            <a:ext cx="85600" cy="1203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9019990" y="2003323"/>
            <a:ext cx="85968" cy="903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9105958" y="1997293"/>
            <a:ext cx="86232" cy="603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9192190" y="1994277"/>
            <a:ext cx="86389" cy="301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9278579" y="1994277"/>
            <a:ext cx="86441" cy="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9365020" y="1994277"/>
            <a:ext cx="86389" cy="301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9451409" y="1997293"/>
            <a:ext cx="86232" cy="603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9537641" y="2003323"/>
            <a:ext cx="85968" cy="903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623609" y="2012359"/>
            <a:ext cx="85600" cy="1203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709209" y="2024389"/>
            <a:ext cx="85129" cy="1501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9794338" y="2039400"/>
            <a:ext cx="84553" cy="1797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878891" y="2057372"/>
            <a:ext cx="83874" cy="209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9962765" y="2078284"/>
            <a:ext cx="83093" cy="2382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0045858" y="2102111"/>
            <a:ext cx="82211" cy="267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0128069" y="2128823"/>
            <a:ext cx="81229" cy="2956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0209298" y="2158388"/>
            <a:ext cx="80147" cy="3238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10289445" y="2190769"/>
            <a:ext cx="78969" cy="3515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10368414" y="2225928"/>
            <a:ext cx="77693" cy="3789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10446107" y="2263822"/>
            <a:ext cx="76324" cy="4058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10522431" y="2304404"/>
            <a:ext cx="74860" cy="4322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10597291" y="2347625"/>
            <a:ext cx="73307" cy="4580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10670598" y="2393432"/>
            <a:ext cx="71664" cy="483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742262" y="2441769"/>
            <a:ext cx="69932" cy="5081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10812194" y="2492579"/>
            <a:ext cx="68117" cy="5321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0880311" y="2545798"/>
            <a:ext cx="66219" cy="5556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10946530" y="2601361"/>
            <a:ext cx="64238" cy="5784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010768" y="2659202"/>
            <a:ext cx="62181" cy="6004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flipV="1">
            <a:off x="7570650" y="2719250"/>
            <a:ext cx="1751150" cy="1751150"/>
          </a:xfrm>
          <a:prstGeom prst="line">
            <a:avLst/>
          </a:prstGeom>
          <a:ln w="1270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9321800" y="1993899"/>
            <a:ext cx="0" cy="2476501"/>
          </a:xfrm>
          <a:prstGeom prst="line">
            <a:avLst/>
          </a:prstGeom>
          <a:ln w="1270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9321800" y="2719250"/>
            <a:ext cx="1751149" cy="1751150"/>
          </a:xfrm>
          <a:prstGeom prst="line">
            <a:avLst/>
          </a:prstGeom>
          <a:ln w="12700">
            <a:solidFill>
              <a:srgbClr val="3A474B"/>
            </a:solidFill>
          </a:ln>
        </p:spPr>
        <p:style>
          <a:lnRef idx="2">
            <a:schemeClr val="accent1"/>
          </a:lnRef>
          <a:fillRef idx="0">
            <a:schemeClr val="accent1"/>
          </a:fillRef>
          <a:effectRef idx="1">
            <a:schemeClr val="accent1"/>
          </a:effectRef>
          <a:fontRef idx="minor">
            <a:schemeClr val="tx1"/>
          </a:fontRef>
        </p:style>
      </p:cxnSp>
      <p:sp>
        <p:nvSpPr>
          <p:cNvPr id="150" name="Oval 149"/>
          <p:cNvSpPr/>
          <p:nvPr/>
        </p:nvSpPr>
        <p:spPr>
          <a:xfrm>
            <a:off x="8285095" y="2661403"/>
            <a:ext cx="152400" cy="152400"/>
          </a:xfrm>
          <a:prstGeom prst="ellipse">
            <a:avLst/>
          </a:prstGeom>
          <a:solidFill>
            <a:srgbClr val="C45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8335895" y="2712203"/>
            <a:ext cx="50800" cy="50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9245600" y="2870200"/>
            <a:ext cx="152400" cy="152400"/>
          </a:xfrm>
          <a:prstGeom prst="ellipse">
            <a:avLst/>
          </a:prstGeom>
          <a:solidFill>
            <a:srgbClr val="C45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9296400" y="2921000"/>
            <a:ext cx="50800" cy="50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0383731" y="2500031"/>
            <a:ext cx="152400" cy="152400"/>
          </a:xfrm>
          <a:prstGeom prst="ellipse">
            <a:avLst/>
          </a:prstGeom>
          <a:solidFill>
            <a:srgbClr val="C45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0434531" y="2550831"/>
            <a:ext cx="50800" cy="50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9156700" y="4305300"/>
            <a:ext cx="330200" cy="330200"/>
          </a:xfrm>
          <a:prstGeom prst="ellipse">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아이디어의 계기 · 무엇을 만드는가</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질문을 뒤집어,</a:t>
            </a:r>
          </a:p>
          <a:p>
            <a:pPr>
              <a:lnSpc>
                <a:spcPct val="118000"/>
              </a:lnSpc>
              <a:spcBef>
                <a:spcPts val="0"/>
              </a:spcBef>
              <a:spcAft>
                <a:spcPts val="0"/>
              </a:spcAft>
              <a:defRPr sz="3100" b="1">
                <a:solidFill>
                  <a:srgbClr val="151D21"/>
                </a:solidFill>
                <a:latin typeface="Noto Sans CJK KR"/>
              </a:defRPr>
            </a:pPr>
            <a:r>
              <a:rPr>
                <a:ea typeface="Noto Sans CJK KR"/>
              </a:rPr>
              <a:t>보이는 공간을 소리로 전달한다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02</a:t>
            </a:r>
          </a:p>
        </p:txBody>
      </p:sp>
      <p:sp>
        <p:nvSpPr>
          <p:cNvPr id="7" name="Rounded Rectangle 6"/>
          <p:cNvSpPr/>
          <p:nvPr/>
        </p:nvSpPr>
        <p:spPr>
          <a:xfrm>
            <a:off x="711200" y="2667000"/>
            <a:ext cx="5143500" cy="2019300"/>
          </a:xfrm>
          <a:prstGeom prst="roundRect">
            <a:avLst>
              <a:gd name="adj" fmla="val 5031"/>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599" y="2895600"/>
            <a:ext cx="4572000" cy="2921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처음 가졌던 관심</a:t>
            </a:r>
          </a:p>
        </p:txBody>
      </p:sp>
      <p:sp>
        <p:nvSpPr>
          <p:cNvPr id="9" name="TextBox 8"/>
          <p:cNvSpPr txBox="1"/>
          <p:nvPr/>
        </p:nvSpPr>
        <p:spPr>
          <a:xfrm>
            <a:off x="990599" y="3416300"/>
            <a:ext cx="4572000" cy="914400"/>
          </a:xfrm>
          <a:prstGeom prst="rect">
            <a:avLst/>
          </a:prstGeom>
          <a:noFill/>
        </p:spPr>
        <p:txBody>
          <a:bodyPr wrap="square" lIns="0" rIns="0" tIns="0" bIns="0">
            <a:spAutoFit/>
          </a:bodyPr>
          <a:lstStyle/>
          <a:p>
            <a:pPr>
              <a:lnSpc>
                <a:spcPct val="118000"/>
              </a:lnSpc>
              <a:spcBef>
                <a:spcPts val="0"/>
              </a:spcBef>
              <a:spcAft>
                <a:spcPts val="0"/>
              </a:spcAft>
              <a:defRPr sz="2300" b="1">
                <a:solidFill>
                  <a:srgbClr val="151D21"/>
                </a:solidFill>
                <a:latin typeface="Noto Sans CJK KR"/>
              </a:defRPr>
            </a:pPr>
            <a:r>
              <a:rPr>
                <a:ea typeface="Noto Sans CJK KR"/>
              </a:rPr>
              <a:t>보이는 사람이</a:t>
            </a:r>
          </a:p>
          <a:p>
            <a:pPr>
              <a:lnSpc>
                <a:spcPct val="118000"/>
              </a:lnSpc>
              <a:spcBef>
                <a:spcPts val="0"/>
              </a:spcBef>
              <a:spcAft>
                <a:spcPts val="0"/>
              </a:spcAft>
              <a:defRPr sz="2300" b="1">
                <a:solidFill>
                  <a:srgbClr val="151D21"/>
                </a:solidFill>
                <a:latin typeface="Noto Sans CJK KR"/>
              </a:defRPr>
            </a:pPr>
            <a:r>
              <a:rPr>
                <a:ea typeface="Noto Sans CJK KR"/>
              </a:rPr>
              <a:t>보이지 않는 것을 보는 방법</a:t>
            </a:r>
          </a:p>
        </p:txBody>
      </p:sp>
      <p:sp>
        <p:nvSpPr>
          <p:cNvPr id="10" name="Rounded Rectangle 9"/>
          <p:cNvSpPr/>
          <p:nvPr/>
        </p:nvSpPr>
        <p:spPr>
          <a:xfrm>
            <a:off x="6121400" y="2667000"/>
            <a:ext cx="5359400" cy="2019300"/>
          </a:xfrm>
          <a:prstGeom prst="roundRect">
            <a:avLst>
              <a:gd name="adj" fmla="val 5031"/>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895600"/>
            <a:ext cx="4800600" cy="292100"/>
          </a:xfrm>
          <a:prstGeom prst="rect">
            <a:avLst/>
          </a:prstGeom>
          <a:noFill/>
        </p:spPr>
        <p:txBody>
          <a:bodyPr wrap="square" lIns="0" rIns="0" tIns="0" bIns="0">
            <a:spAutoFit/>
          </a:bodyPr>
          <a:lstStyle/>
          <a:p>
            <a:pPr>
              <a:lnSpc>
                <a:spcPct val="118000"/>
              </a:lnSpc>
              <a:spcBef>
                <a:spcPts val="0"/>
              </a:spcBef>
              <a:spcAft>
                <a:spcPts val="0"/>
              </a:spcAft>
              <a:defRPr sz="1300" b="1">
                <a:solidFill>
                  <a:srgbClr val="ACBBB9"/>
                </a:solidFill>
                <a:latin typeface="Noto Sans CJK KR"/>
              </a:defRPr>
            </a:pPr>
            <a:r>
              <a:rPr>
                <a:ea typeface="Noto Sans CJK KR"/>
              </a:rPr>
              <a:t>여기서 뒤집은 질문</a:t>
            </a:r>
          </a:p>
        </p:txBody>
      </p:sp>
      <p:sp>
        <p:nvSpPr>
          <p:cNvPr id="12" name="TextBox 11"/>
          <p:cNvSpPr txBox="1"/>
          <p:nvPr/>
        </p:nvSpPr>
        <p:spPr>
          <a:xfrm>
            <a:off x="6400800" y="3416300"/>
            <a:ext cx="4800600" cy="914400"/>
          </a:xfrm>
          <a:prstGeom prst="rect">
            <a:avLst/>
          </a:prstGeom>
          <a:noFill/>
        </p:spPr>
        <p:txBody>
          <a:bodyPr wrap="square" lIns="0" rIns="0" tIns="0" bIns="0">
            <a:spAutoFit/>
          </a:bodyPr>
          <a:lstStyle/>
          <a:p>
            <a:pPr>
              <a:lnSpc>
                <a:spcPct val="118000"/>
              </a:lnSpc>
              <a:spcBef>
                <a:spcPts val="0"/>
              </a:spcBef>
              <a:spcAft>
                <a:spcPts val="0"/>
              </a:spcAft>
              <a:defRPr sz="2300" b="1">
                <a:solidFill>
                  <a:srgbClr val="FFFFFF"/>
                </a:solidFill>
                <a:latin typeface="Noto Sans CJK KR"/>
              </a:defRPr>
            </a:pPr>
            <a:r>
              <a:rPr>
                <a:ea typeface="Noto Sans CJK KR"/>
              </a:rPr>
              <a:t>보이는 것을,</a:t>
            </a:r>
          </a:p>
          <a:p>
            <a:pPr>
              <a:lnSpc>
                <a:spcPct val="118000"/>
              </a:lnSpc>
              <a:spcBef>
                <a:spcPts val="0"/>
              </a:spcBef>
              <a:spcAft>
                <a:spcPts val="0"/>
              </a:spcAft>
              <a:defRPr sz="2300" b="1">
                <a:solidFill>
                  <a:srgbClr val="FFFFFF"/>
                </a:solidFill>
                <a:latin typeface="Noto Sans CJK KR"/>
              </a:defRPr>
            </a:pPr>
            <a:r>
              <a:rPr>
                <a:ea typeface="Noto Sans CJK KR"/>
              </a:rPr>
              <a:t>볼 수 없는 사람에게 전달하려면?</a:t>
            </a:r>
          </a:p>
        </p:txBody>
      </p:sp>
      <p:cxnSp>
        <p:nvCxnSpPr>
          <p:cNvPr id="13" name="Connector 12"/>
          <p:cNvCxnSpPr/>
          <p:nvPr/>
        </p:nvCxnSpPr>
        <p:spPr>
          <a:xfrm>
            <a:off x="5880100" y="3683000"/>
            <a:ext cx="203200" cy="0"/>
          </a:xfrm>
          <a:prstGeom prst="line">
            <a:avLst/>
          </a:prstGeom>
          <a:ln w="2540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11200" y="4965700"/>
            <a:ext cx="3352800" cy="990599"/>
          </a:xfrm>
          <a:prstGeom prst="roundRect">
            <a:avLst>
              <a:gd name="adj" fmla="val 10256"/>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18100"/>
            <a:ext cx="4445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01</a:t>
            </a:r>
          </a:p>
        </p:txBody>
      </p:sp>
      <p:sp>
        <p:nvSpPr>
          <p:cNvPr id="16" name="TextBox 15"/>
          <p:cNvSpPr txBox="1"/>
          <p:nvPr/>
        </p:nvSpPr>
        <p:spPr>
          <a:xfrm>
            <a:off x="1409700" y="5092700"/>
            <a:ext cx="2413000" cy="3175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측정</a:t>
            </a:r>
          </a:p>
        </p:txBody>
      </p:sp>
      <p:sp>
        <p:nvSpPr>
          <p:cNvPr id="17" name="TextBox 16"/>
          <p:cNvSpPr txBox="1"/>
          <p:nvPr/>
        </p:nvSpPr>
        <p:spPr>
          <a:xfrm>
            <a:off x="914400" y="5562600"/>
            <a:ext cx="2946400" cy="2921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두 ToF 센서로 거리·방향 측정</a:t>
            </a:r>
          </a:p>
        </p:txBody>
      </p:sp>
      <p:sp>
        <p:nvSpPr>
          <p:cNvPr id="18" name="Rounded Rectangle 17"/>
          <p:cNvSpPr/>
          <p:nvPr/>
        </p:nvSpPr>
        <p:spPr>
          <a:xfrm>
            <a:off x="4419600" y="4965700"/>
            <a:ext cx="3352800" cy="990599"/>
          </a:xfrm>
          <a:prstGeom prst="roundRect">
            <a:avLst>
              <a:gd name="adj" fmla="val 10256"/>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2800" y="5118100"/>
            <a:ext cx="4445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02</a:t>
            </a:r>
          </a:p>
        </p:txBody>
      </p:sp>
      <p:sp>
        <p:nvSpPr>
          <p:cNvPr id="20" name="TextBox 19"/>
          <p:cNvSpPr txBox="1"/>
          <p:nvPr/>
        </p:nvSpPr>
        <p:spPr>
          <a:xfrm>
            <a:off x="5118100" y="5092700"/>
            <a:ext cx="2413000" cy="3175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변환</a:t>
            </a:r>
          </a:p>
        </p:txBody>
      </p:sp>
      <p:sp>
        <p:nvSpPr>
          <p:cNvPr id="21" name="TextBox 20"/>
          <p:cNvSpPr txBox="1"/>
          <p:nvPr/>
        </p:nvSpPr>
        <p:spPr>
          <a:xfrm>
            <a:off x="4622800" y="5562600"/>
            <a:ext cx="2946400" cy="2921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측정점을 방향음·음량으로 변환</a:t>
            </a:r>
          </a:p>
        </p:txBody>
      </p:sp>
      <p:sp>
        <p:nvSpPr>
          <p:cNvPr id="22" name="Rounded Rectangle 21"/>
          <p:cNvSpPr/>
          <p:nvPr/>
        </p:nvSpPr>
        <p:spPr>
          <a:xfrm>
            <a:off x="8128000" y="4965700"/>
            <a:ext cx="3352800" cy="990599"/>
          </a:xfrm>
          <a:prstGeom prst="roundRect">
            <a:avLst>
              <a:gd name="adj" fmla="val 10256"/>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1200" y="5118100"/>
            <a:ext cx="4445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03</a:t>
            </a:r>
          </a:p>
        </p:txBody>
      </p:sp>
      <p:sp>
        <p:nvSpPr>
          <p:cNvPr id="24" name="TextBox 23"/>
          <p:cNvSpPr txBox="1"/>
          <p:nvPr/>
        </p:nvSpPr>
        <p:spPr>
          <a:xfrm>
            <a:off x="8826500" y="5092700"/>
            <a:ext cx="2413000" cy="3175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전달</a:t>
            </a:r>
          </a:p>
        </p:txBody>
      </p:sp>
      <p:sp>
        <p:nvSpPr>
          <p:cNvPr id="25" name="TextBox 24"/>
          <p:cNvSpPr txBox="1"/>
          <p:nvPr/>
        </p:nvSpPr>
        <p:spPr>
          <a:xfrm>
            <a:off x="8331200" y="5562600"/>
            <a:ext cx="2946400" cy="2921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이어폰으로 전방 공간 정보 전달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목표 과제</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두 가지 목표 중,</a:t>
            </a:r>
          </a:p>
          <a:p>
            <a:pPr>
              <a:lnSpc>
                <a:spcPct val="118000"/>
              </a:lnSpc>
              <a:spcBef>
                <a:spcPts val="0"/>
              </a:spcBef>
              <a:spcAft>
                <a:spcPts val="0"/>
              </a:spcAft>
              <a:defRPr sz="3100" b="1">
                <a:solidFill>
                  <a:srgbClr val="151D21"/>
                </a:solidFill>
                <a:latin typeface="Noto Sans CJK KR"/>
              </a:defRPr>
            </a:pPr>
            <a:r>
              <a:rPr>
                <a:ea typeface="Noto Sans CJK KR"/>
              </a:rPr>
              <a:t>현재는 거리·방향 전달에 집중했다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03</a:t>
            </a:r>
          </a:p>
        </p:txBody>
      </p:sp>
      <p:sp>
        <p:nvSpPr>
          <p:cNvPr id="7" name="Rounded Rectangle 6"/>
          <p:cNvSpPr/>
          <p:nvPr/>
        </p:nvSpPr>
        <p:spPr>
          <a:xfrm>
            <a:off x="711200" y="2692400"/>
            <a:ext cx="5283200" cy="3111500"/>
          </a:xfrm>
          <a:prstGeom prst="roundRect">
            <a:avLst>
              <a:gd name="adj" fmla="val 3265"/>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599" y="2946400"/>
            <a:ext cx="635000" cy="3302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01</a:t>
            </a:r>
          </a:p>
        </p:txBody>
      </p:sp>
      <p:sp>
        <p:nvSpPr>
          <p:cNvPr id="9" name="TextBox 8"/>
          <p:cNvSpPr txBox="1"/>
          <p:nvPr/>
        </p:nvSpPr>
        <p:spPr>
          <a:xfrm>
            <a:off x="990599" y="3454400"/>
            <a:ext cx="4737100" cy="444500"/>
          </a:xfrm>
          <a:prstGeom prst="rect">
            <a:avLst/>
          </a:prstGeom>
          <a:noFill/>
        </p:spPr>
        <p:txBody>
          <a:bodyPr wrap="square" lIns="0" rIns="0" tIns="0" bIns="0">
            <a:spAutoFit/>
          </a:bodyPr>
          <a:lstStyle/>
          <a:p>
            <a:pPr>
              <a:lnSpc>
                <a:spcPct val="118000"/>
              </a:lnSpc>
              <a:spcBef>
                <a:spcPts val="0"/>
              </a:spcBef>
              <a:spcAft>
                <a:spcPts val="0"/>
              </a:spcAft>
              <a:defRPr sz="2200" b="1">
                <a:solidFill>
                  <a:srgbClr val="151D21"/>
                </a:solidFill>
                <a:latin typeface="Noto Sans CJK KR"/>
              </a:defRPr>
            </a:pPr>
            <a:r>
              <a:rPr>
                <a:ea typeface="Noto Sans CJK KR"/>
              </a:rPr>
              <a:t>이동을 위한 공간 파악</a:t>
            </a:r>
          </a:p>
        </p:txBody>
      </p:sp>
      <p:sp>
        <p:nvSpPr>
          <p:cNvPr id="10" name="TextBox 9"/>
          <p:cNvSpPr txBox="1"/>
          <p:nvPr/>
        </p:nvSpPr>
        <p:spPr>
          <a:xfrm>
            <a:off x="990599" y="4038600"/>
            <a:ext cx="4737100" cy="330200"/>
          </a:xfrm>
          <a:prstGeom prst="rect">
            <a:avLst/>
          </a:prstGeom>
          <a:noFill/>
        </p:spPr>
        <p:txBody>
          <a:bodyPr wrap="square" lIns="0" rIns="0" tIns="0" bIns="0">
            <a:spAutoFit/>
          </a:bodyPr>
          <a:lstStyle/>
          <a:p>
            <a:pPr>
              <a:lnSpc>
                <a:spcPct val="118000"/>
              </a:lnSpc>
              <a:spcBef>
                <a:spcPts val="0"/>
              </a:spcBef>
              <a:spcAft>
                <a:spcPts val="0"/>
              </a:spcAft>
              <a:defRPr sz="1700" b="0">
                <a:solidFill>
                  <a:srgbClr val="66716F"/>
                </a:solidFill>
                <a:latin typeface="Noto Sans CJK KR"/>
              </a:defRPr>
            </a:pPr>
            <a:r>
              <a:rPr>
                <a:ea typeface="Noto Sans CJK KR"/>
              </a:rPr>
              <a:t>전방의 장애물 위치를 알아차리기</a:t>
            </a:r>
          </a:p>
        </p:txBody>
      </p:sp>
      <p:cxnSp>
        <p:nvCxnSpPr>
          <p:cNvPr id="11" name="Connector 10"/>
          <p:cNvCxnSpPr/>
          <p:nvPr/>
        </p:nvCxnSpPr>
        <p:spPr>
          <a:xfrm>
            <a:off x="990599" y="4508500"/>
            <a:ext cx="4724401" cy="0"/>
          </a:xfrm>
          <a:prstGeom prst="line">
            <a:avLst/>
          </a:prstGeom>
          <a:ln w="15240">
            <a:solidFill>
              <a:srgbClr val="DADBD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90599" y="4711700"/>
            <a:ext cx="4737100" cy="3302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주요 관심 범위 1–4m</a:t>
            </a:r>
          </a:p>
        </p:txBody>
      </p:sp>
      <p:sp>
        <p:nvSpPr>
          <p:cNvPr id="13" name="TextBox 12"/>
          <p:cNvSpPr txBox="1"/>
          <p:nvPr/>
        </p:nvSpPr>
        <p:spPr>
          <a:xfrm>
            <a:off x="990599" y="5207000"/>
            <a:ext cx="4737100" cy="355600"/>
          </a:xfrm>
          <a:prstGeom prst="rect">
            <a:avLst/>
          </a:prstGeom>
          <a:noFill/>
        </p:spPr>
        <p:txBody>
          <a:bodyPr wrap="square" lIns="0" rIns="0" tIns="0" bIns="0">
            <a:spAutoFit/>
          </a:bodyPr>
          <a:lstStyle/>
          <a:p>
            <a:pPr>
              <a:lnSpc>
                <a:spcPct val="118000"/>
              </a:lnSpc>
              <a:spcBef>
                <a:spcPts val="0"/>
              </a:spcBef>
              <a:spcAft>
                <a:spcPts val="0"/>
              </a:spcAft>
              <a:defRPr sz="1900" b="1">
                <a:solidFill>
                  <a:srgbClr val="287F89"/>
                </a:solidFill>
                <a:latin typeface="Noto Sans CJK KR"/>
              </a:defRPr>
            </a:pPr>
            <a:r>
              <a:rPr>
                <a:ea typeface="Noto Sans CJK KR"/>
              </a:rPr>
              <a:t>거리 + 방향</a:t>
            </a:r>
          </a:p>
        </p:txBody>
      </p:sp>
      <p:sp>
        <p:nvSpPr>
          <p:cNvPr id="14" name="TextBox 13"/>
          <p:cNvSpPr txBox="1"/>
          <p:nvPr/>
        </p:nvSpPr>
        <p:spPr>
          <a:xfrm>
            <a:off x="990599" y="5892800"/>
            <a:ext cx="47371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현재 실험의 중심</a:t>
            </a:r>
          </a:p>
        </p:txBody>
      </p:sp>
      <p:sp>
        <p:nvSpPr>
          <p:cNvPr id="15" name="Rounded Rectangle 14"/>
          <p:cNvSpPr/>
          <p:nvPr/>
        </p:nvSpPr>
        <p:spPr>
          <a:xfrm>
            <a:off x="6197600" y="2692400"/>
            <a:ext cx="5283200" cy="3111500"/>
          </a:xfrm>
          <a:prstGeom prst="roundRect">
            <a:avLst>
              <a:gd name="adj" fmla="val 3265"/>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7000" y="2946400"/>
            <a:ext cx="635000" cy="3302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02</a:t>
            </a:r>
          </a:p>
        </p:txBody>
      </p:sp>
      <p:sp>
        <p:nvSpPr>
          <p:cNvPr id="17" name="TextBox 16"/>
          <p:cNvSpPr txBox="1"/>
          <p:nvPr/>
        </p:nvSpPr>
        <p:spPr>
          <a:xfrm>
            <a:off x="6477000" y="3454400"/>
            <a:ext cx="4737100" cy="444500"/>
          </a:xfrm>
          <a:prstGeom prst="rect">
            <a:avLst/>
          </a:prstGeom>
          <a:noFill/>
        </p:spPr>
        <p:txBody>
          <a:bodyPr wrap="square" lIns="0" rIns="0" tIns="0" bIns="0">
            <a:spAutoFit/>
          </a:bodyPr>
          <a:lstStyle/>
          <a:p>
            <a:pPr>
              <a:lnSpc>
                <a:spcPct val="118000"/>
              </a:lnSpc>
              <a:spcBef>
                <a:spcPts val="0"/>
              </a:spcBef>
              <a:spcAft>
                <a:spcPts val="0"/>
              </a:spcAft>
              <a:defRPr sz="2200" b="1">
                <a:solidFill>
                  <a:srgbClr val="151D21"/>
                </a:solidFill>
                <a:latin typeface="Noto Sans CJK KR"/>
              </a:defRPr>
            </a:pPr>
            <a:r>
              <a:rPr>
                <a:ea typeface="Noto Sans CJK KR"/>
              </a:rPr>
              <a:t>물체와 상호작용</a:t>
            </a:r>
          </a:p>
        </p:txBody>
      </p:sp>
      <p:sp>
        <p:nvSpPr>
          <p:cNvPr id="18" name="TextBox 17"/>
          <p:cNvSpPr txBox="1"/>
          <p:nvPr/>
        </p:nvSpPr>
        <p:spPr>
          <a:xfrm>
            <a:off x="6477000" y="4038600"/>
            <a:ext cx="4737100" cy="330200"/>
          </a:xfrm>
          <a:prstGeom prst="rect">
            <a:avLst/>
          </a:prstGeom>
          <a:noFill/>
        </p:spPr>
        <p:txBody>
          <a:bodyPr wrap="square" lIns="0" rIns="0" tIns="0" bIns="0">
            <a:spAutoFit/>
          </a:bodyPr>
          <a:lstStyle/>
          <a:p>
            <a:pPr>
              <a:lnSpc>
                <a:spcPct val="118000"/>
              </a:lnSpc>
              <a:spcBef>
                <a:spcPts val="0"/>
              </a:spcBef>
              <a:spcAft>
                <a:spcPts val="0"/>
              </a:spcAft>
              <a:defRPr sz="1700" b="0">
                <a:solidFill>
                  <a:srgbClr val="66716F"/>
                </a:solidFill>
                <a:latin typeface="Noto Sans CJK KR"/>
              </a:defRPr>
            </a:pPr>
            <a:r>
              <a:rPr>
                <a:ea typeface="Noto Sans CJK KR"/>
              </a:rPr>
              <a:t>정중앙의 물체를 찾아서 집기</a:t>
            </a:r>
          </a:p>
        </p:txBody>
      </p:sp>
      <p:cxnSp>
        <p:nvCxnSpPr>
          <p:cNvPr id="19" name="Connector 18"/>
          <p:cNvCxnSpPr/>
          <p:nvPr/>
        </p:nvCxnSpPr>
        <p:spPr>
          <a:xfrm>
            <a:off x="6477000" y="4508500"/>
            <a:ext cx="4724400" cy="0"/>
          </a:xfrm>
          <a:prstGeom prst="line">
            <a:avLst/>
          </a:prstGeom>
          <a:ln w="15240">
            <a:solidFill>
              <a:srgbClr val="DADBD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77000" y="4711700"/>
            <a:ext cx="4737100" cy="3302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주요 관심 범위 0.2–0.6m</a:t>
            </a:r>
          </a:p>
        </p:txBody>
      </p:sp>
      <p:sp>
        <p:nvSpPr>
          <p:cNvPr id="21" name="TextBox 20"/>
          <p:cNvSpPr txBox="1"/>
          <p:nvPr/>
        </p:nvSpPr>
        <p:spPr>
          <a:xfrm>
            <a:off x="6477000" y="5207000"/>
            <a:ext cx="4737100" cy="355600"/>
          </a:xfrm>
          <a:prstGeom prst="rect">
            <a:avLst/>
          </a:prstGeom>
          <a:noFill/>
        </p:spPr>
        <p:txBody>
          <a:bodyPr wrap="square" lIns="0" rIns="0" tIns="0" bIns="0">
            <a:spAutoFit/>
          </a:bodyPr>
          <a:lstStyle/>
          <a:p>
            <a:pPr>
              <a:lnSpc>
                <a:spcPct val="118000"/>
              </a:lnSpc>
              <a:spcBef>
                <a:spcPts val="0"/>
              </a:spcBef>
              <a:spcAft>
                <a:spcPts val="0"/>
              </a:spcAft>
              <a:defRPr sz="1900" b="1">
                <a:solidFill>
                  <a:srgbClr val="287F89"/>
                </a:solidFill>
                <a:latin typeface="Noto Sans CJK KR"/>
              </a:defRPr>
            </a:pPr>
            <a:r>
              <a:rPr>
                <a:ea typeface="Noto Sans CJK KR"/>
              </a:rPr>
              <a:t>물체 이름 + 대응하는 거리</a:t>
            </a:r>
          </a:p>
        </p:txBody>
      </p:sp>
      <p:sp>
        <p:nvSpPr>
          <p:cNvPr id="22" name="TextBox 21"/>
          <p:cNvSpPr txBox="1"/>
          <p:nvPr/>
        </p:nvSpPr>
        <p:spPr>
          <a:xfrm>
            <a:off x="6477000" y="5892800"/>
            <a:ext cx="47371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66716F"/>
                </a:solidFill>
                <a:latin typeface="Noto Sans CJK KR"/>
              </a:defRPr>
            </a:pPr>
            <a:r>
              <a:rPr>
                <a:ea typeface="Noto Sans CJK KR"/>
              </a:rPr>
              <a:t>객체·거리 융합이 다음 과제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1D21"/>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하드웨어 구성 · 테스트용 프로토타입</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r>
              <a:rPr>
                <a:ea typeface="Noto Sans CJK KR"/>
              </a:rPr>
              <a:t>구성한 하드웨어를</a:t>
            </a:r>
          </a:p>
          <a:p>
            <a:pPr>
              <a:lnSpc>
                <a:spcPct val="118000"/>
              </a:lnSpc>
              <a:spcBef>
                <a:spcPts val="0"/>
              </a:spcBef>
              <a:spcAft>
                <a:spcPts val="0"/>
              </a:spcAft>
              <a:defRPr sz="3100" b="1">
                <a:solidFill>
                  <a:srgbClr val="FFFFFF"/>
                </a:solidFill>
                <a:latin typeface="Noto Sans CJK KR"/>
              </a:defRPr>
            </a:pPr>
            <a:r>
              <a:rPr>
                <a:ea typeface="Noto Sans CJK KR"/>
              </a:rPr>
              <a:t>실제 프로토타입으로 연결했다</a:t>
            </a:r>
          </a:p>
        </p:txBody>
      </p:sp>
      <p:cxnSp>
        <p:nvCxnSpPr>
          <p:cNvPr id="4" name="Connector 3"/>
          <p:cNvCxnSpPr/>
          <p:nvPr/>
        </p:nvCxnSpPr>
        <p:spPr>
          <a:xfrm>
            <a:off x="711200" y="6400800"/>
            <a:ext cx="10769600" cy="0"/>
          </a:xfrm>
          <a:prstGeom prst="line">
            <a:avLst/>
          </a:prstGeom>
          <a:ln w="7620">
            <a:solidFill>
              <a:srgbClr val="3A47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ACBBB9"/>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ACBBB9"/>
                </a:solidFill>
                <a:latin typeface="Noto Sans CJK KR"/>
              </a:defRPr>
            </a:pPr>
            <a:r>
              <a:rPr>
                <a:ea typeface="Noto Sans CJK KR"/>
              </a:rPr>
              <a:t>04</a:t>
            </a:r>
          </a:p>
        </p:txBody>
      </p:sp>
      <p:sp>
        <p:nvSpPr>
          <p:cNvPr id="7" name="Rounded Rectangle 6"/>
          <p:cNvSpPr/>
          <p:nvPr/>
        </p:nvSpPr>
        <p:spPr>
          <a:xfrm>
            <a:off x="711200" y="2857500"/>
            <a:ext cx="1536700" cy="774700"/>
          </a:xfrm>
          <a:prstGeom prst="roundRect">
            <a:avLst>
              <a:gd name="adj" fmla="val 13114"/>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3009900"/>
            <a:ext cx="1282700" cy="304800"/>
          </a:xfrm>
          <a:prstGeom prst="rect">
            <a:avLst/>
          </a:prstGeom>
          <a:noFill/>
        </p:spPr>
        <p:txBody>
          <a:bodyPr wrap="square" lIns="0" rIns="0" tIns="0" bIns="0">
            <a:spAutoFit/>
          </a:bodyPr>
          <a:lstStyle/>
          <a:p>
            <a:pPr>
              <a:lnSpc>
                <a:spcPct val="118000"/>
              </a:lnSpc>
              <a:spcBef>
                <a:spcPts val="0"/>
              </a:spcBef>
              <a:spcAft>
                <a:spcPts val="0"/>
              </a:spcAft>
              <a:defRPr sz="1300" b="1">
                <a:solidFill>
                  <a:srgbClr val="FFFFFF"/>
                </a:solidFill>
                <a:latin typeface="Noto Sans CJK KR"/>
              </a:defRPr>
            </a:pPr>
            <a:r>
              <a:rPr>
                <a:ea typeface="Noto Sans CJK KR"/>
              </a:rPr>
              <a:t>A · 왼쪽 L8</a:t>
            </a:r>
          </a:p>
        </p:txBody>
      </p:sp>
      <p:sp>
        <p:nvSpPr>
          <p:cNvPr id="9" name="TextBox 8"/>
          <p:cNvSpPr txBox="1"/>
          <p:nvPr/>
        </p:nvSpPr>
        <p:spPr>
          <a:xfrm>
            <a:off x="838200" y="3340100"/>
            <a:ext cx="1282700" cy="254000"/>
          </a:xfrm>
          <a:prstGeom prst="rect">
            <a:avLst/>
          </a:prstGeom>
          <a:noFill/>
        </p:spPr>
        <p:txBody>
          <a:bodyPr wrap="square" lIns="0" rIns="0" tIns="0" bIns="0">
            <a:spAutoFit/>
          </a:bodyPr>
          <a:lstStyle/>
          <a:p>
            <a:pPr>
              <a:lnSpc>
                <a:spcPct val="118000"/>
              </a:lnSpc>
              <a:spcBef>
                <a:spcPts val="0"/>
              </a:spcBef>
              <a:spcAft>
                <a:spcPts val="0"/>
              </a:spcAft>
              <a:defRPr sz="1000" b="0">
                <a:solidFill>
                  <a:srgbClr val="ACBBB9"/>
                </a:solidFill>
                <a:latin typeface="Noto Sans CJK KR"/>
              </a:defRPr>
            </a:pPr>
            <a:r>
              <a:rPr>
                <a:ea typeface="Noto Sans CJK KR"/>
              </a:rPr>
              <a:t>8×8 ToF 센서</a:t>
            </a:r>
          </a:p>
        </p:txBody>
      </p:sp>
      <p:sp>
        <p:nvSpPr>
          <p:cNvPr id="10" name="Rounded Rectangle 9"/>
          <p:cNvSpPr/>
          <p:nvPr/>
        </p:nvSpPr>
        <p:spPr>
          <a:xfrm>
            <a:off x="711200" y="3987799"/>
            <a:ext cx="1536700" cy="774700"/>
          </a:xfrm>
          <a:prstGeom prst="roundRect">
            <a:avLst>
              <a:gd name="adj" fmla="val 13114"/>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4140200"/>
            <a:ext cx="1282700" cy="304800"/>
          </a:xfrm>
          <a:prstGeom prst="rect">
            <a:avLst/>
          </a:prstGeom>
          <a:noFill/>
        </p:spPr>
        <p:txBody>
          <a:bodyPr wrap="square" lIns="0" rIns="0" tIns="0" bIns="0">
            <a:spAutoFit/>
          </a:bodyPr>
          <a:lstStyle/>
          <a:p>
            <a:pPr>
              <a:lnSpc>
                <a:spcPct val="118000"/>
              </a:lnSpc>
              <a:spcBef>
                <a:spcPts val="0"/>
              </a:spcBef>
              <a:spcAft>
                <a:spcPts val="0"/>
              </a:spcAft>
              <a:defRPr sz="1300" b="1">
                <a:solidFill>
                  <a:srgbClr val="FFFFFF"/>
                </a:solidFill>
                <a:latin typeface="Noto Sans CJK KR"/>
              </a:defRPr>
            </a:pPr>
            <a:r>
              <a:rPr>
                <a:ea typeface="Noto Sans CJK KR"/>
              </a:rPr>
              <a:t>B · 오른쪽 L8</a:t>
            </a:r>
          </a:p>
        </p:txBody>
      </p:sp>
      <p:sp>
        <p:nvSpPr>
          <p:cNvPr id="12" name="TextBox 11"/>
          <p:cNvSpPr txBox="1"/>
          <p:nvPr/>
        </p:nvSpPr>
        <p:spPr>
          <a:xfrm>
            <a:off x="838200" y="4470400"/>
            <a:ext cx="1282700" cy="254000"/>
          </a:xfrm>
          <a:prstGeom prst="rect">
            <a:avLst/>
          </a:prstGeom>
          <a:noFill/>
        </p:spPr>
        <p:txBody>
          <a:bodyPr wrap="square" lIns="0" rIns="0" tIns="0" bIns="0">
            <a:spAutoFit/>
          </a:bodyPr>
          <a:lstStyle/>
          <a:p>
            <a:pPr>
              <a:lnSpc>
                <a:spcPct val="118000"/>
              </a:lnSpc>
              <a:spcBef>
                <a:spcPts val="0"/>
              </a:spcBef>
              <a:spcAft>
                <a:spcPts val="0"/>
              </a:spcAft>
              <a:defRPr sz="1000" b="0">
                <a:solidFill>
                  <a:srgbClr val="ACBBB9"/>
                </a:solidFill>
                <a:latin typeface="Noto Sans CJK KR"/>
              </a:defRPr>
            </a:pPr>
            <a:r>
              <a:rPr>
                <a:ea typeface="Noto Sans CJK KR"/>
              </a:rPr>
              <a:t>8×8 ToF 센서</a:t>
            </a:r>
          </a:p>
        </p:txBody>
      </p:sp>
      <p:cxnSp>
        <p:nvCxnSpPr>
          <p:cNvPr id="13" name="Connector 12"/>
          <p:cNvCxnSpPr/>
          <p:nvPr/>
        </p:nvCxnSpPr>
        <p:spPr>
          <a:xfrm>
            <a:off x="2247900" y="3238500"/>
            <a:ext cx="190500" cy="0"/>
          </a:xfrm>
          <a:prstGeom prst="line">
            <a:avLst/>
          </a:prstGeom>
          <a:ln w="2032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247900" y="4381500"/>
            <a:ext cx="190500" cy="0"/>
          </a:xfrm>
          <a:prstGeom prst="line">
            <a:avLst/>
          </a:prstGeom>
          <a:ln w="2032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438400" y="3238500"/>
            <a:ext cx="0" cy="1143000"/>
          </a:xfrm>
          <a:prstGeom prst="line">
            <a:avLst/>
          </a:prstGeom>
          <a:ln w="2032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438400" y="3797300"/>
            <a:ext cx="228600" cy="0"/>
          </a:xfrm>
          <a:prstGeom prst="line">
            <a:avLst/>
          </a:prstGeom>
          <a:ln w="2032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705100" y="3289300"/>
            <a:ext cx="1498600" cy="1066800"/>
          </a:xfrm>
          <a:prstGeom prst="roundRect">
            <a:avLst>
              <a:gd name="adj" fmla="val 9523"/>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57500" y="3479800"/>
            <a:ext cx="1193800" cy="5969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XIAO</a:t>
            </a:r>
          </a:p>
          <a:p>
            <a:pPr>
              <a:lnSpc>
                <a:spcPct val="118000"/>
              </a:lnSpc>
              <a:spcBef>
                <a:spcPts val="0"/>
              </a:spcBef>
              <a:spcAft>
                <a:spcPts val="0"/>
              </a:spcAft>
              <a:defRPr sz="1600" b="1">
                <a:solidFill>
                  <a:srgbClr val="FFFFFF"/>
                </a:solidFill>
                <a:latin typeface="Noto Sans CJK KR"/>
              </a:defRPr>
            </a:pPr>
            <a:r>
              <a:rPr>
                <a:ea typeface="Noto Sans CJK KR"/>
              </a:rPr>
              <a:t>ESP32-S3</a:t>
            </a:r>
          </a:p>
        </p:txBody>
      </p:sp>
      <p:cxnSp>
        <p:nvCxnSpPr>
          <p:cNvPr id="19" name="Connector 18"/>
          <p:cNvCxnSpPr/>
          <p:nvPr/>
        </p:nvCxnSpPr>
        <p:spPr>
          <a:xfrm>
            <a:off x="4203700" y="3797300"/>
            <a:ext cx="292100" cy="0"/>
          </a:xfrm>
          <a:prstGeom prst="line">
            <a:avLst/>
          </a:prstGeom>
          <a:ln w="2032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16400" y="3479800"/>
            <a:ext cx="342900" cy="228600"/>
          </a:xfrm>
          <a:prstGeom prst="rect">
            <a:avLst/>
          </a:prstGeom>
          <a:noFill/>
        </p:spPr>
        <p:txBody>
          <a:bodyPr wrap="square" lIns="0" rIns="0" tIns="0" bIns="0">
            <a:spAutoFit/>
          </a:bodyPr>
          <a:lstStyle/>
          <a:p>
            <a:pPr>
              <a:lnSpc>
                <a:spcPct val="118000"/>
              </a:lnSpc>
              <a:spcBef>
                <a:spcPts val="0"/>
              </a:spcBef>
              <a:spcAft>
                <a:spcPts val="0"/>
              </a:spcAft>
              <a:defRPr sz="850" b="0">
                <a:solidFill>
                  <a:srgbClr val="ACBBB9"/>
                </a:solidFill>
                <a:latin typeface="Noto Sans CJK KR"/>
              </a:defRPr>
            </a:pPr>
            <a:r>
              <a:rPr>
                <a:ea typeface="Noto Sans CJK KR"/>
              </a:rPr>
              <a:t>USB</a:t>
            </a:r>
          </a:p>
        </p:txBody>
      </p:sp>
      <p:sp>
        <p:nvSpPr>
          <p:cNvPr id="21" name="Rounded Rectangle 20"/>
          <p:cNvSpPr/>
          <p:nvPr/>
        </p:nvSpPr>
        <p:spPr>
          <a:xfrm>
            <a:off x="4533900" y="3289300"/>
            <a:ext cx="1435100" cy="1066800"/>
          </a:xfrm>
          <a:prstGeom prst="roundRect">
            <a:avLst>
              <a:gd name="adj" fmla="val 9523"/>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73600" y="3505200"/>
            <a:ext cx="1155700" cy="368300"/>
          </a:xfrm>
          <a:prstGeom prst="rect">
            <a:avLst/>
          </a:prstGeom>
          <a:noFill/>
        </p:spPr>
        <p:txBody>
          <a:bodyPr wrap="square" lIns="0" rIns="0" tIns="0" bIns="0">
            <a:spAutoFit/>
          </a:bodyPr>
          <a:lstStyle/>
          <a:p>
            <a:pPr>
              <a:lnSpc>
                <a:spcPct val="118000"/>
              </a:lnSpc>
              <a:spcBef>
                <a:spcPts val="0"/>
              </a:spcBef>
              <a:spcAft>
                <a:spcPts val="0"/>
              </a:spcAft>
              <a:defRPr sz="1700" b="1">
                <a:solidFill>
                  <a:srgbClr val="FFFFFF"/>
                </a:solidFill>
                <a:latin typeface="Noto Sans CJK KR"/>
              </a:defRPr>
            </a:pPr>
            <a:r>
              <a:rPr>
                <a:ea typeface="Noto Sans CJK KR"/>
              </a:rPr>
              <a:t>Android</a:t>
            </a:r>
          </a:p>
        </p:txBody>
      </p:sp>
      <p:sp>
        <p:nvSpPr>
          <p:cNvPr id="23" name="TextBox 22"/>
          <p:cNvSpPr txBox="1"/>
          <p:nvPr/>
        </p:nvSpPr>
        <p:spPr>
          <a:xfrm>
            <a:off x="4673600" y="3924300"/>
            <a:ext cx="1155700" cy="279400"/>
          </a:xfrm>
          <a:prstGeom prst="rect">
            <a:avLst/>
          </a:prstGeom>
          <a:noFill/>
        </p:spPr>
        <p:txBody>
          <a:bodyPr wrap="square" lIns="0" rIns="0" tIns="0" bIns="0">
            <a:spAutoFit/>
          </a:bodyPr>
          <a:lstStyle/>
          <a:p>
            <a:pPr>
              <a:lnSpc>
                <a:spcPct val="118000"/>
              </a:lnSpc>
              <a:spcBef>
                <a:spcPts val="0"/>
              </a:spcBef>
              <a:spcAft>
                <a:spcPts val="0"/>
              </a:spcAft>
              <a:defRPr sz="1000" b="0">
                <a:solidFill>
                  <a:srgbClr val="FFFFFF"/>
                </a:solidFill>
                <a:latin typeface="Noto Sans CJK KR"/>
              </a:defRPr>
            </a:pPr>
            <a:r>
              <a:rPr>
                <a:ea typeface="Noto Sans CJK KR"/>
              </a:rPr>
              <a:t>인식·소리 합성</a:t>
            </a:r>
          </a:p>
        </p:txBody>
      </p:sp>
      <p:sp>
        <p:nvSpPr>
          <p:cNvPr id="24" name="Rounded Rectangle 23"/>
          <p:cNvSpPr/>
          <p:nvPr/>
        </p:nvSpPr>
        <p:spPr>
          <a:xfrm>
            <a:off x="711200" y="5016500"/>
            <a:ext cx="5257800" cy="330200"/>
          </a:xfrm>
          <a:prstGeom prst="roundRect">
            <a:avLst>
              <a:gd name="adj" fmla="val 20000"/>
            </a:avLst>
          </a:prstGeom>
          <a:solidFill>
            <a:srgbClr val="202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 y="5067300"/>
            <a:ext cx="50038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ACBBB9"/>
                </a:solidFill>
                <a:latin typeface="Noto Sans CJK KR"/>
              </a:defRPr>
            </a:pPr>
            <a:r>
              <a:rPr>
                <a:ea typeface="Noto Sans CJK KR"/>
              </a:rPr>
              <a:t>전원·I²C 공유 / LP 개별 제어 / 스테레오 출력</a:t>
            </a:r>
          </a:p>
        </p:txBody>
      </p:sp>
      <p:sp>
        <p:nvSpPr>
          <p:cNvPr id="26" name="Rounded Rectangle 25"/>
          <p:cNvSpPr/>
          <p:nvPr/>
        </p:nvSpPr>
        <p:spPr>
          <a:xfrm>
            <a:off x="6261100" y="2667000"/>
            <a:ext cx="5219700" cy="3149600"/>
          </a:xfrm>
          <a:prstGeom prst="roundRect">
            <a:avLst>
              <a:gd name="adj" fmla="val 3225"/>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300" y="3886200"/>
            <a:ext cx="4813300" cy="3683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ACBBB9"/>
                </a:solidFill>
                <a:latin typeface="Noto Sans CJK KR"/>
              </a:defRPr>
            </a:pPr>
            <a:r>
              <a:rPr>
                <a:ea typeface="Noto Sans CJK KR"/>
              </a:rPr>
              <a:t>사진 1 · 테스트용 프로토타입</a:t>
            </a:r>
          </a:p>
        </p:txBody>
      </p:sp>
      <p:sp>
        <p:nvSpPr>
          <p:cNvPr id="28" name="TextBox 27"/>
          <p:cNvSpPr txBox="1"/>
          <p:nvPr/>
        </p:nvSpPr>
        <p:spPr>
          <a:xfrm>
            <a:off x="6464300" y="4381500"/>
            <a:ext cx="4813300" cy="3810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ACBBB9"/>
                </a:solidFill>
                <a:latin typeface="Noto Sans CJK KR"/>
              </a:defRPr>
            </a:pPr>
            <a:r>
              <a:rPr>
                <a:ea typeface="Noto Sans CJK KR"/>
              </a:rPr>
              <a:t>원본 파일 수신 후 삽입</a:t>
            </a:r>
          </a:p>
        </p:txBody>
      </p:sp>
      <p:sp>
        <p:nvSpPr>
          <p:cNvPr id="29" name="TextBox 28"/>
          <p:cNvSpPr txBox="1"/>
          <p:nvPr/>
        </p:nvSpPr>
        <p:spPr>
          <a:xfrm>
            <a:off x="6286500" y="5930900"/>
            <a:ext cx="5168900" cy="304800"/>
          </a:xfrm>
          <a:prstGeom prst="rect">
            <a:avLst/>
          </a:prstGeom>
          <a:noFill/>
        </p:spPr>
        <p:txBody>
          <a:bodyPr wrap="square" lIns="0" rIns="0" tIns="0" bIns="0">
            <a:spAutoFit/>
          </a:bodyPr>
          <a:lstStyle/>
          <a:p>
            <a:pPr>
              <a:lnSpc>
                <a:spcPct val="118000"/>
              </a:lnSpc>
              <a:spcBef>
                <a:spcPts val="0"/>
              </a:spcBef>
              <a:spcAft>
                <a:spcPts val="0"/>
              </a:spcAft>
              <a:defRPr sz="1100" b="0">
                <a:solidFill>
                  <a:srgbClr val="ACBBB9"/>
                </a:solidFill>
                <a:latin typeface="Noto Sans CJK KR"/>
              </a:defRPr>
            </a:pPr>
            <a:r>
              <a:rPr>
                <a:ea typeface="Noto Sans CJK KR"/>
              </a:rPr>
              <a:t>센서 2개 + Sense 보드·카메라를 연결해 기능 테스트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Y형 점퍼선 · 두 센서 주소 할당</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배선은 공유하고,</a:t>
            </a:r>
          </a:p>
          <a:p>
            <a:pPr>
              <a:lnSpc>
                <a:spcPct val="118000"/>
              </a:lnSpc>
              <a:spcBef>
                <a:spcPts val="0"/>
              </a:spcBef>
              <a:spcAft>
                <a:spcPts val="0"/>
              </a:spcAft>
              <a:defRPr sz="3100" b="1">
                <a:solidFill>
                  <a:srgbClr val="151D21"/>
                </a:solidFill>
                <a:latin typeface="Noto Sans CJK KR"/>
              </a:defRPr>
            </a:pPr>
            <a:r>
              <a:rPr>
                <a:ea typeface="Noto Sans CJK KR"/>
              </a:rPr>
              <a:t>두 센서는 서로 다른 주소로 구분한다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05</a:t>
            </a:r>
          </a:p>
        </p:txBody>
      </p:sp>
      <p:sp>
        <p:nvSpPr>
          <p:cNvPr id="7" name="Rounded Rectangle 6"/>
          <p:cNvSpPr/>
          <p:nvPr/>
        </p:nvSpPr>
        <p:spPr>
          <a:xfrm>
            <a:off x="711200" y="2819400"/>
            <a:ext cx="3403600" cy="2108200"/>
          </a:xfrm>
          <a:prstGeom prst="roundRect">
            <a:avLst>
              <a:gd name="adj" fmla="val 4819"/>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17900"/>
            <a:ext cx="2997200" cy="3683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66716F"/>
                </a:solidFill>
                <a:latin typeface="Noto Sans CJK KR"/>
              </a:defRPr>
            </a:pPr>
            <a:r>
              <a:rPr>
                <a:ea typeface="Noto Sans CJK KR"/>
              </a:rPr>
              <a:t>사진 2 · Y형 점퍼선</a:t>
            </a:r>
          </a:p>
        </p:txBody>
      </p:sp>
      <p:sp>
        <p:nvSpPr>
          <p:cNvPr id="9" name="TextBox 8"/>
          <p:cNvSpPr txBox="1"/>
          <p:nvPr/>
        </p:nvSpPr>
        <p:spPr>
          <a:xfrm>
            <a:off x="914400" y="4013200"/>
            <a:ext cx="2997200" cy="3810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66716F"/>
                </a:solidFill>
                <a:latin typeface="Noto Sans CJK KR"/>
              </a:defRPr>
            </a:pPr>
            <a:r>
              <a:rPr>
                <a:ea typeface="Noto Sans CJK KR"/>
              </a:rPr>
              <a:t>원본 파일 수신 후 삽입</a:t>
            </a:r>
          </a:p>
        </p:txBody>
      </p:sp>
      <p:sp>
        <p:nvSpPr>
          <p:cNvPr id="10" name="TextBox 9"/>
          <p:cNvSpPr txBox="1"/>
          <p:nvPr/>
        </p:nvSpPr>
        <p:spPr>
          <a:xfrm>
            <a:off x="736600" y="5130800"/>
            <a:ext cx="3378200" cy="825500"/>
          </a:xfrm>
          <a:prstGeom prst="rect">
            <a:avLst/>
          </a:prstGeom>
          <a:noFill/>
        </p:spPr>
        <p:txBody>
          <a:bodyPr wrap="square" lIns="0" rIns="0" tIns="0" bIns="0">
            <a:spAutoFit/>
          </a:bodyPr>
          <a:lstStyle/>
          <a:p>
            <a:pPr>
              <a:lnSpc>
                <a:spcPct val="118000"/>
              </a:lnSpc>
              <a:spcBef>
                <a:spcPts val="0"/>
              </a:spcBef>
              <a:spcAft>
                <a:spcPts val="0"/>
              </a:spcAft>
              <a:defRPr sz="1400" b="1">
                <a:solidFill>
                  <a:srgbClr val="287F89"/>
                </a:solidFill>
                <a:latin typeface="Noto Sans CJK KR"/>
              </a:defRPr>
            </a:pPr>
            <a:r>
              <a:rPr>
                <a:ea typeface="Noto Sans CJK KR"/>
              </a:rPr>
              <a:t>Y선: 전원·GND·SDA·SCL 분기</a:t>
            </a:r>
          </a:p>
          <a:p>
            <a:pPr>
              <a:lnSpc>
                <a:spcPct val="118000"/>
              </a:lnSpc>
              <a:spcBef>
                <a:spcPts val="0"/>
              </a:spcBef>
              <a:spcAft>
                <a:spcPts val="0"/>
              </a:spcAft>
              <a:defRPr sz="1400" b="1">
                <a:solidFill>
                  <a:srgbClr val="287F89"/>
                </a:solidFill>
                <a:latin typeface="Noto Sans CJK KR"/>
              </a:defRPr>
            </a:pPr>
            <a:r>
              <a:rPr>
                <a:ea typeface="Noto Sans CJK KR"/>
              </a:rPr>
              <a:t>LP: 센서마다 따로 제어</a:t>
            </a:r>
          </a:p>
        </p:txBody>
      </p:sp>
      <p:sp>
        <p:nvSpPr>
          <p:cNvPr id="11" name="Rounded Rectangle 10"/>
          <p:cNvSpPr/>
          <p:nvPr/>
        </p:nvSpPr>
        <p:spPr>
          <a:xfrm>
            <a:off x="4445000" y="2819400"/>
            <a:ext cx="2209800" cy="2768600"/>
          </a:xfrm>
          <a:prstGeom prst="roundRect">
            <a:avLst>
              <a:gd name="adj" fmla="val 4597"/>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2800" y="3022600"/>
            <a:ext cx="17780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01</a:t>
            </a:r>
          </a:p>
        </p:txBody>
      </p:sp>
      <p:sp>
        <p:nvSpPr>
          <p:cNvPr id="13" name="TextBox 12"/>
          <p:cNvSpPr txBox="1"/>
          <p:nvPr/>
        </p:nvSpPr>
        <p:spPr>
          <a:xfrm>
            <a:off x="4622800" y="3530600"/>
            <a:ext cx="1854200" cy="4064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A만 통신 가능</a:t>
            </a:r>
          </a:p>
        </p:txBody>
      </p:sp>
      <p:sp>
        <p:nvSpPr>
          <p:cNvPr id="14" name="TextBox 13"/>
          <p:cNvSpPr txBox="1"/>
          <p:nvPr/>
        </p:nvSpPr>
        <p:spPr>
          <a:xfrm>
            <a:off x="4622800" y="4165600"/>
            <a:ext cx="1854200" cy="6731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B를 LP로 분리한 뒤</a:t>
            </a:r>
          </a:p>
          <a:p>
            <a:pPr>
              <a:lnSpc>
                <a:spcPct val="118000"/>
              </a:lnSpc>
              <a:spcBef>
                <a:spcPts val="0"/>
              </a:spcBef>
              <a:spcAft>
                <a:spcPts val="0"/>
              </a:spcAft>
              <a:defRPr sz="1200" b="0">
                <a:solidFill>
                  <a:srgbClr val="66716F"/>
                </a:solidFill>
                <a:latin typeface="Noto Sans CJK KR"/>
              </a:defRPr>
            </a:pPr>
            <a:r>
              <a:rPr>
                <a:ea typeface="Noto Sans CJK KR"/>
              </a:rPr>
              <a:t>A 주소를 설정</a:t>
            </a:r>
          </a:p>
        </p:txBody>
      </p:sp>
      <p:sp>
        <p:nvSpPr>
          <p:cNvPr id="15" name="Rounded Rectangle 14"/>
          <p:cNvSpPr/>
          <p:nvPr/>
        </p:nvSpPr>
        <p:spPr>
          <a:xfrm>
            <a:off x="4622800" y="5041900"/>
            <a:ext cx="18542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49800" y="5092700"/>
            <a:ext cx="16002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0x2A</a:t>
            </a:r>
          </a:p>
        </p:txBody>
      </p:sp>
      <p:cxnSp>
        <p:nvCxnSpPr>
          <p:cNvPr id="17" name="Connector 16"/>
          <p:cNvCxnSpPr/>
          <p:nvPr/>
        </p:nvCxnSpPr>
        <p:spPr>
          <a:xfrm>
            <a:off x="6680200" y="4152900"/>
            <a:ext cx="101600" cy="0"/>
          </a:xfrm>
          <a:prstGeom prst="line">
            <a:avLst/>
          </a:prstGeom>
          <a:ln w="1778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19900" y="2819400"/>
            <a:ext cx="2209800" cy="2768600"/>
          </a:xfrm>
          <a:prstGeom prst="roundRect">
            <a:avLst>
              <a:gd name="adj" fmla="val 4597"/>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97700" y="3022600"/>
            <a:ext cx="17780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02</a:t>
            </a:r>
          </a:p>
        </p:txBody>
      </p:sp>
      <p:sp>
        <p:nvSpPr>
          <p:cNvPr id="20" name="TextBox 19"/>
          <p:cNvSpPr txBox="1"/>
          <p:nvPr/>
        </p:nvSpPr>
        <p:spPr>
          <a:xfrm>
            <a:off x="6997700" y="3530600"/>
            <a:ext cx="1854200" cy="4064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B만 통신 가능</a:t>
            </a:r>
          </a:p>
        </p:txBody>
      </p:sp>
      <p:sp>
        <p:nvSpPr>
          <p:cNvPr id="21" name="TextBox 20"/>
          <p:cNvSpPr txBox="1"/>
          <p:nvPr/>
        </p:nvSpPr>
        <p:spPr>
          <a:xfrm>
            <a:off x="6997700" y="4165600"/>
            <a:ext cx="1854200" cy="6731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A를 LP로 분리한 뒤</a:t>
            </a:r>
          </a:p>
          <a:p>
            <a:pPr>
              <a:lnSpc>
                <a:spcPct val="118000"/>
              </a:lnSpc>
              <a:spcBef>
                <a:spcPts val="0"/>
              </a:spcBef>
              <a:spcAft>
                <a:spcPts val="0"/>
              </a:spcAft>
              <a:defRPr sz="1200" b="0">
                <a:solidFill>
                  <a:srgbClr val="66716F"/>
                </a:solidFill>
                <a:latin typeface="Noto Sans CJK KR"/>
              </a:defRPr>
            </a:pPr>
            <a:r>
              <a:rPr>
                <a:ea typeface="Noto Sans CJK KR"/>
              </a:rPr>
              <a:t>B 주소를 설정</a:t>
            </a:r>
          </a:p>
        </p:txBody>
      </p:sp>
      <p:sp>
        <p:nvSpPr>
          <p:cNvPr id="22" name="Rounded Rectangle 21"/>
          <p:cNvSpPr/>
          <p:nvPr/>
        </p:nvSpPr>
        <p:spPr>
          <a:xfrm>
            <a:off x="6997700" y="5041900"/>
            <a:ext cx="18542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4700" y="5092700"/>
            <a:ext cx="16002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0x2B</a:t>
            </a:r>
          </a:p>
        </p:txBody>
      </p:sp>
      <p:cxnSp>
        <p:nvCxnSpPr>
          <p:cNvPr id="24" name="Connector 23"/>
          <p:cNvCxnSpPr/>
          <p:nvPr/>
        </p:nvCxnSpPr>
        <p:spPr>
          <a:xfrm>
            <a:off x="9055100" y="4152900"/>
            <a:ext cx="101600" cy="0"/>
          </a:xfrm>
          <a:prstGeom prst="line">
            <a:avLst/>
          </a:prstGeom>
          <a:ln w="1778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94800" y="2819400"/>
            <a:ext cx="2209800" cy="2768600"/>
          </a:xfrm>
          <a:prstGeom prst="roundRect">
            <a:avLst>
              <a:gd name="adj" fmla="val 4597"/>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3022600"/>
            <a:ext cx="17780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03</a:t>
            </a:r>
          </a:p>
        </p:txBody>
      </p:sp>
      <p:sp>
        <p:nvSpPr>
          <p:cNvPr id="27" name="TextBox 26"/>
          <p:cNvSpPr txBox="1"/>
          <p:nvPr/>
        </p:nvSpPr>
        <p:spPr>
          <a:xfrm>
            <a:off x="9372600" y="3530600"/>
            <a:ext cx="1854200" cy="4064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두 센서 측정</a:t>
            </a:r>
          </a:p>
        </p:txBody>
      </p:sp>
      <p:sp>
        <p:nvSpPr>
          <p:cNvPr id="28" name="TextBox 27"/>
          <p:cNvSpPr txBox="1"/>
          <p:nvPr/>
        </p:nvSpPr>
        <p:spPr>
          <a:xfrm>
            <a:off x="9372600" y="4165600"/>
            <a:ext cx="1854200" cy="6731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각 주소의 응답 확인 후</a:t>
            </a:r>
          </a:p>
          <a:p>
            <a:pPr>
              <a:lnSpc>
                <a:spcPct val="118000"/>
              </a:lnSpc>
              <a:spcBef>
                <a:spcPts val="0"/>
              </a:spcBef>
              <a:spcAft>
                <a:spcPts val="0"/>
              </a:spcAft>
              <a:defRPr sz="1200" b="0">
                <a:solidFill>
                  <a:srgbClr val="66716F"/>
                </a:solidFill>
                <a:latin typeface="Noto Sans CJK KR"/>
              </a:defRPr>
            </a:pPr>
            <a:r>
              <a:rPr>
                <a:ea typeface="Noto Sans CJK KR"/>
              </a:rPr>
              <a:t>A·B 거리값을 읽음</a:t>
            </a:r>
          </a:p>
        </p:txBody>
      </p:sp>
      <p:sp>
        <p:nvSpPr>
          <p:cNvPr id="29" name="Rounded Rectangle 28"/>
          <p:cNvSpPr/>
          <p:nvPr/>
        </p:nvSpPr>
        <p:spPr>
          <a:xfrm>
            <a:off x="9372600" y="5041900"/>
            <a:ext cx="18542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99600" y="5092700"/>
            <a:ext cx="16002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A + B</a:t>
            </a:r>
          </a:p>
        </p:txBody>
      </p:sp>
      <p:sp>
        <p:nvSpPr>
          <p:cNvPr id="31" name="TextBox 30"/>
          <p:cNvSpPr txBox="1"/>
          <p:nvPr/>
        </p:nvSpPr>
        <p:spPr>
          <a:xfrm>
            <a:off x="4445000" y="5854700"/>
            <a:ext cx="6997700" cy="3556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주소는 I²C 7비트 표기 · Y선이 주소를 바꾸는 것은 아니며 부팅 코드가 할당한다.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L8 센서 · 격자형 거리 측정</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VL53L8CX 두 개로</a:t>
            </a:r>
          </a:p>
          <a:p>
            <a:pPr>
              <a:lnSpc>
                <a:spcPct val="118000"/>
              </a:lnSpc>
              <a:spcBef>
                <a:spcPts val="0"/>
              </a:spcBef>
              <a:spcAft>
                <a:spcPts val="0"/>
              </a:spcAft>
              <a:defRPr sz="3100" b="1">
                <a:solidFill>
                  <a:srgbClr val="151D21"/>
                </a:solidFill>
                <a:latin typeface="Noto Sans CJK KR"/>
              </a:defRPr>
            </a:pPr>
            <a:r>
              <a:rPr>
                <a:ea typeface="Noto Sans CJK KR"/>
              </a:rPr>
              <a:t>총 128개 영역의 거리를 측정한다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06</a:t>
            </a:r>
          </a:p>
        </p:txBody>
      </p:sp>
      <p:sp>
        <p:nvSpPr>
          <p:cNvPr id="7" name="TextBox 6"/>
          <p:cNvSpPr txBox="1"/>
          <p:nvPr/>
        </p:nvSpPr>
        <p:spPr>
          <a:xfrm>
            <a:off x="711200" y="2730500"/>
            <a:ext cx="2324100" cy="317500"/>
          </a:xfrm>
          <a:prstGeom prst="rect">
            <a:avLst/>
          </a:prstGeom>
          <a:noFill/>
        </p:spPr>
        <p:txBody>
          <a:bodyPr wrap="square" lIns="0" rIns="0" tIns="0" bIns="0">
            <a:spAutoFit/>
          </a:bodyPr>
          <a:lstStyle/>
          <a:p>
            <a:pPr>
              <a:lnSpc>
                <a:spcPct val="118000"/>
              </a:lnSpc>
              <a:spcBef>
                <a:spcPts val="0"/>
              </a:spcBef>
              <a:spcAft>
                <a:spcPts val="0"/>
              </a:spcAft>
              <a:defRPr sz="1500" b="1">
                <a:solidFill>
                  <a:srgbClr val="287F89"/>
                </a:solidFill>
                <a:latin typeface="Noto Sans CJK KR"/>
              </a:defRPr>
            </a:pPr>
            <a:r>
              <a:rPr>
                <a:ea typeface="Noto Sans CJK KR"/>
              </a:rPr>
              <a:t>A · 8×8 = 64존</a:t>
            </a:r>
          </a:p>
        </p:txBody>
      </p:sp>
      <p:sp>
        <p:nvSpPr>
          <p:cNvPr id="8" name="Rounded Rectangle 7"/>
          <p:cNvSpPr/>
          <p:nvPr/>
        </p:nvSpPr>
        <p:spPr>
          <a:xfrm>
            <a:off x="7112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52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2192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732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7272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981199"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2352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892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12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52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2192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4732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7272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981199"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2352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4892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12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52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192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4732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7272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981199"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2352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4892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112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652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2192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4732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727200" y="4000500"/>
            <a:ext cx="215900" cy="215900"/>
          </a:xfrm>
          <a:prstGeom prst="roundRect">
            <a:avLst>
              <a:gd name="adj" fmla="val 11764"/>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981199"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2352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4892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112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652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2192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4732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7272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981199"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2352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24892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112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652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2192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4732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7272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981199"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2352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4892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112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9652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12192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14732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17272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981199"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22352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4892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112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9652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12192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4732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17272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981199"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22352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24892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11200" y="5422900"/>
            <a:ext cx="2311400" cy="2921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칸별 거리·유효 상태 보존</a:t>
            </a:r>
          </a:p>
        </p:txBody>
      </p:sp>
      <p:sp>
        <p:nvSpPr>
          <p:cNvPr id="73" name="TextBox 72"/>
          <p:cNvSpPr txBox="1"/>
          <p:nvPr/>
        </p:nvSpPr>
        <p:spPr>
          <a:xfrm>
            <a:off x="3187700" y="2730500"/>
            <a:ext cx="2324100" cy="317500"/>
          </a:xfrm>
          <a:prstGeom prst="rect">
            <a:avLst/>
          </a:prstGeom>
          <a:noFill/>
        </p:spPr>
        <p:txBody>
          <a:bodyPr wrap="square" lIns="0" rIns="0" tIns="0" bIns="0">
            <a:spAutoFit/>
          </a:bodyPr>
          <a:lstStyle/>
          <a:p>
            <a:pPr>
              <a:lnSpc>
                <a:spcPct val="118000"/>
              </a:lnSpc>
              <a:spcBef>
                <a:spcPts val="0"/>
              </a:spcBef>
              <a:spcAft>
                <a:spcPts val="0"/>
              </a:spcAft>
              <a:defRPr sz="1500" b="1">
                <a:solidFill>
                  <a:srgbClr val="287F89"/>
                </a:solidFill>
                <a:latin typeface="Noto Sans CJK KR"/>
              </a:defRPr>
            </a:pPr>
            <a:r>
              <a:rPr>
                <a:ea typeface="Noto Sans CJK KR"/>
              </a:rPr>
              <a:t>B · 8×8 = 64존</a:t>
            </a:r>
          </a:p>
        </p:txBody>
      </p:sp>
      <p:sp>
        <p:nvSpPr>
          <p:cNvPr id="74" name="Rounded Rectangle 73"/>
          <p:cNvSpPr/>
          <p:nvPr/>
        </p:nvSpPr>
        <p:spPr>
          <a:xfrm>
            <a:off x="31877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34417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36957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39497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42037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44577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47117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4965700" y="323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31877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34417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36957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39497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42037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44577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47117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4965700" y="349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31877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34417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36957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39497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42037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44577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47117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96"/>
          <p:cNvSpPr/>
          <p:nvPr/>
        </p:nvSpPr>
        <p:spPr>
          <a:xfrm>
            <a:off x="4965700" y="374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31877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34417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36957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39497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42037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44577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47117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4965700" y="4000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31877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34417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36957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3949700" y="4254500"/>
            <a:ext cx="215900" cy="215900"/>
          </a:xfrm>
          <a:prstGeom prst="roundRect">
            <a:avLst>
              <a:gd name="adj" fmla="val 11764"/>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42037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44577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47117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4965700" y="4254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31877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34417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36957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39497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42037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ounded Rectangle 118"/>
          <p:cNvSpPr/>
          <p:nvPr/>
        </p:nvSpPr>
        <p:spPr>
          <a:xfrm>
            <a:off x="44577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47117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4965700" y="4508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31877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34417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36957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39497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42037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44577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47117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4965700" y="4762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31877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34417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36957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39497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42037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44577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47117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4965700" y="5016500"/>
            <a:ext cx="215900" cy="215900"/>
          </a:xfrm>
          <a:prstGeom prst="roundRect">
            <a:avLst>
              <a:gd name="adj" fmla="val 11764"/>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187700" y="5422900"/>
            <a:ext cx="2311400" cy="2921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칸별 거리·유효 상태 보존</a:t>
            </a:r>
          </a:p>
        </p:txBody>
      </p:sp>
      <p:sp>
        <p:nvSpPr>
          <p:cNvPr id="139" name="Rounded Rectangle 138"/>
          <p:cNvSpPr/>
          <p:nvPr/>
        </p:nvSpPr>
        <p:spPr>
          <a:xfrm>
            <a:off x="6883400" y="2590800"/>
            <a:ext cx="4597400" cy="3594100"/>
          </a:xfrm>
          <a:prstGeom prst="roundRect">
            <a:avLst>
              <a:gd name="adj" fmla="val 2826"/>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086600" y="4032250"/>
            <a:ext cx="4190999" cy="3683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66716F"/>
                </a:solidFill>
                <a:latin typeface="Noto Sans CJK KR"/>
              </a:defRPr>
            </a:pPr>
            <a:r>
              <a:rPr>
                <a:ea typeface="Noto Sans CJK KR"/>
              </a:rPr>
              <a:t>사진 3 · 실제 A·B 거리 격자</a:t>
            </a:r>
          </a:p>
        </p:txBody>
      </p:sp>
      <p:sp>
        <p:nvSpPr>
          <p:cNvPr id="141" name="TextBox 140"/>
          <p:cNvSpPr txBox="1"/>
          <p:nvPr/>
        </p:nvSpPr>
        <p:spPr>
          <a:xfrm>
            <a:off x="7086600" y="4527550"/>
            <a:ext cx="4190999" cy="3810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66716F"/>
                </a:solidFill>
                <a:latin typeface="Noto Sans CJK KR"/>
              </a:defRPr>
            </a:pPr>
            <a:r>
              <a:rPr>
                <a:ea typeface="Noto Sans CJK KR"/>
              </a:rPr>
              <a:t>원본 파일 수신 후 삽입</a:t>
            </a:r>
          </a:p>
        </p:txBody>
      </p:sp>
      <p:sp>
        <p:nvSpPr>
          <p:cNvPr id="142" name="TextBox 141"/>
          <p:cNvSpPr txBox="1"/>
          <p:nvPr/>
        </p:nvSpPr>
        <p:spPr>
          <a:xfrm>
            <a:off x="736600" y="5905500"/>
            <a:ext cx="5854700" cy="3048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칸 위치 → 방위·고도 추정 → HRTF 방향 선택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HRTF · 방향을 소리로 만드는 원리</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두 귀에 다른 신호를 보내</a:t>
            </a:r>
          </a:p>
          <a:p>
            <a:pPr>
              <a:lnSpc>
                <a:spcPct val="118000"/>
              </a:lnSpc>
              <a:spcBef>
                <a:spcPts val="0"/>
              </a:spcBef>
              <a:spcAft>
                <a:spcPts val="0"/>
              </a:spcAft>
              <a:defRPr sz="3100" b="1">
                <a:solidFill>
                  <a:srgbClr val="151D21"/>
                </a:solidFill>
                <a:latin typeface="Noto Sans CJK KR"/>
              </a:defRPr>
            </a:pPr>
            <a:r>
              <a:rPr>
                <a:ea typeface="Noto Sans CJK KR"/>
              </a:rPr>
              <a:t>측정점의 방향을 들려준다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07</a:t>
            </a:r>
          </a:p>
        </p:txBody>
      </p:sp>
      <p:sp>
        <p:nvSpPr>
          <p:cNvPr id="7" name="TextBox 6"/>
          <p:cNvSpPr txBox="1"/>
          <p:nvPr/>
        </p:nvSpPr>
        <p:spPr>
          <a:xfrm>
            <a:off x="736600" y="2743200"/>
            <a:ext cx="4445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01</a:t>
            </a:r>
          </a:p>
        </p:txBody>
      </p:sp>
      <p:sp>
        <p:nvSpPr>
          <p:cNvPr id="8" name="TextBox 7"/>
          <p:cNvSpPr txBox="1"/>
          <p:nvPr/>
        </p:nvSpPr>
        <p:spPr>
          <a:xfrm>
            <a:off x="1320800" y="2679700"/>
            <a:ext cx="4572000" cy="393700"/>
          </a:xfrm>
          <a:prstGeom prst="rect">
            <a:avLst/>
          </a:prstGeom>
          <a:noFill/>
        </p:spPr>
        <p:txBody>
          <a:bodyPr wrap="square" lIns="0" rIns="0" tIns="0" bIns="0">
            <a:spAutoFit/>
          </a:bodyPr>
          <a:lstStyle/>
          <a:p>
            <a:pPr>
              <a:lnSpc>
                <a:spcPct val="118000"/>
              </a:lnSpc>
              <a:spcBef>
                <a:spcPts val="0"/>
              </a:spcBef>
              <a:spcAft>
                <a:spcPts val="0"/>
              </a:spcAft>
              <a:defRPr sz="2000" b="1">
                <a:solidFill>
                  <a:srgbClr val="151D21"/>
                </a:solidFill>
                <a:latin typeface="Noto Sans CJK KR"/>
              </a:defRPr>
            </a:pPr>
            <a:r>
              <a:rPr>
                <a:ea typeface="Noto Sans CJK KR"/>
              </a:rPr>
              <a:t>도달 시간 차이</a:t>
            </a:r>
          </a:p>
        </p:txBody>
      </p:sp>
      <p:sp>
        <p:nvSpPr>
          <p:cNvPr id="9" name="TextBox 8"/>
          <p:cNvSpPr txBox="1"/>
          <p:nvPr/>
        </p:nvSpPr>
        <p:spPr>
          <a:xfrm>
            <a:off x="1320800" y="3124200"/>
            <a:ext cx="4572000" cy="3810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가까운 쪽 귀에 먼저 도착한다.</a:t>
            </a:r>
          </a:p>
        </p:txBody>
      </p:sp>
      <p:sp>
        <p:nvSpPr>
          <p:cNvPr id="10" name="TextBox 9"/>
          <p:cNvSpPr txBox="1"/>
          <p:nvPr/>
        </p:nvSpPr>
        <p:spPr>
          <a:xfrm>
            <a:off x="736600" y="3708400"/>
            <a:ext cx="4445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02</a:t>
            </a:r>
          </a:p>
        </p:txBody>
      </p:sp>
      <p:sp>
        <p:nvSpPr>
          <p:cNvPr id="11" name="TextBox 10"/>
          <p:cNvSpPr txBox="1"/>
          <p:nvPr/>
        </p:nvSpPr>
        <p:spPr>
          <a:xfrm>
            <a:off x="1320800" y="3644900"/>
            <a:ext cx="4572000" cy="393700"/>
          </a:xfrm>
          <a:prstGeom prst="rect">
            <a:avLst/>
          </a:prstGeom>
          <a:noFill/>
        </p:spPr>
        <p:txBody>
          <a:bodyPr wrap="square" lIns="0" rIns="0" tIns="0" bIns="0">
            <a:spAutoFit/>
          </a:bodyPr>
          <a:lstStyle/>
          <a:p>
            <a:pPr>
              <a:lnSpc>
                <a:spcPct val="118000"/>
              </a:lnSpc>
              <a:spcBef>
                <a:spcPts val="0"/>
              </a:spcBef>
              <a:spcAft>
                <a:spcPts val="0"/>
              </a:spcAft>
              <a:defRPr sz="2000" b="1">
                <a:solidFill>
                  <a:srgbClr val="151D21"/>
                </a:solidFill>
                <a:latin typeface="Noto Sans CJK KR"/>
              </a:defRPr>
            </a:pPr>
            <a:r>
              <a:rPr>
                <a:ea typeface="Noto Sans CJK KR"/>
              </a:rPr>
              <a:t>양쪽 귀의 음량 차이</a:t>
            </a:r>
          </a:p>
        </p:txBody>
      </p:sp>
      <p:sp>
        <p:nvSpPr>
          <p:cNvPr id="12" name="TextBox 11"/>
          <p:cNvSpPr txBox="1"/>
          <p:nvPr/>
        </p:nvSpPr>
        <p:spPr>
          <a:xfrm>
            <a:off x="1320800" y="4089400"/>
            <a:ext cx="4572000" cy="3810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머리가 소리를 가리는 효과를 만든다.</a:t>
            </a:r>
          </a:p>
        </p:txBody>
      </p:sp>
      <p:sp>
        <p:nvSpPr>
          <p:cNvPr id="13" name="TextBox 12"/>
          <p:cNvSpPr txBox="1"/>
          <p:nvPr/>
        </p:nvSpPr>
        <p:spPr>
          <a:xfrm>
            <a:off x="736600" y="4673600"/>
            <a:ext cx="4445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03</a:t>
            </a:r>
          </a:p>
        </p:txBody>
      </p:sp>
      <p:sp>
        <p:nvSpPr>
          <p:cNvPr id="14" name="TextBox 13"/>
          <p:cNvSpPr txBox="1"/>
          <p:nvPr/>
        </p:nvSpPr>
        <p:spPr>
          <a:xfrm>
            <a:off x="1320800" y="4610100"/>
            <a:ext cx="4572000" cy="393700"/>
          </a:xfrm>
          <a:prstGeom prst="rect">
            <a:avLst/>
          </a:prstGeom>
          <a:noFill/>
        </p:spPr>
        <p:txBody>
          <a:bodyPr wrap="square" lIns="0" rIns="0" tIns="0" bIns="0">
            <a:spAutoFit/>
          </a:bodyPr>
          <a:lstStyle/>
          <a:p>
            <a:pPr>
              <a:lnSpc>
                <a:spcPct val="118000"/>
              </a:lnSpc>
              <a:spcBef>
                <a:spcPts val="0"/>
              </a:spcBef>
              <a:spcAft>
                <a:spcPts val="0"/>
              </a:spcAft>
              <a:defRPr sz="2000" b="1">
                <a:solidFill>
                  <a:srgbClr val="151D21"/>
                </a:solidFill>
                <a:latin typeface="Noto Sans CJK KR"/>
              </a:defRPr>
            </a:pPr>
            <a:r>
              <a:rPr>
                <a:ea typeface="Noto Sans CJK KR"/>
              </a:rPr>
              <a:t>주파수별 변화</a:t>
            </a:r>
          </a:p>
        </p:txBody>
      </p:sp>
      <p:sp>
        <p:nvSpPr>
          <p:cNvPr id="15" name="TextBox 14"/>
          <p:cNvSpPr txBox="1"/>
          <p:nvPr/>
        </p:nvSpPr>
        <p:spPr>
          <a:xfrm>
            <a:off x="1320800" y="5054600"/>
            <a:ext cx="4572000" cy="3810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귓바퀴·머리의 방향별 필터 효과를 반영한다.</a:t>
            </a:r>
          </a:p>
        </p:txBody>
      </p:sp>
      <p:sp>
        <p:nvSpPr>
          <p:cNvPr id="16" name="Rounded Rectangle 15"/>
          <p:cNvSpPr/>
          <p:nvPr/>
        </p:nvSpPr>
        <p:spPr>
          <a:xfrm>
            <a:off x="6477000" y="2667000"/>
            <a:ext cx="5003800" cy="2908300"/>
          </a:xfrm>
          <a:prstGeom prst="roundRect">
            <a:avLst>
              <a:gd name="adj" fmla="val 3493"/>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24900" y="2946400"/>
            <a:ext cx="330200" cy="330200"/>
          </a:xfrm>
          <a:prstGeom prst="ellipse">
            <a:avLst/>
          </a:prstGeom>
          <a:solidFill>
            <a:srgbClr val="C45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0" y="3365500"/>
            <a:ext cx="2540000" cy="317500"/>
          </a:xfrm>
          <a:prstGeom prst="rect">
            <a:avLst/>
          </a:prstGeom>
          <a:noFill/>
        </p:spPr>
        <p:txBody>
          <a:bodyPr wrap="square" lIns="0" rIns="0" tIns="0" bIns="0">
            <a:spAutoFit/>
          </a:bodyPr>
          <a:lstStyle/>
          <a:p>
            <a:pPr algn="ctr">
              <a:lnSpc>
                <a:spcPct val="118000"/>
              </a:lnSpc>
              <a:spcBef>
                <a:spcPts val="0"/>
              </a:spcBef>
              <a:spcAft>
                <a:spcPts val="0"/>
              </a:spcAft>
              <a:defRPr sz="1300" b="0">
                <a:solidFill>
                  <a:srgbClr val="ACBBB9"/>
                </a:solidFill>
                <a:latin typeface="Noto Sans CJK KR"/>
              </a:defRPr>
            </a:pPr>
            <a:r>
              <a:rPr>
                <a:ea typeface="Noto Sans CJK KR"/>
              </a:rPr>
              <a:t>선택한 존의 추정 방향</a:t>
            </a:r>
          </a:p>
        </p:txBody>
      </p:sp>
      <p:cxnSp>
        <p:nvCxnSpPr>
          <p:cNvPr id="19" name="Connector 18"/>
          <p:cNvCxnSpPr/>
          <p:nvPr/>
        </p:nvCxnSpPr>
        <p:spPr>
          <a:xfrm>
            <a:off x="8877300" y="3670300"/>
            <a:ext cx="0" cy="279400"/>
          </a:xfrm>
          <a:prstGeom prst="line">
            <a:avLst/>
          </a:prstGeom>
          <a:ln w="2286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696199" y="3949700"/>
            <a:ext cx="2413001" cy="0"/>
          </a:xfrm>
          <a:prstGeom prst="line">
            <a:avLst/>
          </a:prstGeom>
          <a:ln w="2286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696199" y="3949700"/>
            <a:ext cx="0" cy="190500"/>
          </a:xfrm>
          <a:prstGeom prst="line">
            <a:avLst/>
          </a:prstGeom>
          <a:ln w="2286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83400" y="4165600"/>
            <a:ext cx="1714500" cy="533400"/>
          </a:xfrm>
          <a:prstGeom prst="roundRect">
            <a:avLst>
              <a:gd name="adj" fmla="val 19047"/>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5000" y="4305300"/>
            <a:ext cx="1511300" cy="304800"/>
          </a:xfrm>
          <a:prstGeom prst="rect">
            <a:avLst/>
          </a:prstGeom>
          <a:noFill/>
        </p:spPr>
        <p:txBody>
          <a:bodyPr wrap="square" lIns="0" rIns="0" tIns="0" bIns="0">
            <a:spAutoFit/>
          </a:bodyPr>
          <a:lstStyle/>
          <a:p>
            <a:pPr algn="ctr">
              <a:lnSpc>
                <a:spcPct val="118000"/>
              </a:lnSpc>
              <a:spcBef>
                <a:spcPts val="0"/>
              </a:spcBef>
              <a:spcAft>
                <a:spcPts val="0"/>
              </a:spcAft>
              <a:defRPr sz="1400" b="1">
                <a:solidFill>
                  <a:srgbClr val="FFFFFF"/>
                </a:solidFill>
                <a:latin typeface="Noto Sans CJK KR"/>
              </a:defRPr>
            </a:pPr>
            <a:r>
              <a:rPr>
                <a:ea typeface="Noto Sans CJK KR"/>
              </a:rPr>
              <a:t>왼쪽 귀 필터</a:t>
            </a:r>
          </a:p>
        </p:txBody>
      </p:sp>
      <p:cxnSp>
        <p:nvCxnSpPr>
          <p:cNvPr id="24" name="Connector 23"/>
          <p:cNvCxnSpPr/>
          <p:nvPr/>
        </p:nvCxnSpPr>
        <p:spPr>
          <a:xfrm flipV="1">
            <a:off x="7010400" y="4803563"/>
            <a:ext cx="44450" cy="12403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054850" y="4763876"/>
            <a:ext cx="44450" cy="3968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99300" y="4763876"/>
            <a:ext cx="44450" cy="7165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143750" y="4835526"/>
            <a:ext cx="44450" cy="13426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188200" y="4969789"/>
            <a:ext cx="44450" cy="10557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232650" y="5069135"/>
            <a:ext cx="44450" cy="622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277100" y="4973897"/>
            <a:ext cx="44450" cy="9523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321550" y="4862833"/>
            <a:ext cx="44450" cy="11106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66000" y="4808744"/>
            <a:ext cx="44449" cy="54089"/>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410449" y="4808744"/>
            <a:ext cx="44451" cy="2911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454900" y="4837861"/>
            <a:ext cx="44450" cy="8196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499350" y="4919825"/>
            <a:ext cx="44450" cy="7521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543800" y="4995039"/>
            <a:ext cx="44450" cy="2165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588250" y="4978670"/>
            <a:ext cx="44449" cy="3802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632699" y="4913630"/>
            <a:ext cx="44451" cy="6504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677150" y="4866738"/>
            <a:ext cx="44450" cy="4689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721600" y="4865190"/>
            <a:ext cx="44450" cy="154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766050" y="4865190"/>
            <a:ext cx="44449" cy="3831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10499" y="4903503"/>
            <a:ext cx="44451" cy="48155"/>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54950" y="4951658"/>
            <a:ext cx="44450" cy="2600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899400" y="4968164"/>
            <a:ext cx="44450" cy="9501"/>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7943850" y="4934252"/>
            <a:ext cx="44450" cy="3391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7988300" y="4900951"/>
            <a:ext cx="44449" cy="33301"/>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032749" y="4889324"/>
            <a:ext cx="44451" cy="1162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077200" y="4889324"/>
            <a:ext cx="44450" cy="1434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121650" y="4903667"/>
            <a:ext cx="44450" cy="2749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166100" y="4931165"/>
            <a:ext cx="44449" cy="2131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10549" y="4952478"/>
            <a:ext cx="44451" cy="2471"/>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255000" y="4939697"/>
            <a:ext cx="44450" cy="1525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299450" y="4918935"/>
            <a:ext cx="44450" cy="2076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343900" y="4906638"/>
            <a:ext cx="44450" cy="1229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109200" y="3949700"/>
            <a:ext cx="0" cy="190500"/>
          </a:xfrm>
          <a:prstGeom prst="line">
            <a:avLst/>
          </a:prstGeom>
          <a:ln w="2286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9296400" y="4165600"/>
            <a:ext cx="1714500" cy="533400"/>
          </a:xfrm>
          <a:prstGeom prst="roundRect">
            <a:avLst>
              <a:gd name="adj" fmla="val 19047"/>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98000" y="4305300"/>
            <a:ext cx="1511300" cy="304800"/>
          </a:xfrm>
          <a:prstGeom prst="rect">
            <a:avLst/>
          </a:prstGeom>
          <a:noFill/>
        </p:spPr>
        <p:txBody>
          <a:bodyPr wrap="square" lIns="0" rIns="0" tIns="0" bIns="0">
            <a:spAutoFit/>
          </a:bodyPr>
          <a:lstStyle/>
          <a:p>
            <a:pPr algn="ctr">
              <a:lnSpc>
                <a:spcPct val="118000"/>
              </a:lnSpc>
              <a:spcBef>
                <a:spcPts val="0"/>
              </a:spcBef>
              <a:spcAft>
                <a:spcPts val="0"/>
              </a:spcAft>
              <a:defRPr sz="1400" b="1">
                <a:solidFill>
                  <a:srgbClr val="FFFFFF"/>
                </a:solidFill>
                <a:latin typeface="Noto Sans CJK KR"/>
              </a:defRPr>
            </a:pPr>
            <a:r>
              <a:rPr>
                <a:ea typeface="Noto Sans CJK KR"/>
              </a:rPr>
              <a:t>오른쪽 귀 필터</a:t>
            </a:r>
          </a:p>
        </p:txBody>
      </p:sp>
      <p:cxnSp>
        <p:nvCxnSpPr>
          <p:cNvPr id="58" name="Connector 57"/>
          <p:cNvCxnSpPr/>
          <p:nvPr/>
        </p:nvCxnSpPr>
        <p:spPr>
          <a:xfrm>
            <a:off x="9423400" y="5059430"/>
            <a:ext cx="44450" cy="2984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9467850" y="5009178"/>
            <a:ext cx="44450" cy="80099"/>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9512300" y="4873603"/>
            <a:ext cx="44450" cy="135575"/>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9556750" y="4774747"/>
            <a:ext cx="44450" cy="98856"/>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601200" y="4774747"/>
            <a:ext cx="44450" cy="509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645650" y="4779837"/>
            <a:ext cx="44450" cy="10557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690100" y="4885410"/>
            <a:ext cx="44450" cy="13426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4550" y="5019673"/>
            <a:ext cx="44450" cy="7165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9779000" y="5051636"/>
            <a:ext cx="44450" cy="3968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823450" y="4927600"/>
            <a:ext cx="44450" cy="124036"/>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867900" y="4803563"/>
            <a:ext cx="44450" cy="12403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912350" y="4763876"/>
            <a:ext cx="44450" cy="3968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956800" y="4763876"/>
            <a:ext cx="44450" cy="7165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001250" y="4835526"/>
            <a:ext cx="44450" cy="13426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045700" y="4969789"/>
            <a:ext cx="44450" cy="10557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0090150" y="5069135"/>
            <a:ext cx="44450" cy="622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0134600" y="4973897"/>
            <a:ext cx="44450" cy="9523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0179050" y="4862833"/>
            <a:ext cx="44450" cy="11106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0223500" y="4808744"/>
            <a:ext cx="44450" cy="54089"/>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267950" y="4808744"/>
            <a:ext cx="44450" cy="2911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0312400" y="4837861"/>
            <a:ext cx="44450" cy="8196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356850" y="4919825"/>
            <a:ext cx="44450" cy="7521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401300" y="4995039"/>
            <a:ext cx="44450" cy="2165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445750" y="4978670"/>
            <a:ext cx="44450" cy="3802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0490200" y="4913630"/>
            <a:ext cx="44450" cy="6504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534650" y="4866738"/>
            <a:ext cx="44450" cy="4689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579100" y="4865190"/>
            <a:ext cx="44450" cy="154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623550" y="4865190"/>
            <a:ext cx="44450" cy="3831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668000" y="4903503"/>
            <a:ext cx="44450" cy="48155"/>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712450" y="4951658"/>
            <a:ext cx="44450" cy="2600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756900" y="4968164"/>
            <a:ext cx="44450" cy="9501"/>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718300" y="5219700"/>
            <a:ext cx="45085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ACBBB9"/>
                </a:solidFill>
                <a:latin typeface="Noto Sans CJK KR"/>
              </a:defRPr>
            </a:pPr>
            <a:r>
              <a:rPr>
                <a:ea typeface="Noto Sans CJK KR"/>
              </a:rPr>
              <a:t>귀별 시간·음량·주파수 특성을 함께 반영</a:t>
            </a:r>
          </a:p>
        </p:txBody>
      </p:sp>
      <p:sp>
        <p:nvSpPr>
          <p:cNvPr id="90" name="Rounded Rectangle 89"/>
          <p:cNvSpPr/>
          <p:nvPr/>
        </p:nvSpPr>
        <p:spPr>
          <a:xfrm>
            <a:off x="711200" y="5702300"/>
            <a:ext cx="10769600" cy="571500"/>
          </a:xfrm>
          <a:prstGeom prst="roundRect">
            <a:avLst>
              <a:gd name="adj" fmla="val 8888"/>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01700" y="5765800"/>
            <a:ext cx="10414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MIT KEMAR 710방향 실측 필터 · 측정점의 방위·고도에 가까운 필터 선택</a:t>
            </a:r>
          </a:p>
        </p:txBody>
      </p:sp>
      <p:sp>
        <p:nvSpPr>
          <p:cNvPr id="92" name="TextBox 91"/>
          <p:cNvSpPr txBox="1"/>
          <p:nvPr/>
        </p:nvSpPr>
        <p:spPr>
          <a:xfrm>
            <a:off x="901700" y="6045200"/>
            <a:ext cx="10414000" cy="215900"/>
          </a:xfrm>
          <a:prstGeom prst="rect">
            <a:avLst/>
          </a:prstGeom>
          <a:noFill/>
        </p:spPr>
        <p:txBody>
          <a:bodyPr wrap="square" lIns="0" rIns="0" tIns="0" bIns="0">
            <a:spAutoFit/>
          </a:bodyPr>
          <a:lstStyle/>
          <a:p>
            <a:pPr>
              <a:lnSpc>
                <a:spcPct val="118000"/>
              </a:lnSpc>
              <a:spcBef>
                <a:spcPts val="0"/>
              </a:spcBef>
              <a:spcAft>
                <a:spcPts val="0"/>
              </a:spcAft>
              <a:defRPr sz="969" b="0">
                <a:solidFill>
                  <a:srgbClr val="66716F"/>
                </a:solidFill>
                <a:latin typeface="Noto Sans CJK KR"/>
              </a:defRPr>
            </a:pPr>
            <a:r>
              <a:rPr>
                <a:ea typeface="Noto Sans CJK KR"/>
              </a:rPr>
              <a:t>© 1994 MIT Media Laboratory · 연구·상업 이용 가능 / 저자 Bill Gardner·Keith Martin 인용 조건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거리 표현 · 연속 음량 곡선</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거리를 연속적인 음량으로 바꾸고,</a:t>
            </a:r>
          </a:p>
          <a:p>
            <a:pPr>
              <a:lnSpc>
                <a:spcPct val="118000"/>
              </a:lnSpc>
              <a:spcBef>
                <a:spcPts val="0"/>
              </a:spcBef>
              <a:spcAft>
                <a:spcPts val="0"/>
              </a:spcAft>
              <a:defRPr sz="3100" b="1">
                <a:solidFill>
                  <a:srgbClr val="151D21"/>
                </a:solidFill>
                <a:latin typeface="Noto Sans CJK KR"/>
              </a:defRPr>
            </a:pPr>
            <a:r>
              <a:rPr>
                <a:ea typeface="Noto Sans CJK KR"/>
              </a:rPr>
              <a:t>선형과 곡선의 차이를 비교한다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08</a:t>
            </a:r>
          </a:p>
        </p:txBody>
      </p:sp>
      <p:sp>
        <p:nvSpPr>
          <p:cNvPr id="7" name="Rounded Rectangle 6"/>
          <p:cNvSpPr/>
          <p:nvPr/>
        </p:nvSpPr>
        <p:spPr>
          <a:xfrm>
            <a:off x="711200" y="2667000"/>
            <a:ext cx="5461000" cy="3530600"/>
          </a:xfrm>
          <a:prstGeom prst="roundRect">
            <a:avLst>
              <a:gd name="adj" fmla="val 2877"/>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7900" y="2857500"/>
            <a:ext cx="4940300" cy="3302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가까워질수록 음량 게인이 증가</a:t>
            </a:r>
          </a:p>
        </p:txBody>
      </p:sp>
      <p:cxnSp>
        <p:nvCxnSpPr>
          <p:cNvPr id="9" name="Connector 8"/>
          <p:cNvCxnSpPr/>
          <p:nvPr/>
        </p:nvCxnSpPr>
        <p:spPr>
          <a:xfrm flipV="1">
            <a:off x="1346200" y="3568700"/>
            <a:ext cx="0" cy="1778000"/>
          </a:xfrm>
          <a:prstGeom prst="line">
            <a:avLst/>
          </a:prstGeom>
          <a:ln w="12700">
            <a:solidFill>
              <a:srgbClr val="66716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46200" y="5346700"/>
            <a:ext cx="4191000" cy="0"/>
          </a:xfrm>
          <a:prstGeom prst="line">
            <a:avLst/>
          </a:prstGeom>
          <a:ln w="12700">
            <a:solidFill>
              <a:srgbClr val="66716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295400" y="5346700"/>
            <a:ext cx="50800" cy="0"/>
          </a:xfrm>
          <a:prstGeom prst="line">
            <a:avLst/>
          </a:prstGeom>
          <a:ln w="12700">
            <a:solidFill>
              <a:srgbClr val="66716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100" y="5232400"/>
            <a:ext cx="469899" cy="254000"/>
          </a:xfrm>
          <a:prstGeom prst="rect">
            <a:avLst/>
          </a:prstGeom>
          <a:noFill/>
        </p:spPr>
        <p:txBody>
          <a:bodyPr wrap="square" lIns="0" rIns="0" tIns="0" bIns="0">
            <a:spAutoFit/>
          </a:bodyPr>
          <a:lstStyle/>
          <a:p>
            <a:pPr algn="r">
              <a:lnSpc>
                <a:spcPct val="118000"/>
              </a:lnSpc>
              <a:spcBef>
                <a:spcPts val="0"/>
              </a:spcBef>
              <a:spcAft>
                <a:spcPts val="0"/>
              </a:spcAft>
              <a:defRPr sz="950" b="0">
                <a:solidFill>
                  <a:srgbClr val="66716F"/>
                </a:solidFill>
                <a:latin typeface="Noto Sans CJK KR"/>
              </a:defRPr>
            </a:pPr>
            <a:r>
              <a:rPr>
                <a:ea typeface="Noto Sans CJK KR"/>
              </a:rPr>
              <a:t>0.12</a:t>
            </a:r>
          </a:p>
        </p:txBody>
      </p:sp>
      <p:cxnSp>
        <p:nvCxnSpPr>
          <p:cNvPr id="13" name="Connector 12"/>
          <p:cNvCxnSpPr/>
          <p:nvPr/>
        </p:nvCxnSpPr>
        <p:spPr>
          <a:xfrm>
            <a:off x="1295400" y="3568700"/>
            <a:ext cx="50800" cy="0"/>
          </a:xfrm>
          <a:prstGeom prst="line">
            <a:avLst/>
          </a:prstGeom>
          <a:ln w="12700">
            <a:solidFill>
              <a:srgbClr val="66716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0100" y="3454400"/>
            <a:ext cx="469899" cy="254000"/>
          </a:xfrm>
          <a:prstGeom prst="rect">
            <a:avLst/>
          </a:prstGeom>
          <a:noFill/>
        </p:spPr>
        <p:txBody>
          <a:bodyPr wrap="square" lIns="0" rIns="0" tIns="0" bIns="0">
            <a:spAutoFit/>
          </a:bodyPr>
          <a:lstStyle/>
          <a:p>
            <a:pPr algn="r">
              <a:lnSpc>
                <a:spcPct val="118000"/>
              </a:lnSpc>
              <a:spcBef>
                <a:spcPts val="0"/>
              </a:spcBef>
              <a:spcAft>
                <a:spcPts val="0"/>
              </a:spcAft>
              <a:defRPr sz="950" b="0">
                <a:solidFill>
                  <a:srgbClr val="66716F"/>
                </a:solidFill>
                <a:latin typeface="Noto Sans CJK KR"/>
              </a:defRPr>
            </a:pPr>
            <a:r>
              <a:rPr>
                <a:ea typeface="Noto Sans CJK KR"/>
              </a:rPr>
              <a:t>0.55</a:t>
            </a:r>
          </a:p>
        </p:txBody>
      </p:sp>
      <p:cxnSp>
        <p:nvCxnSpPr>
          <p:cNvPr id="15" name="Connector 14"/>
          <p:cNvCxnSpPr/>
          <p:nvPr/>
        </p:nvCxnSpPr>
        <p:spPr>
          <a:xfrm flipV="1">
            <a:off x="1346200" y="53170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416050" y="52874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485900" y="52578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555750" y="52281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25600" y="51985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695450" y="51689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765300" y="51392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835150" y="51096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905000" y="50800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974850" y="50503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044700" y="50207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114550" y="49911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184400" y="49614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254250" y="49318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324100" y="49022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393950" y="48725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463800" y="48429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533650" y="48133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603500" y="47836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73350" y="47540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743200" y="47244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813050" y="46947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882900" y="46651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952750" y="46355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022600" y="46058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092450" y="45762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162300" y="45466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232150" y="45169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302000" y="44873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371850" y="44577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441700" y="44280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511550" y="43984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581400" y="43688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651250" y="43391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721100" y="4309533"/>
            <a:ext cx="69849"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790949" y="4279900"/>
            <a:ext cx="69851"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860800" y="4250266"/>
            <a:ext cx="69849"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930649" y="4220633"/>
            <a:ext cx="69851"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000500" y="4190999"/>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070350" y="4161366"/>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140200" y="41317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210050" y="4102099"/>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279900" y="4072466"/>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349750" y="40428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419600" y="40132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489450" y="39835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559300" y="39539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629150" y="39243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699000" y="38946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768850" y="38650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838700" y="38354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08550" y="38057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978400" y="37761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048250" y="37465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5118100" y="37168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187950" y="36872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257800" y="36576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327650" y="3627966"/>
            <a:ext cx="69850" cy="29634"/>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397500" y="3598333"/>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467350" y="3568700"/>
            <a:ext cx="69850" cy="29633"/>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346200" y="5333948"/>
            <a:ext cx="69850" cy="12752"/>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416050" y="5320869"/>
            <a:ext cx="69850" cy="13079"/>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485900" y="5307454"/>
            <a:ext cx="69850" cy="13415"/>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555750" y="5293695"/>
            <a:ext cx="69850" cy="13759"/>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625600" y="5279581"/>
            <a:ext cx="69850" cy="14114"/>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695450" y="5265105"/>
            <a:ext cx="69850" cy="14476"/>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765300" y="5250257"/>
            <a:ext cx="69850" cy="14848"/>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835150" y="5235028"/>
            <a:ext cx="69850" cy="15229"/>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905000" y="5219407"/>
            <a:ext cx="69850" cy="15621"/>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974850" y="5203384"/>
            <a:ext cx="69850" cy="16023"/>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2044700" y="5186950"/>
            <a:ext cx="69850" cy="16434"/>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2114550" y="5170094"/>
            <a:ext cx="69850" cy="16856"/>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2184400" y="5152804"/>
            <a:ext cx="69850" cy="1729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254250" y="5135070"/>
            <a:ext cx="69850" cy="17734"/>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324100" y="5116880"/>
            <a:ext cx="69850" cy="1819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393950" y="5098223"/>
            <a:ext cx="69850" cy="18657"/>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463800" y="5079086"/>
            <a:ext cx="69850" cy="19137"/>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533650" y="5059458"/>
            <a:ext cx="69850" cy="19628"/>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2603500" y="5039325"/>
            <a:ext cx="69850" cy="20133"/>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2673350" y="5018675"/>
            <a:ext cx="69850" cy="2065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743200" y="4997494"/>
            <a:ext cx="69850" cy="21181"/>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813050" y="4975768"/>
            <a:ext cx="69850" cy="21726"/>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882900" y="4953485"/>
            <a:ext cx="69850" cy="22283"/>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952750" y="4930629"/>
            <a:ext cx="69850" cy="22856"/>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022600" y="4907185"/>
            <a:ext cx="69850" cy="23444"/>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092450" y="4883139"/>
            <a:ext cx="69850" cy="24046"/>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162300" y="4858475"/>
            <a:ext cx="69850" cy="24664"/>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232150" y="4833177"/>
            <a:ext cx="69850" cy="25298"/>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302000" y="4807229"/>
            <a:ext cx="69850" cy="25948"/>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371850" y="4780615"/>
            <a:ext cx="69850" cy="26614"/>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441700" y="4753316"/>
            <a:ext cx="69850" cy="27299"/>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511550" y="4725316"/>
            <a:ext cx="69850" cy="2800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581400" y="4696596"/>
            <a:ext cx="69850" cy="2872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651250" y="4667138"/>
            <a:ext cx="69850" cy="29458"/>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21100" y="4636923"/>
            <a:ext cx="69849" cy="30215"/>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90949" y="4605932"/>
            <a:ext cx="69851" cy="30991"/>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860800" y="4574144"/>
            <a:ext cx="69849" cy="31788"/>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930649" y="4541540"/>
            <a:ext cx="69851" cy="32604"/>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4000500" y="4508097"/>
            <a:ext cx="69850" cy="33443"/>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4070350" y="4473795"/>
            <a:ext cx="69850" cy="34302"/>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4140200" y="4438612"/>
            <a:ext cx="69850" cy="35183"/>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4210050" y="4402524"/>
            <a:ext cx="69850" cy="36088"/>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4279900" y="4365509"/>
            <a:ext cx="69850" cy="37015"/>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4349750" y="4327543"/>
            <a:ext cx="69850" cy="37966"/>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4419600" y="4288601"/>
            <a:ext cx="69850" cy="38942"/>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4489450" y="4248658"/>
            <a:ext cx="69850" cy="39943"/>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4559300" y="4207689"/>
            <a:ext cx="69850" cy="40969"/>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4629150" y="4165667"/>
            <a:ext cx="69850" cy="42022"/>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4699000" y="4122565"/>
            <a:ext cx="69850" cy="43102"/>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4768850" y="4078355"/>
            <a:ext cx="69850" cy="4421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4838700" y="4033010"/>
            <a:ext cx="69850" cy="45345"/>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4908550" y="3986499"/>
            <a:ext cx="69850" cy="46511"/>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978400" y="3938793"/>
            <a:ext cx="69850" cy="47706"/>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5048250" y="3889860"/>
            <a:ext cx="69850" cy="48933"/>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5118100" y="3839671"/>
            <a:ext cx="69850" cy="50189"/>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5187950" y="3788191"/>
            <a:ext cx="69850" cy="5148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5257800" y="3735389"/>
            <a:ext cx="69850" cy="52802"/>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5327650" y="3681229"/>
            <a:ext cx="69850" cy="5416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5397500" y="3625678"/>
            <a:ext cx="69850" cy="55551"/>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5467350" y="3568700"/>
            <a:ext cx="69850" cy="56978"/>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04900" y="5473700"/>
            <a:ext cx="1270000" cy="279400"/>
          </a:xfrm>
          <a:prstGeom prst="rect">
            <a:avLst/>
          </a:prstGeom>
          <a:noFill/>
        </p:spPr>
        <p:txBody>
          <a:bodyPr wrap="square" lIns="0" rIns="0" tIns="0" bIns="0">
            <a:spAutoFit/>
          </a:bodyPr>
          <a:lstStyle/>
          <a:p>
            <a:pPr>
              <a:lnSpc>
                <a:spcPct val="118000"/>
              </a:lnSpc>
              <a:spcBef>
                <a:spcPts val="0"/>
              </a:spcBef>
              <a:spcAft>
                <a:spcPts val="0"/>
              </a:spcAft>
              <a:defRPr sz="1050" b="0">
                <a:solidFill>
                  <a:srgbClr val="66716F"/>
                </a:solidFill>
                <a:latin typeface="Noto Sans CJK KR"/>
              </a:defRPr>
            </a:pPr>
            <a:r>
              <a:rPr>
                <a:ea typeface="Noto Sans CJK KR"/>
              </a:rPr>
              <a:t>멀리 · 4m</a:t>
            </a:r>
          </a:p>
        </p:txBody>
      </p:sp>
      <p:sp>
        <p:nvSpPr>
          <p:cNvPr id="136" name="TextBox 135"/>
          <p:cNvSpPr txBox="1"/>
          <p:nvPr/>
        </p:nvSpPr>
        <p:spPr>
          <a:xfrm>
            <a:off x="4445000" y="5473700"/>
            <a:ext cx="1333500" cy="279400"/>
          </a:xfrm>
          <a:prstGeom prst="rect">
            <a:avLst/>
          </a:prstGeom>
          <a:noFill/>
        </p:spPr>
        <p:txBody>
          <a:bodyPr wrap="square" lIns="0" rIns="0" tIns="0" bIns="0">
            <a:spAutoFit/>
          </a:bodyPr>
          <a:lstStyle/>
          <a:p>
            <a:pPr algn="r">
              <a:lnSpc>
                <a:spcPct val="118000"/>
              </a:lnSpc>
              <a:spcBef>
                <a:spcPts val="0"/>
              </a:spcBef>
              <a:spcAft>
                <a:spcPts val="0"/>
              </a:spcAft>
              <a:defRPr sz="1050" b="0">
                <a:solidFill>
                  <a:srgbClr val="66716F"/>
                </a:solidFill>
                <a:latin typeface="Noto Sans CJK KR"/>
              </a:defRPr>
            </a:pPr>
            <a:r>
              <a:rPr>
                <a:ea typeface="Noto Sans CJK KR"/>
              </a:rPr>
              <a:t>가까이 · 0.2m</a:t>
            </a:r>
          </a:p>
        </p:txBody>
      </p:sp>
      <p:cxnSp>
        <p:nvCxnSpPr>
          <p:cNvPr id="137" name="Connector 136"/>
          <p:cNvCxnSpPr/>
          <p:nvPr/>
        </p:nvCxnSpPr>
        <p:spPr>
          <a:xfrm>
            <a:off x="1016000" y="5943600"/>
            <a:ext cx="317500" cy="0"/>
          </a:xfrm>
          <a:prstGeom prst="line">
            <a:avLst/>
          </a:prstGeom>
          <a:ln w="30480">
            <a:solidFill>
              <a:srgbClr val="287F89"/>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1447800" y="5829300"/>
            <a:ext cx="1778000" cy="2667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현재 · 선형</a:t>
            </a:r>
          </a:p>
        </p:txBody>
      </p:sp>
      <p:cxnSp>
        <p:nvCxnSpPr>
          <p:cNvPr id="139" name="Connector 138"/>
          <p:cNvCxnSpPr/>
          <p:nvPr/>
        </p:nvCxnSpPr>
        <p:spPr>
          <a:xfrm>
            <a:off x="3403600" y="5943600"/>
            <a:ext cx="317500" cy="0"/>
          </a:xfrm>
          <a:prstGeom prst="line">
            <a:avLst/>
          </a:prstGeom>
          <a:ln w="30480">
            <a:solidFill>
              <a:srgbClr val="C45831"/>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3835400" y="5829300"/>
            <a:ext cx="1905000" cy="2667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검토 · 기하급수 곡선</a:t>
            </a:r>
          </a:p>
        </p:txBody>
      </p:sp>
      <p:sp>
        <p:nvSpPr>
          <p:cNvPr id="141" name="TextBox 140"/>
          <p:cNvSpPr txBox="1"/>
          <p:nvPr/>
        </p:nvSpPr>
        <p:spPr>
          <a:xfrm>
            <a:off x="6489700" y="2705100"/>
            <a:ext cx="4991100" cy="317500"/>
          </a:xfrm>
          <a:prstGeom prst="rect">
            <a:avLst/>
          </a:prstGeom>
          <a:noFill/>
        </p:spPr>
        <p:txBody>
          <a:bodyPr wrap="square" lIns="0" rIns="0" tIns="0" bIns="0">
            <a:spAutoFit/>
          </a:bodyPr>
          <a:lstStyle/>
          <a:p>
            <a:pPr>
              <a:lnSpc>
                <a:spcPct val="118000"/>
              </a:lnSpc>
              <a:spcBef>
                <a:spcPts val="0"/>
              </a:spcBef>
              <a:spcAft>
                <a:spcPts val="0"/>
              </a:spcAft>
              <a:defRPr sz="1600" b="1">
                <a:solidFill>
                  <a:srgbClr val="151D21"/>
                </a:solidFill>
                <a:latin typeface="Noto Sans CJK KR"/>
              </a:defRPr>
            </a:pPr>
            <a:r>
              <a:rPr>
                <a:ea typeface="Noto Sans CJK KR"/>
              </a:rPr>
              <a:t>근접도 q: 멀리 0 → 가까이 1</a:t>
            </a:r>
          </a:p>
        </p:txBody>
      </p:sp>
      <p:sp>
        <p:nvSpPr>
          <p:cNvPr id="142" name="TextBox 141"/>
          <p:cNvSpPr txBox="1"/>
          <p:nvPr/>
        </p:nvSpPr>
        <p:spPr>
          <a:xfrm>
            <a:off x="6489700" y="3149600"/>
            <a:ext cx="4991100" cy="368300"/>
          </a:xfrm>
          <a:prstGeom prst="rect">
            <a:avLst/>
          </a:prstGeom>
          <a:noFill/>
        </p:spPr>
        <p:txBody>
          <a:bodyPr wrap="square" lIns="0" rIns="0" tIns="0" bIns="0">
            <a:spAutoFit/>
          </a:bodyPr>
          <a:lstStyle/>
          <a:p>
            <a:pPr>
              <a:lnSpc>
                <a:spcPct val="118000"/>
              </a:lnSpc>
              <a:spcBef>
                <a:spcPts val="0"/>
              </a:spcBef>
              <a:spcAft>
                <a:spcPts val="0"/>
              </a:spcAft>
              <a:defRPr sz="1800" b="0">
                <a:solidFill>
                  <a:srgbClr val="151D21"/>
                </a:solidFill>
                <a:latin typeface="Noto Sans CJK KR"/>
              </a:defRPr>
            </a:pPr>
            <a:r>
              <a:rPr>
                <a:ea typeface="Noto Sans CJK KR"/>
              </a:rPr>
              <a:t>q = clip((4 − d) / 3.8, 0, 1)</a:t>
            </a:r>
          </a:p>
        </p:txBody>
      </p:sp>
      <p:sp>
        <p:nvSpPr>
          <p:cNvPr id="143" name="TextBox 142"/>
          <p:cNvSpPr txBox="1"/>
          <p:nvPr/>
        </p:nvSpPr>
        <p:spPr>
          <a:xfrm>
            <a:off x="6489700" y="3594100"/>
            <a:ext cx="4991100" cy="2921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d: 거리(m) / g: 디지털 음량 게인</a:t>
            </a:r>
          </a:p>
        </p:txBody>
      </p:sp>
      <p:sp>
        <p:nvSpPr>
          <p:cNvPr id="144" name="Rounded Rectangle 143"/>
          <p:cNvSpPr/>
          <p:nvPr/>
        </p:nvSpPr>
        <p:spPr>
          <a:xfrm>
            <a:off x="6489700" y="4000500"/>
            <a:ext cx="4991100" cy="901700"/>
          </a:xfrm>
          <a:prstGeom prst="roundRect">
            <a:avLst>
              <a:gd name="adj" fmla="val 11267"/>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680200" y="4102099"/>
            <a:ext cx="46101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현재 적용 · 선형</a:t>
            </a:r>
          </a:p>
        </p:txBody>
      </p:sp>
      <p:sp>
        <p:nvSpPr>
          <p:cNvPr id="146" name="TextBox 145"/>
          <p:cNvSpPr txBox="1"/>
          <p:nvPr/>
        </p:nvSpPr>
        <p:spPr>
          <a:xfrm>
            <a:off x="6680200" y="4445000"/>
            <a:ext cx="4610100" cy="381000"/>
          </a:xfrm>
          <a:prstGeom prst="rect">
            <a:avLst/>
          </a:prstGeom>
          <a:noFill/>
        </p:spPr>
        <p:txBody>
          <a:bodyPr wrap="square" lIns="0" rIns="0" tIns="0" bIns="0">
            <a:spAutoFit/>
          </a:bodyPr>
          <a:lstStyle/>
          <a:p>
            <a:pPr>
              <a:lnSpc>
                <a:spcPct val="118000"/>
              </a:lnSpc>
              <a:spcBef>
                <a:spcPts val="0"/>
              </a:spcBef>
              <a:spcAft>
                <a:spcPts val="0"/>
              </a:spcAft>
              <a:defRPr sz="2100" b="1">
                <a:solidFill>
                  <a:srgbClr val="151D21"/>
                </a:solidFill>
                <a:latin typeface="Noto Sans CJK KR"/>
              </a:defRPr>
            </a:pPr>
            <a:r>
              <a:rPr>
                <a:ea typeface="Noto Sans CJK KR"/>
              </a:rPr>
              <a:t>g(q) = 0.12 + 0.43q</a:t>
            </a:r>
          </a:p>
        </p:txBody>
      </p:sp>
      <p:sp>
        <p:nvSpPr>
          <p:cNvPr id="147" name="Rounded Rectangle 146"/>
          <p:cNvSpPr/>
          <p:nvPr/>
        </p:nvSpPr>
        <p:spPr>
          <a:xfrm>
            <a:off x="6489700" y="5080000"/>
            <a:ext cx="4991100" cy="11176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680200" y="5181600"/>
            <a:ext cx="46101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비교 검토안 · 곡선 (아직 미적용)</a:t>
            </a:r>
          </a:p>
        </p:txBody>
      </p:sp>
      <p:sp>
        <p:nvSpPr>
          <p:cNvPr id="149" name="TextBox 148"/>
          <p:cNvSpPr txBox="1"/>
          <p:nvPr/>
        </p:nvSpPr>
        <p:spPr>
          <a:xfrm>
            <a:off x="6680200" y="5562600"/>
            <a:ext cx="4610100" cy="431800"/>
          </a:xfrm>
          <a:prstGeom prst="rect">
            <a:avLst/>
          </a:prstGeom>
          <a:noFill/>
        </p:spPr>
        <p:txBody>
          <a:bodyPr wrap="square" lIns="0" rIns="0" tIns="0" bIns="0">
            <a:spAutoFit/>
          </a:bodyPr>
          <a:lstStyle/>
          <a:p>
            <a:pPr>
              <a:lnSpc>
                <a:spcPct val="118000"/>
              </a:lnSpc>
              <a:spcBef>
                <a:spcPts val="0"/>
              </a:spcBef>
              <a:spcAft>
                <a:spcPts val="0"/>
              </a:spcAft>
              <a:defRPr sz="1800" b="1">
                <a:solidFill>
                  <a:srgbClr val="151D21"/>
                </a:solidFill>
                <a:latin typeface="Noto Sans CJK KR"/>
              </a:defRPr>
            </a:pPr>
            <a:r>
              <a:rPr>
                <a:ea typeface="Noto Sans CJK KR"/>
              </a:rPr>
              <a:t>g(q) = 0.12 × (0.55 / 0.12)^q</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45831"/>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F1E5DB"/>
                </a:solidFill>
                <a:latin typeface="Noto Sans CJK KR"/>
              </a:defRPr>
            </a:pPr>
            <a:r>
              <a:rPr>
                <a:ea typeface="Noto Sans CJK KR"/>
              </a:rPr>
              <a:t>청각 스캔 · 레이더에서 착안한 시간 순서</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r>
              <a:rPr>
                <a:ea typeface="Noto Sans CJK KR"/>
              </a:rPr>
              <a:t>128개 측정점의 높낮이를 반영해,</a:t>
            </a:r>
          </a:p>
          <a:p>
            <a:pPr>
              <a:lnSpc>
                <a:spcPct val="118000"/>
              </a:lnSpc>
              <a:spcBef>
                <a:spcPts val="0"/>
              </a:spcBef>
              <a:spcAft>
                <a:spcPts val="0"/>
              </a:spcAft>
              <a:defRPr sz="3100" b="1">
                <a:solidFill>
                  <a:srgbClr val="FFFFFF"/>
                </a:solidFill>
                <a:latin typeface="Noto Sans CJK KR"/>
              </a:defRPr>
            </a:pPr>
            <a:r>
              <a:rPr>
                <a:ea typeface="Noto Sans CJK KR"/>
              </a:rPr>
              <a:t>왼쪽에서 오른쪽으로 훑는다</a:t>
            </a:r>
          </a:p>
        </p:txBody>
      </p:sp>
      <p:cxnSp>
        <p:nvCxnSpPr>
          <p:cNvPr id="4" name="Connector 3"/>
          <p:cNvCxnSpPr/>
          <p:nvPr/>
        </p:nvCxnSpPr>
        <p:spPr>
          <a:xfrm>
            <a:off x="711200" y="6400800"/>
            <a:ext cx="10769600" cy="0"/>
          </a:xfrm>
          <a:prstGeom prst="line">
            <a:avLst/>
          </a:prstGeom>
          <a:ln w="7620">
            <a:solidFill>
              <a:srgbClr val="F1E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F1E5DB"/>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F1E5DB"/>
                </a:solidFill>
                <a:latin typeface="Noto Sans CJK KR"/>
              </a:defRPr>
            </a:pPr>
            <a:r>
              <a:rPr>
                <a:ea typeface="Noto Sans CJK KR"/>
              </a:rPr>
              <a:t>09</a:t>
            </a:r>
          </a:p>
        </p:txBody>
      </p:sp>
      <p:sp>
        <p:nvSpPr>
          <p:cNvPr id="7" name="TextBox 6"/>
          <p:cNvSpPr txBox="1"/>
          <p:nvPr/>
        </p:nvSpPr>
        <p:spPr>
          <a:xfrm>
            <a:off x="736600" y="2324100"/>
            <a:ext cx="10706100" cy="317500"/>
          </a:xfrm>
          <a:prstGeom prst="rect">
            <a:avLst/>
          </a:prstGeom>
          <a:noFill/>
        </p:spPr>
        <p:txBody>
          <a:bodyPr wrap="square" lIns="0" rIns="0" tIns="0" bIns="0">
            <a:spAutoFit/>
          </a:bodyPr>
          <a:lstStyle/>
          <a:p>
            <a:pPr>
              <a:lnSpc>
                <a:spcPct val="118000"/>
              </a:lnSpc>
              <a:spcBef>
                <a:spcPts val="0"/>
              </a:spcBef>
              <a:spcAft>
                <a:spcPts val="0"/>
              </a:spcAft>
              <a:defRPr sz="1400" b="0">
                <a:solidFill>
                  <a:srgbClr val="FFFFFF"/>
                </a:solidFill>
                <a:latin typeface="Noto Sans CJK KR"/>
              </a:defRPr>
            </a:pPr>
            <a:r>
              <a:rPr>
                <a:ea typeface="Noto Sans CJK KR"/>
              </a:rPr>
              <a:t>입력은 두 개의 8×8 격자이며, 시간 순서는 16개 가로 방향 구간으로 나눈다.</a:t>
            </a:r>
          </a:p>
        </p:txBody>
      </p:sp>
      <p:sp>
        <p:nvSpPr>
          <p:cNvPr id="8" name="TextBox 7"/>
          <p:cNvSpPr txBox="1"/>
          <p:nvPr/>
        </p:nvSpPr>
        <p:spPr>
          <a:xfrm>
            <a:off x="736600" y="2768600"/>
            <a:ext cx="2159000" cy="292100"/>
          </a:xfrm>
          <a:prstGeom prst="rect">
            <a:avLst/>
          </a:prstGeom>
          <a:noFill/>
        </p:spPr>
        <p:txBody>
          <a:bodyPr wrap="square" lIns="0" rIns="0" tIns="0" bIns="0">
            <a:spAutoFit/>
          </a:bodyPr>
          <a:lstStyle/>
          <a:p>
            <a:pPr>
              <a:lnSpc>
                <a:spcPct val="118000"/>
              </a:lnSpc>
              <a:spcBef>
                <a:spcPts val="0"/>
              </a:spcBef>
              <a:spcAft>
                <a:spcPts val="0"/>
              </a:spcAft>
              <a:defRPr sz="1400" b="1">
                <a:solidFill>
                  <a:srgbClr val="FFFFFF"/>
                </a:solidFill>
                <a:latin typeface="Noto Sans CJK KR"/>
              </a:defRPr>
            </a:pPr>
            <a:r>
              <a:rPr>
                <a:ea typeface="Noto Sans CJK KR"/>
              </a:rPr>
              <a:t>A · 8×8</a:t>
            </a:r>
          </a:p>
        </p:txBody>
      </p:sp>
      <p:sp>
        <p:nvSpPr>
          <p:cNvPr id="9" name="TextBox 8"/>
          <p:cNvSpPr txBox="1"/>
          <p:nvPr/>
        </p:nvSpPr>
        <p:spPr>
          <a:xfrm>
            <a:off x="3098800" y="2768600"/>
            <a:ext cx="2159000" cy="292100"/>
          </a:xfrm>
          <a:prstGeom prst="rect">
            <a:avLst/>
          </a:prstGeom>
          <a:noFill/>
        </p:spPr>
        <p:txBody>
          <a:bodyPr wrap="square" lIns="0" rIns="0" tIns="0" bIns="0">
            <a:spAutoFit/>
          </a:bodyPr>
          <a:lstStyle/>
          <a:p>
            <a:pPr>
              <a:lnSpc>
                <a:spcPct val="118000"/>
              </a:lnSpc>
              <a:spcBef>
                <a:spcPts val="0"/>
              </a:spcBef>
              <a:spcAft>
                <a:spcPts val="0"/>
              </a:spcAft>
              <a:defRPr sz="1400" b="1">
                <a:solidFill>
                  <a:srgbClr val="FFFFFF"/>
                </a:solidFill>
                <a:latin typeface="Noto Sans CJK KR"/>
              </a:defRPr>
            </a:pPr>
            <a:r>
              <a:rPr>
                <a:ea typeface="Noto Sans CJK KR"/>
              </a:rPr>
              <a:t>B · 8×8</a:t>
            </a:r>
          </a:p>
        </p:txBody>
      </p:sp>
      <p:sp>
        <p:nvSpPr>
          <p:cNvPr id="10" name="Rounded Rectangle 9"/>
          <p:cNvSpPr/>
          <p:nvPr/>
        </p:nvSpPr>
        <p:spPr>
          <a:xfrm>
            <a:off x="7366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60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2954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748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542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1336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4130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6924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734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3528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322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9116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190999"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4704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7498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0" y="3200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66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160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2954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5748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8542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1336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4130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6924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0734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3528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6322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9116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190999"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4704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7498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029200" y="3429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366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160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2954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5748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8542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21336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24130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6924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073400" y="3657600"/>
            <a:ext cx="241300" cy="190500"/>
          </a:xfrm>
          <a:prstGeom prst="roundRect">
            <a:avLst>
              <a:gd name="adj" fmla="val 6666"/>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162300" y="3721100"/>
            <a:ext cx="63500" cy="635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33528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36322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9116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4190999"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44704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47498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29200" y="3657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366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10160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2954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15748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8542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21336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24130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26924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30734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33528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36322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39116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4190999"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44704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47498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029200" y="38862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7366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10160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12954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15748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18542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21336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24130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26924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30734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33528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36322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39116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4190999"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4470400" y="4114800"/>
            <a:ext cx="241300" cy="190500"/>
          </a:xfrm>
          <a:prstGeom prst="roundRect">
            <a:avLst>
              <a:gd name="adj" fmla="val 6666"/>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559300" y="4178300"/>
            <a:ext cx="63500" cy="635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47498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5029200" y="41148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7366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10160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12954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15748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18542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96"/>
          <p:cNvSpPr/>
          <p:nvPr/>
        </p:nvSpPr>
        <p:spPr>
          <a:xfrm>
            <a:off x="21336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24130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26924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30734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33528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36322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39116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4190999"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44704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47498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5029200" y="43434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7366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10160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1295400" y="4572000"/>
            <a:ext cx="241300" cy="190500"/>
          </a:xfrm>
          <a:prstGeom prst="roundRect">
            <a:avLst>
              <a:gd name="adj" fmla="val 6666"/>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384300" y="4635500"/>
            <a:ext cx="63500" cy="635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15748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18542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21336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24130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26924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30734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33528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ounded Rectangle 118"/>
          <p:cNvSpPr/>
          <p:nvPr/>
        </p:nvSpPr>
        <p:spPr>
          <a:xfrm>
            <a:off x="36322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39116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4190999"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44704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47498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5029200" y="45720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7366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10160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12954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15748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18542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21336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24130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26924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30734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33528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36322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39116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4190999"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ounded Rectangle 137"/>
          <p:cNvSpPr/>
          <p:nvPr/>
        </p:nvSpPr>
        <p:spPr>
          <a:xfrm>
            <a:off x="44704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ounded Rectangle 138"/>
          <p:cNvSpPr/>
          <p:nvPr/>
        </p:nvSpPr>
        <p:spPr>
          <a:xfrm>
            <a:off x="47498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5029200" y="4800600"/>
            <a:ext cx="241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5511800" y="3695700"/>
            <a:ext cx="571500" cy="914400"/>
          </a:xfrm>
          <a:prstGeom prst="rect">
            <a:avLst/>
          </a:prstGeom>
          <a:noFill/>
        </p:spPr>
        <p:txBody>
          <a:bodyPr wrap="square" lIns="0" rIns="0" tIns="0" bIns="0">
            <a:spAutoFit/>
          </a:bodyPr>
          <a:lstStyle/>
          <a:p>
            <a:pPr>
              <a:lnSpc>
                <a:spcPct val="118000"/>
              </a:lnSpc>
              <a:spcBef>
                <a:spcPts val="0"/>
              </a:spcBef>
              <a:spcAft>
                <a:spcPts val="0"/>
              </a:spcAft>
              <a:defRPr sz="1300" b="1">
                <a:solidFill>
                  <a:srgbClr val="FFFFFF"/>
                </a:solidFill>
                <a:latin typeface="Noto Sans CJK KR"/>
              </a:defRPr>
            </a:pPr>
            <a:r>
              <a:rPr>
                <a:ea typeface="Noto Sans CJK KR"/>
              </a:rPr>
              <a:t>세로</a:t>
            </a:r>
          </a:p>
          <a:p>
            <a:pPr>
              <a:lnSpc>
                <a:spcPct val="118000"/>
              </a:lnSpc>
              <a:spcBef>
                <a:spcPts val="0"/>
              </a:spcBef>
              <a:spcAft>
                <a:spcPts val="0"/>
              </a:spcAft>
              <a:defRPr sz="1300" b="1">
                <a:solidFill>
                  <a:srgbClr val="FFFFFF"/>
                </a:solidFill>
                <a:latin typeface="Noto Sans CJK KR"/>
              </a:defRPr>
            </a:pPr>
            <a:r>
              <a:rPr>
                <a:ea typeface="Noto Sans CJK KR"/>
              </a:rPr>
              <a:t>8칸</a:t>
            </a:r>
          </a:p>
        </p:txBody>
      </p:sp>
      <p:sp>
        <p:nvSpPr>
          <p:cNvPr id="142" name="TextBox 141"/>
          <p:cNvSpPr txBox="1"/>
          <p:nvPr/>
        </p:nvSpPr>
        <p:spPr>
          <a:xfrm>
            <a:off x="736600" y="5168900"/>
            <a:ext cx="5295900" cy="330200"/>
          </a:xfrm>
          <a:prstGeom prst="rect">
            <a:avLst/>
          </a:prstGeom>
          <a:noFill/>
        </p:spPr>
        <p:txBody>
          <a:bodyPr wrap="square" lIns="0" rIns="0" tIns="0" bIns="0">
            <a:spAutoFit/>
          </a:bodyPr>
          <a:lstStyle/>
          <a:p>
            <a:pPr>
              <a:lnSpc>
                <a:spcPct val="118000"/>
              </a:lnSpc>
              <a:spcBef>
                <a:spcPts val="0"/>
              </a:spcBef>
              <a:spcAft>
                <a:spcPts val="0"/>
              </a:spcAft>
              <a:defRPr sz="1100" b="0">
                <a:solidFill>
                  <a:srgbClr val="F1E5DB"/>
                </a:solidFill>
                <a:latin typeface="Noto Sans CJK KR"/>
              </a:defRPr>
            </a:pPr>
            <a:r>
              <a:rPr>
                <a:ea typeface="Noto Sans CJK KR"/>
              </a:rPr>
              <a:t>총 128존 · 좌우로 배치한 구조 설명용 개념도</a:t>
            </a:r>
          </a:p>
        </p:txBody>
      </p:sp>
      <p:sp>
        <p:nvSpPr>
          <p:cNvPr id="143" name="TextBox 142"/>
          <p:cNvSpPr txBox="1"/>
          <p:nvPr/>
        </p:nvSpPr>
        <p:spPr>
          <a:xfrm>
            <a:off x="6515100" y="2844800"/>
            <a:ext cx="393700" cy="279400"/>
          </a:xfrm>
          <a:prstGeom prst="rect">
            <a:avLst/>
          </a:prstGeom>
          <a:noFill/>
        </p:spPr>
        <p:txBody>
          <a:bodyPr wrap="square" lIns="0" rIns="0" tIns="0" bIns="0">
            <a:spAutoFit/>
          </a:bodyPr>
          <a:lstStyle/>
          <a:p>
            <a:pPr>
              <a:lnSpc>
                <a:spcPct val="118000"/>
              </a:lnSpc>
              <a:spcBef>
                <a:spcPts val="0"/>
              </a:spcBef>
              <a:spcAft>
                <a:spcPts val="0"/>
              </a:spcAft>
              <a:defRPr sz="1100" b="1">
                <a:solidFill>
                  <a:srgbClr val="F1E5DB"/>
                </a:solidFill>
                <a:latin typeface="Noto Sans CJK KR"/>
              </a:defRPr>
            </a:pPr>
            <a:r>
              <a:rPr>
                <a:ea typeface="Noto Sans CJK KR"/>
              </a:rPr>
              <a:t>01</a:t>
            </a:r>
          </a:p>
        </p:txBody>
      </p:sp>
      <p:sp>
        <p:nvSpPr>
          <p:cNvPr id="144" name="TextBox 143"/>
          <p:cNvSpPr txBox="1"/>
          <p:nvPr/>
        </p:nvSpPr>
        <p:spPr>
          <a:xfrm>
            <a:off x="7035800" y="2794000"/>
            <a:ext cx="4432300" cy="342900"/>
          </a:xfrm>
          <a:prstGeom prst="rect">
            <a:avLst/>
          </a:prstGeom>
          <a:noFill/>
        </p:spPr>
        <p:txBody>
          <a:bodyPr wrap="square" lIns="0" rIns="0" tIns="0" bIns="0">
            <a:spAutoFit/>
          </a:bodyPr>
          <a:lstStyle/>
          <a:p>
            <a:pPr>
              <a:lnSpc>
                <a:spcPct val="118000"/>
              </a:lnSpc>
              <a:spcBef>
                <a:spcPts val="0"/>
              </a:spcBef>
              <a:spcAft>
                <a:spcPts val="0"/>
              </a:spcAft>
              <a:defRPr sz="1800" b="1">
                <a:solidFill>
                  <a:srgbClr val="FFFFFF"/>
                </a:solidFill>
                <a:latin typeface="Noto Sans CJK KR"/>
              </a:defRPr>
            </a:pPr>
            <a:r>
              <a:rPr>
                <a:ea typeface="Noto Sans CJK KR"/>
              </a:rPr>
              <a:t>방위로 구간 나누기</a:t>
            </a:r>
          </a:p>
        </p:txBody>
      </p:sp>
      <p:sp>
        <p:nvSpPr>
          <p:cNvPr id="145" name="TextBox 144"/>
          <p:cNvSpPr txBox="1"/>
          <p:nvPr/>
        </p:nvSpPr>
        <p:spPr>
          <a:xfrm>
            <a:off x="7035800" y="3200400"/>
            <a:ext cx="4432300" cy="431800"/>
          </a:xfrm>
          <a:prstGeom prst="rect">
            <a:avLst/>
          </a:prstGeom>
          <a:noFill/>
        </p:spPr>
        <p:txBody>
          <a:bodyPr wrap="square" lIns="0" rIns="0" tIns="0" bIns="0">
            <a:spAutoFit/>
          </a:bodyPr>
          <a:lstStyle/>
          <a:p>
            <a:pPr>
              <a:lnSpc>
                <a:spcPct val="118000"/>
              </a:lnSpc>
              <a:spcBef>
                <a:spcPts val="0"/>
              </a:spcBef>
              <a:spcAft>
                <a:spcPts val="0"/>
              </a:spcAft>
              <a:defRPr sz="1200" b="0">
                <a:solidFill>
                  <a:srgbClr val="F1E5DB"/>
                </a:solidFill>
                <a:latin typeface="Noto Sans CJK KR"/>
              </a:defRPr>
            </a:pPr>
            <a:r>
              <a:rPr>
                <a:ea typeface="Noto Sans CJK KR"/>
              </a:rPr>
              <a:t>원본 128점을 추정 방위 16구간에 분류</a:t>
            </a:r>
          </a:p>
        </p:txBody>
      </p:sp>
      <p:sp>
        <p:nvSpPr>
          <p:cNvPr id="146" name="TextBox 145"/>
          <p:cNvSpPr txBox="1"/>
          <p:nvPr/>
        </p:nvSpPr>
        <p:spPr>
          <a:xfrm>
            <a:off x="6515100" y="3771900"/>
            <a:ext cx="393700" cy="279400"/>
          </a:xfrm>
          <a:prstGeom prst="rect">
            <a:avLst/>
          </a:prstGeom>
          <a:noFill/>
        </p:spPr>
        <p:txBody>
          <a:bodyPr wrap="square" lIns="0" rIns="0" tIns="0" bIns="0">
            <a:spAutoFit/>
          </a:bodyPr>
          <a:lstStyle/>
          <a:p>
            <a:pPr>
              <a:lnSpc>
                <a:spcPct val="118000"/>
              </a:lnSpc>
              <a:spcBef>
                <a:spcPts val="0"/>
              </a:spcBef>
              <a:spcAft>
                <a:spcPts val="0"/>
              </a:spcAft>
              <a:defRPr sz="1100" b="1">
                <a:solidFill>
                  <a:srgbClr val="F1E5DB"/>
                </a:solidFill>
                <a:latin typeface="Noto Sans CJK KR"/>
              </a:defRPr>
            </a:pPr>
            <a:r>
              <a:rPr>
                <a:ea typeface="Noto Sans CJK KR"/>
              </a:rPr>
              <a:t>02</a:t>
            </a:r>
          </a:p>
        </p:txBody>
      </p:sp>
      <p:sp>
        <p:nvSpPr>
          <p:cNvPr id="147" name="TextBox 146"/>
          <p:cNvSpPr txBox="1"/>
          <p:nvPr/>
        </p:nvSpPr>
        <p:spPr>
          <a:xfrm>
            <a:off x="7035800" y="3721100"/>
            <a:ext cx="4432300" cy="342900"/>
          </a:xfrm>
          <a:prstGeom prst="rect">
            <a:avLst/>
          </a:prstGeom>
          <a:noFill/>
        </p:spPr>
        <p:txBody>
          <a:bodyPr wrap="square" lIns="0" rIns="0" tIns="0" bIns="0">
            <a:spAutoFit/>
          </a:bodyPr>
          <a:lstStyle/>
          <a:p>
            <a:pPr>
              <a:lnSpc>
                <a:spcPct val="118000"/>
              </a:lnSpc>
              <a:spcBef>
                <a:spcPts val="0"/>
              </a:spcBef>
              <a:spcAft>
                <a:spcPts val="0"/>
              </a:spcAft>
              <a:defRPr sz="1800" b="1">
                <a:solidFill>
                  <a:srgbClr val="FFFFFF"/>
                </a:solidFill>
                <a:latin typeface="Noto Sans CJK KR"/>
              </a:defRPr>
            </a:pPr>
            <a:r>
              <a:rPr>
                <a:ea typeface="Noto Sans CJK KR"/>
              </a:rPr>
              <a:t>각 구간의 측정점 선택</a:t>
            </a:r>
          </a:p>
        </p:txBody>
      </p:sp>
      <p:sp>
        <p:nvSpPr>
          <p:cNvPr id="148" name="TextBox 147"/>
          <p:cNvSpPr txBox="1"/>
          <p:nvPr/>
        </p:nvSpPr>
        <p:spPr>
          <a:xfrm>
            <a:off x="7035800" y="4127500"/>
            <a:ext cx="4432300" cy="431800"/>
          </a:xfrm>
          <a:prstGeom prst="rect">
            <a:avLst/>
          </a:prstGeom>
          <a:noFill/>
        </p:spPr>
        <p:txBody>
          <a:bodyPr wrap="square" lIns="0" rIns="0" tIns="0" bIns="0">
            <a:spAutoFit/>
          </a:bodyPr>
          <a:lstStyle/>
          <a:p>
            <a:pPr>
              <a:lnSpc>
                <a:spcPct val="118000"/>
              </a:lnSpc>
              <a:spcBef>
                <a:spcPts val="0"/>
              </a:spcBef>
              <a:spcAft>
                <a:spcPts val="0"/>
              </a:spcAft>
              <a:defRPr sz="1200" b="0">
                <a:solidFill>
                  <a:srgbClr val="F1E5DB"/>
                </a:solidFill>
                <a:latin typeface="Noto Sans CJK KR"/>
              </a:defRPr>
            </a:pPr>
            <a:r>
              <a:rPr>
                <a:ea typeface="Noto Sans CJK KR"/>
              </a:rPr>
              <a:t>유효한 점 중 가까운 한 점을 후보로 선택</a:t>
            </a:r>
          </a:p>
        </p:txBody>
      </p:sp>
      <p:sp>
        <p:nvSpPr>
          <p:cNvPr id="149" name="TextBox 148"/>
          <p:cNvSpPr txBox="1"/>
          <p:nvPr/>
        </p:nvSpPr>
        <p:spPr>
          <a:xfrm>
            <a:off x="6515100" y="4699000"/>
            <a:ext cx="393700" cy="279400"/>
          </a:xfrm>
          <a:prstGeom prst="rect">
            <a:avLst/>
          </a:prstGeom>
          <a:noFill/>
        </p:spPr>
        <p:txBody>
          <a:bodyPr wrap="square" lIns="0" rIns="0" tIns="0" bIns="0">
            <a:spAutoFit/>
          </a:bodyPr>
          <a:lstStyle/>
          <a:p>
            <a:pPr>
              <a:lnSpc>
                <a:spcPct val="118000"/>
              </a:lnSpc>
              <a:spcBef>
                <a:spcPts val="0"/>
              </a:spcBef>
              <a:spcAft>
                <a:spcPts val="0"/>
              </a:spcAft>
              <a:defRPr sz="1100" b="1">
                <a:solidFill>
                  <a:srgbClr val="F1E5DB"/>
                </a:solidFill>
                <a:latin typeface="Noto Sans CJK KR"/>
              </a:defRPr>
            </a:pPr>
            <a:r>
              <a:rPr>
                <a:ea typeface="Noto Sans CJK KR"/>
              </a:rPr>
              <a:t>03</a:t>
            </a:r>
          </a:p>
        </p:txBody>
      </p:sp>
      <p:sp>
        <p:nvSpPr>
          <p:cNvPr id="150" name="TextBox 149"/>
          <p:cNvSpPr txBox="1"/>
          <p:nvPr/>
        </p:nvSpPr>
        <p:spPr>
          <a:xfrm>
            <a:off x="7035800" y="4648200"/>
            <a:ext cx="4432300" cy="342900"/>
          </a:xfrm>
          <a:prstGeom prst="rect">
            <a:avLst/>
          </a:prstGeom>
          <a:noFill/>
        </p:spPr>
        <p:txBody>
          <a:bodyPr wrap="square" lIns="0" rIns="0" tIns="0" bIns="0">
            <a:spAutoFit/>
          </a:bodyPr>
          <a:lstStyle/>
          <a:p>
            <a:pPr>
              <a:lnSpc>
                <a:spcPct val="118000"/>
              </a:lnSpc>
              <a:spcBef>
                <a:spcPts val="0"/>
              </a:spcBef>
              <a:spcAft>
                <a:spcPts val="0"/>
              </a:spcAft>
              <a:defRPr sz="1800" b="1">
                <a:solidFill>
                  <a:srgbClr val="FFFFFF"/>
                </a:solidFill>
                <a:latin typeface="Noto Sans CJK KR"/>
              </a:defRPr>
            </a:pPr>
            <a:r>
              <a:rPr>
                <a:ea typeface="Noto Sans CJK KR"/>
              </a:rPr>
              <a:t>높낮이까지 방향음에 반영</a:t>
            </a:r>
          </a:p>
        </p:txBody>
      </p:sp>
      <p:sp>
        <p:nvSpPr>
          <p:cNvPr id="151" name="TextBox 150"/>
          <p:cNvSpPr txBox="1"/>
          <p:nvPr/>
        </p:nvSpPr>
        <p:spPr>
          <a:xfrm>
            <a:off x="7035800" y="5054600"/>
            <a:ext cx="4432300" cy="431800"/>
          </a:xfrm>
          <a:prstGeom prst="rect">
            <a:avLst/>
          </a:prstGeom>
          <a:noFill/>
        </p:spPr>
        <p:txBody>
          <a:bodyPr wrap="square" lIns="0" rIns="0" tIns="0" bIns="0">
            <a:spAutoFit/>
          </a:bodyPr>
          <a:lstStyle/>
          <a:p>
            <a:pPr>
              <a:lnSpc>
                <a:spcPct val="118000"/>
              </a:lnSpc>
              <a:spcBef>
                <a:spcPts val="0"/>
              </a:spcBef>
              <a:spcAft>
                <a:spcPts val="0"/>
              </a:spcAft>
              <a:defRPr sz="1200" b="0">
                <a:solidFill>
                  <a:srgbClr val="F1E5DB"/>
                </a:solidFill>
                <a:latin typeface="Noto Sans CJK KR"/>
              </a:defRPr>
            </a:pPr>
            <a:r>
              <a:rPr>
                <a:ea typeface="Noto Sans CJK KR"/>
              </a:rPr>
              <a:t>선택한 점의 방위 + 고도로 HRTF 적용</a:t>
            </a:r>
          </a:p>
        </p:txBody>
      </p:sp>
      <p:sp>
        <p:nvSpPr>
          <p:cNvPr id="152" name="Rounded Rectangle 151"/>
          <p:cNvSpPr/>
          <p:nvPr/>
        </p:nvSpPr>
        <p:spPr>
          <a:xfrm>
            <a:off x="7366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14097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ounded Rectangle 153"/>
          <p:cNvSpPr/>
          <p:nvPr/>
        </p:nvSpPr>
        <p:spPr>
          <a:xfrm>
            <a:off x="2082800" y="5753100"/>
            <a:ext cx="622300" cy="190500"/>
          </a:xfrm>
          <a:prstGeom prst="roundRect">
            <a:avLst>
              <a:gd name="adj" fmla="val 6666"/>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ounded Rectangle 154"/>
          <p:cNvSpPr/>
          <p:nvPr/>
        </p:nvSpPr>
        <p:spPr>
          <a:xfrm>
            <a:off x="27559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ounded Rectangle 155"/>
          <p:cNvSpPr/>
          <p:nvPr/>
        </p:nvSpPr>
        <p:spPr>
          <a:xfrm>
            <a:off x="34290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ounded Rectangle 156"/>
          <p:cNvSpPr/>
          <p:nvPr/>
        </p:nvSpPr>
        <p:spPr>
          <a:xfrm>
            <a:off x="4102099"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47752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ounded Rectangle 158"/>
          <p:cNvSpPr/>
          <p:nvPr/>
        </p:nvSpPr>
        <p:spPr>
          <a:xfrm>
            <a:off x="54483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ounded Rectangle 159"/>
          <p:cNvSpPr/>
          <p:nvPr/>
        </p:nvSpPr>
        <p:spPr>
          <a:xfrm>
            <a:off x="6121400" y="5753100"/>
            <a:ext cx="622300" cy="190500"/>
          </a:xfrm>
          <a:prstGeom prst="roundRect">
            <a:avLst>
              <a:gd name="adj" fmla="val 6666"/>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ounded Rectangle 160"/>
          <p:cNvSpPr/>
          <p:nvPr/>
        </p:nvSpPr>
        <p:spPr>
          <a:xfrm>
            <a:off x="67945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ounded Rectangle 161"/>
          <p:cNvSpPr/>
          <p:nvPr/>
        </p:nvSpPr>
        <p:spPr>
          <a:xfrm>
            <a:off x="7467599"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81407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ounded Rectangle 163"/>
          <p:cNvSpPr/>
          <p:nvPr/>
        </p:nvSpPr>
        <p:spPr>
          <a:xfrm>
            <a:off x="88138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ounded Rectangle 164"/>
          <p:cNvSpPr/>
          <p:nvPr/>
        </p:nvSpPr>
        <p:spPr>
          <a:xfrm>
            <a:off x="9486900" y="5753100"/>
            <a:ext cx="622300" cy="190500"/>
          </a:xfrm>
          <a:prstGeom prst="roundRect">
            <a:avLst>
              <a:gd name="adj" fmla="val 6666"/>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ounded Rectangle 165"/>
          <p:cNvSpPr/>
          <p:nvPr/>
        </p:nvSpPr>
        <p:spPr>
          <a:xfrm>
            <a:off x="101600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ounded Rectangle 166"/>
          <p:cNvSpPr/>
          <p:nvPr/>
        </p:nvSpPr>
        <p:spPr>
          <a:xfrm>
            <a:off x="10833100" y="5753100"/>
            <a:ext cx="622300" cy="190500"/>
          </a:xfrm>
          <a:prstGeom prst="roundRect">
            <a:avLst>
              <a:gd name="adj" fmla="val 6666"/>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36600" y="6057900"/>
            <a:ext cx="3048000" cy="279400"/>
          </a:xfrm>
          <a:prstGeom prst="rect">
            <a:avLst/>
          </a:prstGeom>
          <a:noFill/>
        </p:spPr>
        <p:txBody>
          <a:bodyPr wrap="square" lIns="0" rIns="0" tIns="0" bIns="0">
            <a:spAutoFit/>
          </a:bodyPr>
          <a:lstStyle/>
          <a:p>
            <a:pPr>
              <a:lnSpc>
                <a:spcPct val="118000"/>
              </a:lnSpc>
              <a:spcBef>
                <a:spcPts val="0"/>
              </a:spcBef>
              <a:spcAft>
                <a:spcPts val="0"/>
              </a:spcAft>
              <a:defRPr sz="1100" b="1">
                <a:solidFill>
                  <a:srgbClr val="FFFFFF"/>
                </a:solidFill>
                <a:latin typeface="Noto Sans CJK KR"/>
              </a:defRPr>
            </a:pPr>
            <a:r>
              <a:rPr>
                <a:ea typeface="Noto Sans CJK KR"/>
              </a:rPr>
              <a:t>90° 왼쪽 끝 · 0초</a:t>
            </a:r>
          </a:p>
        </p:txBody>
      </p:sp>
      <p:sp>
        <p:nvSpPr>
          <p:cNvPr id="169" name="TextBox 168"/>
          <p:cNvSpPr txBox="1"/>
          <p:nvPr/>
        </p:nvSpPr>
        <p:spPr>
          <a:xfrm>
            <a:off x="4318000" y="6057900"/>
            <a:ext cx="3556000" cy="279400"/>
          </a:xfrm>
          <a:prstGeom prst="rect">
            <a:avLst/>
          </a:prstGeom>
          <a:noFill/>
        </p:spPr>
        <p:txBody>
          <a:bodyPr wrap="square" lIns="0" rIns="0" tIns="0" bIns="0">
            <a:spAutoFit/>
          </a:bodyPr>
          <a:lstStyle/>
          <a:p>
            <a:pPr algn="ctr">
              <a:lnSpc>
                <a:spcPct val="118000"/>
              </a:lnSpc>
              <a:spcBef>
                <a:spcPts val="0"/>
              </a:spcBef>
              <a:spcAft>
                <a:spcPts val="0"/>
              </a:spcAft>
              <a:defRPr sz="1100" b="1">
                <a:solidFill>
                  <a:srgbClr val="FFFFFF"/>
                </a:solidFill>
                <a:latin typeface="Noto Sans CJK KR"/>
              </a:defRPr>
            </a:pPr>
            <a:r>
              <a:rPr>
                <a:ea typeface="Noto Sans CJK KR"/>
              </a:rPr>
              <a:t>45° 정면 · 0.5초</a:t>
            </a:r>
          </a:p>
        </p:txBody>
      </p:sp>
      <p:sp>
        <p:nvSpPr>
          <p:cNvPr id="170" name="TextBox 169"/>
          <p:cNvSpPr txBox="1"/>
          <p:nvPr/>
        </p:nvSpPr>
        <p:spPr>
          <a:xfrm>
            <a:off x="8420100" y="6057900"/>
            <a:ext cx="3048000" cy="279400"/>
          </a:xfrm>
          <a:prstGeom prst="rect">
            <a:avLst/>
          </a:prstGeom>
          <a:noFill/>
        </p:spPr>
        <p:txBody>
          <a:bodyPr wrap="square" lIns="0" rIns="0" tIns="0" bIns="0">
            <a:spAutoFit/>
          </a:bodyPr>
          <a:lstStyle/>
          <a:p>
            <a:pPr algn="r">
              <a:lnSpc>
                <a:spcPct val="118000"/>
              </a:lnSpc>
              <a:spcBef>
                <a:spcPts val="0"/>
              </a:spcBef>
              <a:spcAft>
                <a:spcPts val="0"/>
              </a:spcAft>
              <a:defRPr sz="1100" b="1">
                <a:solidFill>
                  <a:srgbClr val="FFFFFF"/>
                </a:solidFill>
                <a:latin typeface="Noto Sans CJK KR"/>
              </a:defRPr>
            </a:pPr>
            <a:r>
              <a:rPr>
                <a:ea typeface="Noto Sans CJK KR"/>
              </a:rPr>
              <a:t>0° 오른쪽 끝 · 1초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소리 선택 · 최대 방향 수와 위험도</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몇 방향을 들려줄지,</a:t>
            </a:r>
          </a:p>
          <a:p>
            <a:pPr>
              <a:lnSpc>
                <a:spcPct val="118000"/>
              </a:lnSpc>
              <a:spcBef>
                <a:spcPts val="0"/>
              </a:spcBef>
              <a:spcAft>
                <a:spcPts val="0"/>
              </a:spcAft>
              <a:defRPr sz="3100" b="1">
                <a:solidFill>
                  <a:srgbClr val="151D21"/>
                </a:solidFill>
                <a:latin typeface="Noto Sans CJK KR"/>
              </a:defRPr>
            </a:pPr>
            <a:r>
              <a:rPr>
                <a:ea typeface="Noto Sans CJK KR"/>
              </a:rPr>
              <a:t>무엇을 먼저 알릴지 실험으로 정한다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10</a:t>
            </a:r>
          </a:p>
        </p:txBody>
      </p:sp>
      <p:sp>
        <p:nvSpPr>
          <p:cNvPr id="7" name="Rounded Rectangle 6"/>
          <p:cNvSpPr/>
          <p:nvPr/>
        </p:nvSpPr>
        <p:spPr>
          <a:xfrm>
            <a:off x="711200" y="2730500"/>
            <a:ext cx="5194300" cy="2997200"/>
          </a:xfrm>
          <a:prstGeom prst="roundRect">
            <a:avLst>
              <a:gd name="adj" fmla="val 3389"/>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599" y="2959100"/>
            <a:ext cx="4635500" cy="381000"/>
          </a:xfrm>
          <a:prstGeom prst="rect">
            <a:avLst/>
          </a:prstGeom>
          <a:noFill/>
        </p:spPr>
        <p:txBody>
          <a:bodyPr wrap="square" lIns="0" rIns="0" tIns="0" bIns="0">
            <a:spAutoFit/>
          </a:bodyPr>
          <a:lstStyle/>
          <a:p>
            <a:pPr>
              <a:lnSpc>
                <a:spcPct val="118000"/>
              </a:lnSpc>
              <a:spcBef>
                <a:spcPts val="0"/>
              </a:spcBef>
              <a:spcAft>
                <a:spcPts val="0"/>
              </a:spcAft>
              <a:defRPr sz="2100" b="1">
                <a:solidFill>
                  <a:srgbClr val="151D21"/>
                </a:solidFill>
                <a:latin typeface="Noto Sans CJK KR"/>
              </a:defRPr>
            </a:pPr>
            <a:r>
              <a:rPr>
                <a:ea typeface="Noto Sans CJK KR"/>
              </a:rPr>
              <a:t>전달할 정보의 복잡도</a:t>
            </a:r>
          </a:p>
        </p:txBody>
      </p:sp>
      <p:sp>
        <p:nvSpPr>
          <p:cNvPr id="9" name="Oval 8"/>
          <p:cNvSpPr/>
          <p:nvPr/>
        </p:nvSpPr>
        <p:spPr>
          <a:xfrm>
            <a:off x="1016000" y="3606800"/>
            <a:ext cx="596900" cy="5969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3733799"/>
            <a:ext cx="596900" cy="342900"/>
          </a:xfrm>
          <a:prstGeom prst="rect">
            <a:avLst/>
          </a:prstGeom>
          <a:noFill/>
        </p:spPr>
        <p:txBody>
          <a:bodyPr wrap="square" lIns="0" rIns="0" tIns="0" bIns="0">
            <a:spAutoFit/>
          </a:bodyPr>
          <a:lstStyle/>
          <a:p>
            <a:pPr algn="ctr">
              <a:lnSpc>
                <a:spcPct val="118000"/>
              </a:lnSpc>
              <a:spcBef>
                <a:spcPts val="0"/>
              </a:spcBef>
              <a:spcAft>
                <a:spcPts val="0"/>
              </a:spcAft>
              <a:defRPr sz="1700" b="1">
                <a:solidFill>
                  <a:srgbClr val="287F89"/>
                </a:solidFill>
                <a:latin typeface="Noto Sans CJK KR"/>
              </a:defRPr>
            </a:pPr>
            <a:r>
              <a:rPr>
                <a:ea typeface="Noto Sans CJK KR"/>
              </a:rPr>
              <a:t>1</a:t>
            </a:r>
          </a:p>
        </p:txBody>
      </p:sp>
      <p:sp>
        <p:nvSpPr>
          <p:cNvPr id="11" name="Oval 10"/>
          <p:cNvSpPr/>
          <p:nvPr/>
        </p:nvSpPr>
        <p:spPr>
          <a:xfrm>
            <a:off x="2146300" y="3606800"/>
            <a:ext cx="596900" cy="5969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46300" y="3733799"/>
            <a:ext cx="596900" cy="342900"/>
          </a:xfrm>
          <a:prstGeom prst="rect">
            <a:avLst/>
          </a:prstGeom>
          <a:noFill/>
        </p:spPr>
        <p:txBody>
          <a:bodyPr wrap="square" lIns="0" rIns="0" tIns="0" bIns="0">
            <a:spAutoFit/>
          </a:bodyPr>
          <a:lstStyle/>
          <a:p>
            <a:pPr algn="ctr">
              <a:lnSpc>
                <a:spcPct val="118000"/>
              </a:lnSpc>
              <a:spcBef>
                <a:spcPts val="0"/>
              </a:spcBef>
              <a:spcAft>
                <a:spcPts val="0"/>
              </a:spcAft>
              <a:defRPr sz="1700" b="1">
                <a:solidFill>
                  <a:srgbClr val="287F89"/>
                </a:solidFill>
                <a:latin typeface="Noto Sans CJK KR"/>
              </a:defRPr>
            </a:pPr>
            <a:r>
              <a:rPr>
                <a:ea typeface="Noto Sans CJK KR"/>
              </a:rPr>
              <a:t>3</a:t>
            </a:r>
          </a:p>
        </p:txBody>
      </p:sp>
      <p:sp>
        <p:nvSpPr>
          <p:cNvPr id="13" name="Oval 12"/>
          <p:cNvSpPr/>
          <p:nvPr/>
        </p:nvSpPr>
        <p:spPr>
          <a:xfrm>
            <a:off x="3276600" y="3606800"/>
            <a:ext cx="596900" cy="5969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76600" y="3733799"/>
            <a:ext cx="596900" cy="342900"/>
          </a:xfrm>
          <a:prstGeom prst="rect">
            <a:avLst/>
          </a:prstGeom>
          <a:noFill/>
        </p:spPr>
        <p:txBody>
          <a:bodyPr wrap="square" lIns="0" rIns="0" tIns="0" bIns="0">
            <a:spAutoFit/>
          </a:bodyPr>
          <a:lstStyle/>
          <a:p>
            <a:pPr algn="ctr">
              <a:lnSpc>
                <a:spcPct val="118000"/>
              </a:lnSpc>
              <a:spcBef>
                <a:spcPts val="0"/>
              </a:spcBef>
              <a:spcAft>
                <a:spcPts val="0"/>
              </a:spcAft>
              <a:defRPr sz="1700" b="1">
                <a:solidFill>
                  <a:srgbClr val="287F89"/>
                </a:solidFill>
                <a:latin typeface="Noto Sans CJK KR"/>
              </a:defRPr>
            </a:pPr>
            <a:r>
              <a:rPr>
                <a:ea typeface="Noto Sans CJK KR"/>
              </a:rPr>
              <a:t>5</a:t>
            </a:r>
          </a:p>
        </p:txBody>
      </p:sp>
      <p:sp>
        <p:nvSpPr>
          <p:cNvPr id="15" name="Oval 14"/>
          <p:cNvSpPr/>
          <p:nvPr/>
        </p:nvSpPr>
        <p:spPr>
          <a:xfrm>
            <a:off x="4406900" y="3606800"/>
            <a:ext cx="596900" cy="5969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6900" y="3733799"/>
            <a:ext cx="596900" cy="342900"/>
          </a:xfrm>
          <a:prstGeom prst="rect">
            <a:avLst/>
          </a:prstGeom>
          <a:noFill/>
        </p:spPr>
        <p:txBody>
          <a:bodyPr wrap="square" lIns="0" rIns="0" tIns="0" bIns="0">
            <a:spAutoFit/>
          </a:bodyPr>
          <a:lstStyle/>
          <a:p>
            <a:pPr algn="ctr">
              <a:lnSpc>
                <a:spcPct val="118000"/>
              </a:lnSpc>
              <a:spcBef>
                <a:spcPts val="0"/>
              </a:spcBef>
              <a:spcAft>
                <a:spcPts val="0"/>
              </a:spcAft>
              <a:defRPr sz="1700" b="1">
                <a:solidFill>
                  <a:srgbClr val="287F89"/>
                </a:solidFill>
                <a:latin typeface="Noto Sans CJK KR"/>
              </a:defRPr>
            </a:pPr>
            <a:r>
              <a:rPr>
                <a:ea typeface="Noto Sans CJK KR"/>
              </a:rPr>
              <a:t>16</a:t>
            </a:r>
          </a:p>
        </p:txBody>
      </p:sp>
      <p:sp>
        <p:nvSpPr>
          <p:cNvPr id="17" name="TextBox 16"/>
          <p:cNvSpPr txBox="1"/>
          <p:nvPr/>
        </p:nvSpPr>
        <p:spPr>
          <a:xfrm>
            <a:off x="990599" y="4445000"/>
            <a:ext cx="4635500" cy="10668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방향 수를 바꾸며 구별 성능 비교</a:t>
            </a:r>
          </a:p>
          <a:p>
            <a:pPr>
              <a:lnSpc>
                <a:spcPct val="118000"/>
              </a:lnSpc>
              <a:spcBef>
                <a:spcPts val="0"/>
              </a:spcBef>
              <a:spcAft>
                <a:spcPts val="0"/>
              </a:spcAft>
              <a:defRPr sz="1500" b="0">
                <a:solidFill>
                  <a:srgbClr val="66716F"/>
                </a:solidFill>
                <a:latin typeface="Noto Sans CJK KR"/>
              </a:defRPr>
            </a:pPr>
            <a:r>
              <a:rPr>
                <a:ea typeface="Noto Sans CJK KR"/>
              </a:rPr>
              <a:t>같은 벽·표면의 중복 정보 묶기 검토</a:t>
            </a:r>
          </a:p>
          <a:p>
            <a:pPr>
              <a:lnSpc>
                <a:spcPct val="118000"/>
              </a:lnSpc>
              <a:spcBef>
                <a:spcPts val="0"/>
              </a:spcBef>
              <a:spcAft>
                <a:spcPts val="0"/>
              </a:spcAft>
              <a:defRPr sz="1500" b="0">
                <a:solidFill>
                  <a:srgbClr val="66716F"/>
                </a:solidFill>
                <a:latin typeface="Noto Sans CJK KR"/>
              </a:defRPr>
            </a:pPr>
            <a:r>
              <a:rPr>
                <a:ea typeface="Noto Sans CJK KR"/>
              </a:rPr>
              <a:t>상황에 따라 개수를 바꾸는 방법 탐색</a:t>
            </a:r>
          </a:p>
        </p:txBody>
      </p:sp>
      <p:sp>
        <p:nvSpPr>
          <p:cNvPr id="18" name="Rounded Rectangle 17"/>
          <p:cNvSpPr/>
          <p:nvPr/>
        </p:nvSpPr>
        <p:spPr>
          <a:xfrm>
            <a:off x="6184900" y="2730500"/>
            <a:ext cx="5295900" cy="2997200"/>
          </a:xfrm>
          <a:prstGeom prst="roundRect">
            <a:avLst>
              <a:gd name="adj" fmla="val 3389"/>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300" y="2959100"/>
            <a:ext cx="4737100" cy="381000"/>
          </a:xfrm>
          <a:prstGeom prst="rect">
            <a:avLst/>
          </a:prstGeom>
          <a:noFill/>
        </p:spPr>
        <p:txBody>
          <a:bodyPr wrap="square" lIns="0" rIns="0" tIns="0" bIns="0">
            <a:spAutoFit/>
          </a:bodyPr>
          <a:lstStyle/>
          <a:p>
            <a:pPr>
              <a:lnSpc>
                <a:spcPct val="118000"/>
              </a:lnSpc>
              <a:spcBef>
                <a:spcPts val="0"/>
              </a:spcBef>
              <a:spcAft>
                <a:spcPts val="0"/>
              </a:spcAft>
              <a:defRPr sz="1900" b="1">
                <a:solidFill>
                  <a:srgbClr val="FFFFFF"/>
                </a:solidFill>
                <a:latin typeface="Noto Sans CJK KR"/>
              </a:defRPr>
            </a:pPr>
            <a:r>
              <a:rPr>
                <a:ea typeface="Noto Sans CJK KR"/>
              </a:rPr>
              <a:t>위험도 기반 우선순위 · 연구 과제</a:t>
            </a:r>
          </a:p>
        </p:txBody>
      </p:sp>
      <p:sp>
        <p:nvSpPr>
          <p:cNvPr id="20" name="TextBox 19"/>
          <p:cNvSpPr txBox="1"/>
          <p:nvPr/>
        </p:nvSpPr>
        <p:spPr>
          <a:xfrm>
            <a:off x="6464300" y="3657600"/>
            <a:ext cx="381000" cy="2921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01</a:t>
            </a:r>
          </a:p>
        </p:txBody>
      </p:sp>
      <p:sp>
        <p:nvSpPr>
          <p:cNvPr id="21" name="TextBox 20"/>
          <p:cNvSpPr txBox="1"/>
          <p:nvPr/>
        </p:nvSpPr>
        <p:spPr>
          <a:xfrm>
            <a:off x="6972300" y="3619500"/>
            <a:ext cx="1524000" cy="3175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거리</a:t>
            </a:r>
          </a:p>
        </p:txBody>
      </p:sp>
      <p:sp>
        <p:nvSpPr>
          <p:cNvPr id="22" name="TextBox 21"/>
          <p:cNvSpPr txBox="1"/>
          <p:nvPr/>
        </p:nvSpPr>
        <p:spPr>
          <a:xfrm>
            <a:off x="8572500" y="3644900"/>
            <a:ext cx="2603500" cy="533400"/>
          </a:xfrm>
          <a:prstGeom prst="rect">
            <a:avLst/>
          </a:prstGeom>
          <a:noFill/>
        </p:spPr>
        <p:txBody>
          <a:bodyPr wrap="square" lIns="0" rIns="0" tIns="0" bIns="0">
            <a:spAutoFit/>
          </a:bodyPr>
          <a:lstStyle/>
          <a:p>
            <a:pPr>
              <a:lnSpc>
                <a:spcPct val="118000"/>
              </a:lnSpc>
              <a:spcBef>
                <a:spcPts val="0"/>
              </a:spcBef>
              <a:spcAft>
                <a:spcPts val="0"/>
              </a:spcAft>
              <a:defRPr sz="1150" b="0">
                <a:solidFill>
                  <a:srgbClr val="ACBBB9"/>
                </a:solidFill>
                <a:latin typeface="Noto Sans CJK KR"/>
              </a:defRPr>
            </a:pPr>
            <a:r>
              <a:rPr>
                <a:ea typeface="Noto Sans CJK KR"/>
              </a:rPr>
              <a:t>얼마나 가까운가</a:t>
            </a:r>
          </a:p>
        </p:txBody>
      </p:sp>
      <p:sp>
        <p:nvSpPr>
          <p:cNvPr id="23" name="TextBox 22"/>
          <p:cNvSpPr txBox="1"/>
          <p:nvPr/>
        </p:nvSpPr>
        <p:spPr>
          <a:xfrm>
            <a:off x="6464300" y="4279900"/>
            <a:ext cx="381000" cy="2921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02</a:t>
            </a:r>
          </a:p>
        </p:txBody>
      </p:sp>
      <p:sp>
        <p:nvSpPr>
          <p:cNvPr id="24" name="TextBox 23"/>
          <p:cNvSpPr txBox="1"/>
          <p:nvPr/>
        </p:nvSpPr>
        <p:spPr>
          <a:xfrm>
            <a:off x="6972300" y="4241800"/>
            <a:ext cx="1524000" cy="3175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접근 변화</a:t>
            </a:r>
          </a:p>
        </p:txBody>
      </p:sp>
      <p:sp>
        <p:nvSpPr>
          <p:cNvPr id="25" name="TextBox 24"/>
          <p:cNvSpPr txBox="1"/>
          <p:nvPr/>
        </p:nvSpPr>
        <p:spPr>
          <a:xfrm>
            <a:off x="8572500" y="4267200"/>
            <a:ext cx="2603500" cy="533400"/>
          </a:xfrm>
          <a:prstGeom prst="rect">
            <a:avLst/>
          </a:prstGeom>
          <a:noFill/>
        </p:spPr>
        <p:txBody>
          <a:bodyPr wrap="square" lIns="0" rIns="0" tIns="0" bIns="0">
            <a:spAutoFit/>
          </a:bodyPr>
          <a:lstStyle/>
          <a:p>
            <a:pPr>
              <a:lnSpc>
                <a:spcPct val="118000"/>
              </a:lnSpc>
              <a:spcBef>
                <a:spcPts val="0"/>
              </a:spcBef>
              <a:spcAft>
                <a:spcPts val="0"/>
              </a:spcAft>
              <a:defRPr sz="1150" b="0">
                <a:solidFill>
                  <a:srgbClr val="ACBBB9"/>
                </a:solidFill>
                <a:latin typeface="Noto Sans CJK KR"/>
              </a:defRPr>
            </a:pPr>
            <a:r>
              <a:rPr>
                <a:ea typeface="Noto Sans CJK KR"/>
              </a:rPr>
              <a:t>같은 대상이 얼마나 빨리 가까워지는가</a:t>
            </a:r>
          </a:p>
        </p:txBody>
      </p:sp>
      <p:sp>
        <p:nvSpPr>
          <p:cNvPr id="26" name="TextBox 25"/>
          <p:cNvSpPr txBox="1"/>
          <p:nvPr/>
        </p:nvSpPr>
        <p:spPr>
          <a:xfrm>
            <a:off x="6464300" y="4902200"/>
            <a:ext cx="381000" cy="2921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03</a:t>
            </a:r>
          </a:p>
        </p:txBody>
      </p:sp>
      <p:sp>
        <p:nvSpPr>
          <p:cNvPr id="27" name="TextBox 26"/>
          <p:cNvSpPr txBox="1"/>
          <p:nvPr/>
        </p:nvSpPr>
        <p:spPr>
          <a:xfrm>
            <a:off x="6972300" y="4864100"/>
            <a:ext cx="1524000" cy="3175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진행 경로</a:t>
            </a:r>
          </a:p>
        </p:txBody>
      </p:sp>
      <p:sp>
        <p:nvSpPr>
          <p:cNvPr id="28" name="TextBox 27"/>
          <p:cNvSpPr txBox="1"/>
          <p:nvPr/>
        </p:nvSpPr>
        <p:spPr>
          <a:xfrm>
            <a:off x="8572500" y="4889500"/>
            <a:ext cx="2603500" cy="533400"/>
          </a:xfrm>
          <a:prstGeom prst="rect">
            <a:avLst/>
          </a:prstGeom>
          <a:noFill/>
        </p:spPr>
        <p:txBody>
          <a:bodyPr wrap="square" lIns="0" rIns="0" tIns="0" bIns="0">
            <a:spAutoFit/>
          </a:bodyPr>
          <a:lstStyle/>
          <a:p>
            <a:pPr>
              <a:lnSpc>
                <a:spcPct val="118000"/>
              </a:lnSpc>
              <a:spcBef>
                <a:spcPts val="0"/>
              </a:spcBef>
              <a:spcAft>
                <a:spcPts val="0"/>
              </a:spcAft>
              <a:defRPr sz="1150" b="0">
                <a:solidFill>
                  <a:srgbClr val="ACBBB9"/>
                </a:solidFill>
                <a:latin typeface="Noto Sans CJK KR"/>
              </a:defRPr>
            </a:pPr>
            <a:r>
              <a:rPr>
                <a:ea typeface="Noto Sans CJK KR"/>
              </a:rPr>
              <a:t>사용자가 이동할 경로와 겹치는가</a:t>
            </a:r>
          </a:p>
        </p:txBody>
      </p:sp>
      <p:sp>
        <p:nvSpPr>
          <p:cNvPr id="29" name="TextBox 28"/>
          <p:cNvSpPr txBox="1"/>
          <p:nvPr/>
        </p:nvSpPr>
        <p:spPr>
          <a:xfrm>
            <a:off x="736600" y="5956300"/>
            <a:ext cx="10706100" cy="3302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현재 앱은 개수 비교가 가능하다. 최적 개수와 위험도 판단 알고리즘은 아직 확정하지 않았다.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YOLOX · 카메라 기반 사물 인식</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카메라 영상에서 물체를 찾고,</a:t>
            </a:r>
          </a:p>
          <a:p>
            <a:pPr>
              <a:lnSpc>
                <a:spcPct val="118000"/>
              </a:lnSpc>
              <a:spcBef>
                <a:spcPts val="0"/>
              </a:spcBef>
              <a:spcAft>
                <a:spcPts val="0"/>
              </a:spcAft>
              <a:defRPr sz="3100" b="1">
                <a:solidFill>
                  <a:srgbClr val="151D21"/>
                </a:solidFill>
                <a:latin typeface="Noto Sans CJK KR"/>
              </a:defRPr>
            </a:pPr>
            <a:r>
              <a:rPr>
                <a:ea typeface="Noto Sans CJK KR"/>
              </a:rPr>
              <a:t>사물 이름과 위치를 표시한다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11</a:t>
            </a:r>
          </a:p>
        </p:txBody>
      </p:sp>
      <p:sp>
        <p:nvSpPr>
          <p:cNvPr id="7" name="Rounded Rectangle 6"/>
          <p:cNvSpPr/>
          <p:nvPr/>
        </p:nvSpPr>
        <p:spPr>
          <a:xfrm>
            <a:off x="711200" y="2705100"/>
            <a:ext cx="5321300" cy="812800"/>
          </a:xfrm>
          <a:prstGeom prst="roundRect">
            <a:avLst>
              <a:gd name="adj" fmla="val 12500"/>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9799" y="2832100"/>
            <a:ext cx="4851400" cy="3302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영상 입력</a:t>
            </a:r>
          </a:p>
        </p:txBody>
      </p:sp>
      <p:sp>
        <p:nvSpPr>
          <p:cNvPr id="9" name="TextBox 8"/>
          <p:cNvSpPr txBox="1"/>
          <p:nvPr/>
        </p:nvSpPr>
        <p:spPr>
          <a:xfrm>
            <a:off x="939799" y="3200400"/>
            <a:ext cx="4851400" cy="2794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휴대폰 카메라 → Sense 카메라로 확장</a:t>
            </a:r>
          </a:p>
        </p:txBody>
      </p:sp>
      <p:cxnSp>
        <p:nvCxnSpPr>
          <p:cNvPr id="10" name="Connector 9"/>
          <p:cNvCxnSpPr/>
          <p:nvPr/>
        </p:nvCxnSpPr>
        <p:spPr>
          <a:xfrm>
            <a:off x="3365500" y="3543300"/>
            <a:ext cx="0" cy="114300"/>
          </a:xfrm>
          <a:prstGeom prst="line">
            <a:avLst/>
          </a:prstGeom>
          <a:ln w="1905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11200" y="3683000"/>
            <a:ext cx="5321300" cy="812800"/>
          </a:xfrm>
          <a:prstGeom prst="roundRect">
            <a:avLst>
              <a:gd name="adj" fmla="val 12500"/>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9799" y="3810000"/>
            <a:ext cx="4851400" cy="3302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YOLOX-Nano 추론</a:t>
            </a:r>
          </a:p>
        </p:txBody>
      </p:sp>
      <p:sp>
        <p:nvSpPr>
          <p:cNvPr id="13" name="TextBox 12"/>
          <p:cNvSpPr txBox="1"/>
          <p:nvPr/>
        </p:nvSpPr>
        <p:spPr>
          <a:xfrm>
            <a:off x="939799" y="4178300"/>
            <a:ext cx="4851400" cy="2794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휴대폰에서 ONNX Runtime으로 실행</a:t>
            </a:r>
          </a:p>
        </p:txBody>
      </p:sp>
      <p:cxnSp>
        <p:nvCxnSpPr>
          <p:cNvPr id="14" name="Connector 13"/>
          <p:cNvCxnSpPr/>
          <p:nvPr/>
        </p:nvCxnSpPr>
        <p:spPr>
          <a:xfrm>
            <a:off x="3365500" y="4521200"/>
            <a:ext cx="0" cy="114300"/>
          </a:xfrm>
          <a:prstGeom prst="line">
            <a:avLst/>
          </a:prstGeom>
          <a:ln w="1905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11200" y="4660900"/>
            <a:ext cx="5321300" cy="812800"/>
          </a:xfrm>
          <a:prstGeom prst="roundRect">
            <a:avLst>
              <a:gd name="adj" fmla="val 12500"/>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9799" y="4787900"/>
            <a:ext cx="4851400" cy="3302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탐지 결과 표시</a:t>
            </a:r>
          </a:p>
        </p:txBody>
      </p:sp>
      <p:sp>
        <p:nvSpPr>
          <p:cNvPr id="17" name="TextBox 16"/>
          <p:cNvSpPr txBox="1"/>
          <p:nvPr/>
        </p:nvSpPr>
        <p:spPr>
          <a:xfrm>
            <a:off x="939799" y="5156200"/>
            <a:ext cx="4851400" cy="2794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물체 이름 · 위치 상자 · 신뢰도 표시</a:t>
            </a:r>
          </a:p>
        </p:txBody>
      </p:sp>
      <p:sp>
        <p:nvSpPr>
          <p:cNvPr id="18" name="TextBox 17"/>
          <p:cNvSpPr txBox="1"/>
          <p:nvPr/>
        </p:nvSpPr>
        <p:spPr>
          <a:xfrm>
            <a:off x="736600" y="5676900"/>
            <a:ext cx="5308600" cy="546100"/>
          </a:xfrm>
          <a:prstGeom prst="rect">
            <a:avLst/>
          </a:prstGeom>
          <a:noFill/>
        </p:spPr>
        <p:txBody>
          <a:bodyPr wrap="square" lIns="0" rIns="0" tIns="0" bIns="0">
            <a:spAutoFit/>
          </a:bodyPr>
          <a:lstStyle/>
          <a:p>
            <a:pPr>
              <a:lnSpc>
                <a:spcPct val="118000"/>
              </a:lnSpc>
              <a:spcBef>
                <a:spcPts val="0"/>
              </a:spcBef>
              <a:spcAft>
                <a:spcPts val="0"/>
              </a:spcAft>
              <a:defRPr sz="1300" b="1">
                <a:solidFill>
                  <a:srgbClr val="287F89"/>
                </a:solidFill>
                <a:latin typeface="Noto Sans CJK KR"/>
              </a:defRPr>
            </a:pPr>
            <a:r>
              <a:rPr>
                <a:ea typeface="Noto Sans CJK KR"/>
              </a:rPr>
              <a:t>물체 종류와 ToF 거리·방향을</a:t>
            </a:r>
          </a:p>
          <a:p>
            <a:pPr>
              <a:lnSpc>
                <a:spcPct val="118000"/>
              </a:lnSpc>
              <a:spcBef>
                <a:spcPts val="0"/>
              </a:spcBef>
              <a:spcAft>
                <a:spcPts val="0"/>
              </a:spcAft>
              <a:defRPr sz="1300" b="1">
                <a:solidFill>
                  <a:srgbClr val="287F89"/>
                </a:solidFill>
                <a:latin typeface="Noto Sans CJK KR"/>
              </a:defRPr>
            </a:pPr>
            <a:r>
              <a:rPr>
                <a:ea typeface="Noto Sans CJK KR"/>
              </a:rPr>
              <a:t>같은 대상으로 대응시키는 것은 다음 과제</a:t>
            </a:r>
          </a:p>
        </p:txBody>
      </p:sp>
      <p:sp>
        <p:nvSpPr>
          <p:cNvPr id="19" name="Rounded Rectangle 18"/>
          <p:cNvSpPr/>
          <p:nvPr/>
        </p:nvSpPr>
        <p:spPr>
          <a:xfrm>
            <a:off x="6438900" y="2616200"/>
            <a:ext cx="5041900" cy="3594100"/>
          </a:xfrm>
          <a:prstGeom prst="roundRect">
            <a:avLst>
              <a:gd name="adj" fmla="val 2826"/>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42100" y="4057650"/>
            <a:ext cx="4635500" cy="3683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66716F"/>
                </a:solidFill>
                <a:latin typeface="Noto Sans CJK KR"/>
              </a:defRPr>
            </a:pPr>
            <a:r>
              <a:rPr>
                <a:ea typeface="Noto Sans CJK KR"/>
              </a:rPr>
              <a:t>사진 4 · Sense 카메라 사물 인식 화면</a:t>
            </a:r>
          </a:p>
        </p:txBody>
      </p:sp>
      <p:sp>
        <p:nvSpPr>
          <p:cNvPr id="21" name="TextBox 20"/>
          <p:cNvSpPr txBox="1"/>
          <p:nvPr/>
        </p:nvSpPr>
        <p:spPr>
          <a:xfrm>
            <a:off x="6642100" y="4552950"/>
            <a:ext cx="4635500" cy="3810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66716F"/>
                </a:solidFill>
                <a:latin typeface="Noto Sans CJK KR"/>
              </a:defRPr>
            </a:pPr>
            <a:r>
              <a:rPr>
                <a:ea typeface="Noto Sans CJK KR"/>
              </a:rPr>
              <a:t>원본 파일 수신 후 삽입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현재 진행 상황 · 제작과 검증의 과정</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하드웨어 제작부터</a:t>
            </a:r>
          </a:p>
          <a:p>
            <a:pPr>
              <a:lnSpc>
                <a:spcPct val="118000"/>
              </a:lnSpc>
              <a:spcBef>
                <a:spcPts val="0"/>
              </a:spcBef>
              <a:spcAft>
                <a:spcPts val="0"/>
              </a:spcAft>
              <a:defRPr sz="3100" b="1">
                <a:solidFill>
                  <a:srgbClr val="151D21"/>
                </a:solidFill>
                <a:latin typeface="Noto Sans CJK KR"/>
              </a:defRPr>
            </a:pPr>
            <a:r>
              <a:rPr>
                <a:ea typeface="Noto Sans CJK KR"/>
              </a:rPr>
              <a:t>카메라·거리·방향음 연동까지</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12</a:t>
            </a:r>
          </a:p>
        </p:txBody>
      </p:sp>
      <p:sp>
        <p:nvSpPr>
          <p:cNvPr id="7" name="Rounded Rectangle 6"/>
          <p:cNvSpPr/>
          <p:nvPr/>
        </p:nvSpPr>
        <p:spPr>
          <a:xfrm>
            <a:off x="711200" y="2679700"/>
            <a:ext cx="3721100" cy="3505200"/>
          </a:xfrm>
          <a:prstGeom prst="roundRect">
            <a:avLst>
              <a:gd name="adj" fmla="val 2898"/>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599" y="2908300"/>
            <a:ext cx="3162300" cy="381000"/>
          </a:xfrm>
          <a:prstGeom prst="rect">
            <a:avLst/>
          </a:prstGeom>
          <a:noFill/>
        </p:spPr>
        <p:txBody>
          <a:bodyPr wrap="square" lIns="0" rIns="0" tIns="0" bIns="0">
            <a:spAutoFit/>
          </a:bodyPr>
          <a:lstStyle/>
          <a:p>
            <a:pPr>
              <a:lnSpc>
                <a:spcPct val="118000"/>
              </a:lnSpc>
              <a:spcBef>
                <a:spcPts val="0"/>
              </a:spcBef>
              <a:spcAft>
                <a:spcPts val="0"/>
              </a:spcAft>
              <a:defRPr sz="2200" b="1">
                <a:solidFill>
                  <a:srgbClr val="FFFFFF"/>
                </a:solidFill>
                <a:latin typeface="Noto Sans CJK KR"/>
              </a:defRPr>
            </a:pPr>
            <a:r>
              <a:rPr>
                <a:ea typeface="Noto Sans CJK KR"/>
              </a:rPr>
              <a:t>하드웨어</a:t>
            </a:r>
          </a:p>
        </p:txBody>
      </p:sp>
      <p:sp>
        <p:nvSpPr>
          <p:cNvPr id="9" name="TextBox 8"/>
          <p:cNvSpPr txBox="1"/>
          <p:nvPr/>
        </p:nvSpPr>
        <p:spPr>
          <a:xfrm>
            <a:off x="990599" y="3619500"/>
            <a:ext cx="381000" cy="2921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01</a:t>
            </a:r>
          </a:p>
        </p:txBody>
      </p:sp>
      <p:sp>
        <p:nvSpPr>
          <p:cNvPr id="10" name="TextBox 9"/>
          <p:cNvSpPr txBox="1"/>
          <p:nvPr/>
        </p:nvSpPr>
        <p:spPr>
          <a:xfrm>
            <a:off x="1511300" y="3594100"/>
            <a:ext cx="2654300" cy="3683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부품 구매</a:t>
            </a:r>
          </a:p>
        </p:txBody>
      </p:sp>
      <p:sp>
        <p:nvSpPr>
          <p:cNvPr id="11" name="TextBox 10"/>
          <p:cNvSpPr txBox="1"/>
          <p:nvPr/>
        </p:nvSpPr>
        <p:spPr>
          <a:xfrm>
            <a:off x="1511300" y="3987799"/>
            <a:ext cx="2654300" cy="419100"/>
          </a:xfrm>
          <a:prstGeom prst="rect">
            <a:avLst/>
          </a:prstGeom>
          <a:noFill/>
        </p:spPr>
        <p:txBody>
          <a:bodyPr wrap="square" lIns="0" rIns="0" tIns="0" bIns="0">
            <a:spAutoFit/>
          </a:bodyPr>
          <a:lstStyle/>
          <a:p>
            <a:pPr>
              <a:lnSpc>
                <a:spcPct val="118000"/>
              </a:lnSpc>
              <a:spcBef>
                <a:spcPts val="0"/>
              </a:spcBef>
              <a:spcAft>
                <a:spcPts val="0"/>
              </a:spcAft>
              <a:defRPr sz="1050" b="0">
                <a:solidFill>
                  <a:srgbClr val="ACBBB9"/>
                </a:solidFill>
                <a:latin typeface="Noto Sans CJK KR"/>
              </a:defRPr>
            </a:pPr>
            <a:r>
              <a:rPr>
                <a:ea typeface="Noto Sans CJK KR"/>
              </a:rPr>
              <a:t>L8 센서 2개 · Sense 보드·카메라</a:t>
            </a:r>
          </a:p>
        </p:txBody>
      </p:sp>
      <p:sp>
        <p:nvSpPr>
          <p:cNvPr id="12" name="TextBox 11"/>
          <p:cNvSpPr txBox="1"/>
          <p:nvPr/>
        </p:nvSpPr>
        <p:spPr>
          <a:xfrm>
            <a:off x="990599" y="4445000"/>
            <a:ext cx="381000" cy="2921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02</a:t>
            </a:r>
          </a:p>
        </p:txBody>
      </p:sp>
      <p:sp>
        <p:nvSpPr>
          <p:cNvPr id="13" name="TextBox 12"/>
          <p:cNvSpPr txBox="1"/>
          <p:nvPr/>
        </p:nvSpPr>
        <p:spPr>
          <a:xfrm>
            <a:off x="1511300" y="4419600"/>
            <a:ext cx="2654300" cy="3683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납땜과 배선 제작</a:t>
            </a:r>
          </a:p>
        </p:txBody>
      </p:sp>
      <p:sp>
        <p:nvSpPr>
          <p:cNvPr id="14" name="TextBox 13"/>
          <p:cNvSpPr txBox="1"/>
          <p:nvPr/>
        </p:nvSpPr>
        <p:spPr>
          <a:xfrm>
            <a:off x="1511300" y="4813300"/>
            <a:ext cx="2654300" cy="419100"/>
          </a:xfrm>
          <a:prstGeom prst="rect">
            <a:avLst/>
          </a:prstGeom>
          <a:noFill/>
        </p:spPr>
        <p:txBody>
          <a:bodyPr wrap="square" lIns="0" rIns="0" tIns="0" bIns="0">
            <a:spAutoFit/>
          </a:bodyPr>
          <a:lstStyle/>
          <a:p>
            <a:pPr>
              <a:lnSpc>
                <a:spcPct val="118000"/>
              </a:lnSpc>
              <a:spcBef>
                <a:spcPts val="0"/>
              </a:spcBef>
              <a:spcAft>
                <a:spcPts val="0"/>
              </a:spcAft>
              <a:defRPr sz="1050" b="0">
                <a:solidFill>
                  <a:srgbClr val="ACBBB9"/>
                </a:solidFill>
                <a:latin typeface="Noto Sans CJK KR"/>
              </a:defRPr>
            </a:pPr>
            <a:r>
              <a:rPr>
                <a:ea typeface="Noto Sans CJK KR"/>
              </a:rPr>
              <a:t>핀 헤더 납땜 · Y형 점퍼선 제작</a:t>
            </a:r>
          </a:p>
        </p:txBody>
      </p:sp>
      <p:sp>
        <p:nvSpPr>
          <p:cNvPr id="15" name="TextBox 14"/>
          <p:cNvSpPr txBox="1"/>
          <p:nvPr/>
        </p:nvSpPr>
        <p:spPr>
          <a:xfrm>
            <a:off x="990599" y="5270500"/>
            <a:ext cx="381000" cy="2921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03</a:t>
            </a:r>
          </a:p>
        </p:txBody>
      </p:sp>
      <p:sp>
        <p:nvSpPr>
          <p:cNvPr id="16" name="TextBox 15"/>
          <p:cNvSpPr txBox="1"/>
          <p:nvPr/>
        </p:nvSpPr>
        <p:spPr>
          <a:xfrm>
            <a:off x="1511300" y="5245100"/>
            <a:ext cx="2654300" cy="3683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테스트 프로토타입 제작</a:t>
            </a:r>
          </a:p>
        </p:txBody>
      </p:sp>
      <p:sp>
        <p:nvSpPr>
          <p:cNvPr id="17" name="TextBox 16"/>
          <p:cNvSpPr txBox="1"/>
          <p:nvPr/>
        </p:nvSpPr>
        <p:spPr>
          <a:xfrm>
            <a:off x="1511300" y="5638800"/>
            <a:ext cx="2654300" cy="419100"/>
          </a:xfrm>
          <a:prstGeom prst="rect">
            <a:avLst/>
          </a:prstGeom>
          <a:noFill/>
        </p:spPr>
        <p:txBody>
          <a:bodyPr wrap="square" lIns="0" rIns="0" tIns="0" bIns="0">
            <a:spAutoFit/>
          </a:bodyPr>
          <a:lstStyle/>
          <a:p>
            <a:pPr>
              <a:lnSpc>
                <a:spcPct val="118000"/>
              </a:lnSpc>
              <a:spcBef>
                <a:spcPts val="0"/>
              </a:spcBef>
              <a:spcAft>
                <a:spcPts val="0"/>
              </a:spcAft>
              <a:defRPr sz="1050" b="0">
                <a:solidFill>
                  <a:srgbClr val="ACBBB9"/>
                </a:solidFill>
                <a:latin typeface="Noto Sans CJK KR"/>
              </a:defRPr>
            </a:pPr>
            <a:r>
              <a:rPr>
                <a:ea typeface="Noto Sans CJK KR"/>
              </a:rPr>
              <a:t>두 센서와 카메라 연결·동작 확인</a:t>
            </a:r>
          </a:p>
        </p:txBody>
      </p:sp>
      <p:sp>
        <p:nvSpPr>
          <p:cNvPr id="18" name="Rounded Rectangle 17"/>
          <p:cNvSpPr/>
          <p:nvPr/>
        </p:nvSpPr>
        <p:spPr>
          <a:xfrm>
            <a:off x="4711700" y="2679700"/>
            <a:ext cx="6769100" cy="3505200"/>
          </a:xfrm>
          <a:prstGeom prst="roundRect">
            <a:avLst>
              <a:gd name="adj" fmla="val 2898"/>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91100" y="2908300"/>
            <a:ext cx="6210300" cy="381000"/>
          </a:xfrm>
          <a:prstGeom prst="rect">
            <a:avLst/>
          </a:prstGeom>
          <a:noFill/>
        </p:spPr>
        <p:txBody>
          <a:bodyPr wrap="square" lIns="0" rIns="0" tIns="0" bIns="0">
            <a:spAutoFit/>
          </a:bodyPr>
          <a:lstStyle/>
          <a:p>
            <a:pPr>
              <a:lnSpc>
                <a:spcPct val="118000"/>
              </a:lnSpc>
              <a:spcBef>
                <a:spcPts val="0"/>
              </a:spcBef>
              <a:spcAft>
                <a:spcPts val="0"/>
              </a:spcAft>
              <a:defRPr sz="2200" b="1">
                <a:solidFill>
                  <a:srgbClr val="151D21"/>
                </a:solidFill>
                <a:latin typeface="Noto Sans CJK KR"/>
              </a:defRPr>
            </a:pPr>
            <a:r>
              <a:rPr>
                <a:ea typeface="Noto Sans CJK KR"/>
              </a:rPr>
              <a:t>소프트웨어</a:t>
            </a:r>
          </a:p>
        </p:txBody>
      </p:sp>
      <p:sp>
        <p:nvSpPr>
          <p:cNvPr id="20" name="Oval 19"/>
          <p:cNvSpPr/>
          <p:nvPr/>
        </p:nvSpPr>
        <p:spPr>
          <a:xfrm>
            <a:off x="5003800" y="3568700"/>
            <a:ext cx="279400" cy="2794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3800" y="3619500"/>
            <a:ext cx="279400" cy="228600"/>
          </a:xfrm>
          <a:prstGeom prst="rect">
            <a:avLst/>
          </a:prstGeom>
          <a:noFill/>
        </p:spPr>
        <p:txBody>
          <a:bodyPr wrap="square" lIns="0" rIns="0" tIns="0" bIns="0">
            <a:spAutoFit/>
          </a:bodyPr>
          <a:lstStyle/>
          <a:p>
            <a:pPr algn="ctr">
              <a:lnSpc>
                <a:spcPct val="118000"/>
              </a:lnSpc>
              <a:spcBef>
                <a:spcPts val="0"/>
              </a:spcBef>
              <a:spcAft>
                <a:spcPts val="0"/>
              </a:spcAft>
              <a:defRPr sz="1000" b="1">
                <a:solidFill>
                  <a:srgbClr val="287F89"/>
                </a:solidFill>
                <a:latin typeface="Noto Sans CJK KR"/>
              </a:defRPr>
            </a:pPr>
            <a:r>
              <a:rPr>
                <a:ea typeface="Noto Sans CJK KR"/>
              </a:rPr>
              <a:t>1</a:t>
            </a:r>
          </a:p>
        </p:txBody>
      </p:sp>
      <p:sp>
        <p:nvSpPr>
          <p:cNvPr id="22" name="TextBox 21"/>
          <p:cNvSpPr txBox="1"/>
          <p:nvPr/>
        </p:nvSpPr>
        <p:spPr>
          <a:xfrm>
            <a:off x="5435600" y="3556000"/>
            <a:ext cx="5765800" cy="393700"/>
          </a:xfrm>
          <a:prstGeom prst="rect">
            <a:avLst/>
          </a:prstGeom>
          <a:noFill/>
        </p:spPr>
        <p:txBody>
          <a:bodyPr wrap="square" lIns="0" rIns="0" tIns="0" bIns="0">
            <a:spAutoFit/>
          </a:bodyPr>
          <a:lstStyle/>
          <a:p>
            <a:pPr>
              <a:lnSpc>
                <a:spcPct val="118000"/>
              </a:lnSpc>
              <a:spcBef>
                <a:spcPts val="0"/>
              </a:spcBef>
              <a:spcAft>
                <a:spcPts val="0"/>
              </a:spcAft>
              <a:defRPr sz="1400" b="0">
                <a:solidFill>
                  <a:srgbClr val="151D21"/>
                </a:solidFill>
                <a:latin typeface="Noto Sans CJK KR"/>
              </a:defRPr>
            </a:pPr>
            <a:r>
              <a:rPr>
                <a:ea typeface="Noto Sans CJK KR"/>
              </a:rPr>
              <a:t>센서 1개로 거리 측정 성공</a:t>
            </a:r>
          </a:p>
        </p:txBody>
      </p:sp>
      <p:sp>
        <p:nvSpPr>
          <p:cNvPr id="23" name="Oval 22"/>
          <p:cNvSpPr/>
          <p:nvPr/>
        </p:nvSpPr>
        <p:spPr>
          <a:xfrm>
            <a:off x="5003800" y="4064000"/>
            <a:ext cx="279400" cy="2794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3800" y="4114800"/>
            <a:ext cx="279400" cy="228600"/>
          </a:xfrm>
          <a:prstGeom prst="rect">
            <a:avLst/>
          </a:prstGeom>
          <a:noFill/>
        </p:spPr>
        <p:txBody>
          <a:bodyPr wrap="square" lIns="0" rIns="0" tIns="0" bIns="0">
            <a:spAutoFit/>
          </a:bodyPr>
          <a:lstStyle/>
          <a:p>
            <a:pPr algn="ctr">
              <a:lnSpc>
                <a:spcPct val="118000"/>
              </a:lnSpc>
              <a:spcBef>
                <a:spcPts val="0"/>
              </a:spcBef>
              <a:spcAft>
                <a:spcPts val="0"/>
              </a:spcAft>
              <a:defRPr sz="1000" b="1">
                <a:solidFill>
                  <a:srgbClr val="287F89"/>
                </a:solidFill>
                <a:latin typeface="Noto Sans CJK KR"/>
              </a:defRPr>
            </a:pPr>
            <a:r>
              <a:rPr>
                <a:ea typeface="Noto Sans CJK KR"/>
              </a:rPr>
              <a:t>2</a:t>
            </a:r>
          </a:p>
        </p:txBody>
      </p:sp>
      <p:sp>
        <p:nvSpPr>
          <p:cNvPr id="25" name="TextBox 24"/>
          <p:cNvSpPr txBox="1"/>
          <p:nvPr/>
        </p:nvSpPr>
        <p:spPr>
          <a:xfrm>
            <a:off x="5435600" y="4051300"/>
            <a:ext cx="5765800" cy="393700"/>
          </a:xfrm>
          <a:prstGeom prst="rect">
            <a:avLst/>
          </a:prstGeom>
          <a:noFill/>
        </p:spPr>
        <p:txBody>
          <a:bodyPr wrap="square" lIns="0" rIns="0" tIns="0" bIns="0">
            <a:spAutoFit/>
          </a:bodyPr>
          <a:lstStyle/>
          <a:p>
            <a:pPr>
              <a:lnSpc>
                <a:spcPct val="118000"/>
              </a:lnSpc>
              <a:spcBef>
                <a:spcPts val="0"/>
              </a:spcBef>
              <a:spcAft>
                <a:spcPts val="0"/>
              </a:spcAft>
              <a:defRPr sz="1400" b="0">
                <a:solidFill>
                  <a:srgbClr val="151D21"/>
                </a:solidFill>
                <a:latin typeface="Noto Sans CJK KR"/>
              </a:defRPr>
            </a:pPr>
            <a:r>
              <a:rPr>
                <a:ea typeface="Noto Sans CJK KR"/>
              </a:rPr>
              <a:t>YOLOX 적용 · 휴대폰 카메라 사물 인식 성공</a:t>
            </a:r>
          </a:p>
        </p:txBody>
      </p:sp>
      <p:sp>
        <p:nvSpPr>
          <p:cNvPr id="26" name="Oval 25"/>
          <p:cNvSpPr/>
          <p:nvPr/>
        </p:nvSpPr>
        <p:spPr>
          <a:xfrm>
            <a:off x="5003800" y="4559300"/>
            <a:ext cx="279400" cy="2794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03800" y="4610100"/>
            <a:ext cx="279400" cy="228600"/>
          </a:xfrm>
          <a:prstGeom prst="rect">
            <a:avLst/>
          </a:prstGeom>
          <a:noFill/>
        </p:spPr>
        <p:txBody>
          <a:bodyPr wrap="square" lIns="0" rIns="0" tIns="0" bIns="0">
            <a:spAutoFit/>
          </a:bodyPr>
          <a:lstStyle/>
          <a:p>
            <a:pPr algn="ctr">
              <a:lnSpc>
                <a:spcPct val="118000"/>
              </a:lnSpc>
              <a:spcBef>
                <a:spcPts val="0"/>
              </a:spcBef>
              <a:spcAft>
                <a:spcPts val="0"/>
              </a:spcAft>
              <a:defRPr sz="1000" b="1">
                <a:solidFill>
                  <a:srgbClr val="287F89"/>
                </a:solidFill>
                <a:latin typeface="Noto Sans CJK KR"/>
              </a:defRPr>
            </a:pPr>
            <a:r>
              <a:rPr>
                <a:ea typeface="Noto Sans CJK KR"/>
              </a:rPr>
              <a:t>3</a:t>
            </a:r>
          </a:p>
        </p:txBody>
      </p:sp>
      <p:sp>
        <p:nvSpPr>
          <p:cNvPr id="28" name="TextBox 27"/>
          <p:cNvSpPr txBox="1"/>
          <p:nvPr/>
        </p:nvSpPr>
        <p:spPr>
          <a:xfrm>
            <a:off x="5435600" y="4546600"/>
            <a:ext cx="5765800" cy="393700"/>
          </a:xfrm>
          <a:prstGeom prst="rect">
            <a:avLst/>
          </a:prstGeom>
          <a:noFill/>
        </p:spPr>
        <p:txBody>
          <a:bodyPr wrap="square" lIns="0" rIns="0" tIns="0" bIns="0">
            <a:spAutoFit/>
          </a:bodyPr>
          <a:lstStyle/>
          <a:p>
            <a:pPr>
              <a:lnSpc>
                <a:spcPct val="118000"/>
              </a:lnSpc>
              <a:spcBef>
                <a:spcPts val="0"/>
              </a:spcBef>
              <a:spcAft>
                <a:spcPts val="0"/>
              </a:spcAft>
              <a:defRPr sz="1400" b="0">
                <a:solidFill>
                  <a:srgbClr val="151D21"/>
                </a:solidFill>
                <a:latin typeface="Noto Sans CJK KR"/>
              </a:defRPr>
            </a:pPr>
            <a:r>
              <a:rPr>
                <a:ea typeface="Noto Sans CJK KR"/>
              </a:rPr>
              <a:t>센서 2개 주소 할당 · 동시 거리 측정 성공</a:t>
            </a:r>
          </a:p>
        </p:txBody>
      </p:sp>
      <p:sp>
        <p:nvSpPr>
          <p:cNvPr id="29" name="Oval 28"/>
          <p:cNvSpPr/>
          <p:nvPr/>
        </p:nvSpPr>
        <p:spPr>
          <a:xfrm>
            <a:off x="5003800" y="5054600"/>
            <a:ext cx="279400" cy="2794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03800" y="5105400"/>
            <a:ext cx="279400" cy="228600"/>
          </a:xfrm>
          <a:prstGeom prst="rect">
            <a:avLst/>
          </a:prstGeom>
          <a:noFill/>
        </p:spPr>
        <p:txBody>
          <a:bodyPr wrap="square" lIns="0" rIns="0" tIns="0" bIns="0">
            <a:spAutoFit/>
          </a:bodyPr>
          <a:lstStyle/>
          <a:p>
            <a:pPr algn="ctr">
              <a:lnSpc>
                <a:spcPct val="118000"/>
              </a:lnSpc>
              <a:spcBef>
                <a:spcPts val="0"/>
              </a:spcBef>
              <a:spcAft>
                <a:spcPts val="0"/>
              </a:spcAft>
              <a:defRPr sz="1000" b="1">
                <a:solidFill>
                  <a:srgbClr val="287F89"/>
                </a:solidFill>
                <a:latin typeface="Noto Sans CJK KR"/>
              </a:defRPr>
            </a:pPr>
            <a:r>
              <a:rPr>
                <a:ea typeface="Noto Sans CJK KR"/>
              </a:rPr>
              <a:t>4</a:t>
            </a:r>
          </a:p>
        </p:txBody>
      </p:sp>
      <p:sp>
        <p:nvSpPr>
          <p:cNvPr id="31" name="TextBox 30"/>
          <p:cNvSpPr txBox="1"/>
          <p:nvPr/>
        </p:nvSpPr>
        <p:spPr>
          <a:xfrm>
            <a:off x="5435600" y="5041900"/>
            <a:ext cx="5765800" cy="393700"/>
          </a:xfrm>
          <a:prstGeom prst="rect">
            <a:avLst/>
          </a:prstGeom>
          <a:noFill/>
        </p:spPr>
        <p:txBody>
          <a:bodyPr wrap="square" lIns="0" rIns="0" tIns="0" bIns="0">
            <a:spAutoFit/>
          </a:bodyPr>
          <a:lstStyle/>
          <a:p>
            <a:pPr>
              <a:lnSpc>
                <a:spcPct val="118000"/>
              </a:lnSpc>
              <a:spcBef>
                <a:spcPts val="0"/>
              </a:spcBef>
              <a:spcAft>
                <a:spcPts val="0"/>
              </a:spcAft>
              <a:defRPr sz="1400" b="0">
                <a:solidFill>
                  <a:srgbClr val="151D21"/>
                </a:solidFill>
                <a:latin typeface="Noto Sans CJK KR"/>
              </a:defRPr>
            </a:pPr>
            <a:r>
              <a:rPr>
                <a:ea typeface="Noto Sans CJK KR"/>
              </a:rPr>
              <a:t>Sense 카메라 영상으로 YOLOX 사물 인식 성공</a:t>
            </a:r>
          </a:p>
        </p:txBody>
      </p:sp>
      <p:sp>
        <p:nvSpPr>
          <p:cNvPr id="32" name="Oval 31"/>
          <p:cNvSpPr/>
          <p:nvPr/>
        </p:nvSpPr>
        <p:spPr>
          <a:xfrm>
            <a:off x="5003800" y="5549900"/>
            <a:ext cx="279400" cy="2794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03800" y="5600700"/>
            <a:ext cx="279400" cy="228600"/>
          </a:xfrm>
          <a:prstGeom prst="rect">
            <a:avLst/>
          </a:prstGeom>
          <a:noFill/>
        </p:spPr>
        <p:txBody>
          <a:bodyPr wrap="square" lIns="0" rIns="0" tIns="0" bIns="0">
            <a:spAutoFit/>
          </a:bodyPr>
          <a:lstStyle/>
          <a:p>
            <a:pPr algn="ctr">
              <a:lnSpc>
                <a:spcPct val="118000"/>
              </a:lnSpc>
              <a:spcBef>
                <a:spcPts val="0"/>
              </a:spcBef>
              <a:spcAft>
                <a:spcPts val="0"/>
              </a:spcAft>
              <a:defRPr sz="1000" b="1">
                <a:solidFill>
                  <a:srgbClr val="287F89"/>
                </a:solidFill>
                <a:latin typeface="Noto Sans CJK KR"/>
              </a:defRPr>
            </a:pPr>
            <a:r>
              <a:rPr>
                <a:ea typeface="Noto Sans CJK KR"/>
              </a:rPr>
              <a:t>5</a:t>
            </a:r>
          </a:p>
        </p:txBody>
      </p:sp>
      <p:sp>
        <p:nvSpPr>
          <p:cNvPr id="34" name="TextBox 33"/>
          <p:cNvSpPr txBox="1"/>
          <p:nvPr/>
        </p:nvSpPr>
        <p:spPr>
          <a:xfrm>
            <a:off x="5435600" y="5537200"/>
            <a:ext cx="5765800" cy="393700"/>
          </a:xfrm>
          <a:prstGeom prst="rect">
            <a:avLst/>
          </a:prstGeom>
          <a:noFill/>
        </p:spPr>
        <p:txBody>
          <a:bodyPr wrap="square" lIns="0" rIns="0" tIns="0" bIns="0">
            <a:spAutoFit/>
          </a:bodyPr>
          <a:lstStyle/>
          <a:p>
            <a:pPr>
              <a:lnSpc>
                <a:spcPct val="118000"/>
              </a:lnSpc>
              <a:spcBef>
                <a:spcPts val="0"/>
              </a:spcBef>
              <a:spcAft>
                <a:spcPts val="0"/>
              </a:spcAft>
              <a:defRPr sz="1400" b="1">
                <a:solidFill>
                  <a:srgbClr val="151D21"/>
                </a:solidFill>
                <a:latin typeface="Noto Sans CJK KR"/>
              </a:defRPr>
            </a:pPr>
            <a:r>
              <a:rPr>
                <a:ea typeface="Noto Sans CJK KR"/>
              </a:rPr>
              <a:t>HRTF 적용 · 거리·방향에 따른 소리 재생 성공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앞으로 해야 할 과제</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배치·거리 정보 가공·실사용 평가,</a:t>
            </a:r>
          </a:p>
          <a:p>
            <a:pPr>
              <a:lnSpc>
                <a:spcPct val="118000"/>
              </a:lnSpc>
              <a:spcBef>
                <a:spcPts val="0"/>
              </a:spcBef>
              <a:spcAft>
                <a:spcPts val="0"/>
              </a:spcAft>
              <a:defRPr sz="3100" b="1">
                <a:solidFill>
                  <a:srgbClr val="151D21"/>
                </a:solidFill>
                <a:latin typeface="Noto Sans CJK KR"/>
              </a:defRPr>
            </a:pPr>
            <a:r>
              <a:rPr>
                <a:ea typeface="Noto Sans CJK KR"/>
              </a:rPr>
              <a:t>세 가지 축으로 개선한다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13</a:t>
            </a:r>
          </a:p>
        </p:txBody>
      </p:sp>
      <p:sp>
        <p:nvSpPr>
          <p:cNvPr id="7" name="Rounded Rectangle 6"/>
          <p:cNvSpPr/>
          <p:nvPr/>
        </p:nvSpPr>
        <p:spPr>
          <a:xfrm>
            <a:off x="711200" y="2768600"/>
            <a:ext cx="3352800" cy="3238500"/>
          </a:xfrm>
          <a:prstGeom prst="roundRect">
            <a:avLst>
              <a:gd name="adj" fmla="val 3137"/>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5200" y="2984500"/>
            <a:ext cx="28448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01</a:t>
            </a:r>
          </a:p>
        </p:txBody>
      </p:sp>
      <p:sp>
        <p:nvSpPr>
          <p:cNvPr id="9" name="TextBox 8"/>
          <p:cNvSpPr txBox="1"/>
          <p:nvPr/>
        </p:nvSpPr>
        <p:spPr>
          <a:xfrm>
            <a:off x="965200" y="3517900"/>
            <a:ext cx="2844800" cy="406400"/>
          </a:xfrm>
          <a:prstGeom prst="rect">
            <a:avLst/>
          </a:prstGeom>
          <a:noFill/>
        </p:spPr>
        <p:txBody>
          <a:bodyPr wrap="square" lIns="0" rIns="0" tIns="0" bIns="0">
            <a:spAutoFit/>
          </a:bodyPr>
          <a:lstStyle/>
          <a:p>
            <a:pPr>
              <a:lnSpc>
                <a:spcPct val="118000"/>
              </a:lnSpc>
              <a:spcBef>
                <a:spcPts val="0"/>
              </a:spcBef>
              <a:spcAft>
                <a:spcPts val="0"/>
              </a:spcAft>
              <a:defRPr sz="2100" b="1">
                <a:solidFill>
                  <a:srgbClr val="151D21"/>
                </a:solidFill>
                <a:latin typeface="Noto Sans CJK KR"/>
              </a:defRPr>
            </a:pPr>
            <a:r>
              <a:rPr>
                <a:ea typeface="Noto Sans CJK KR"/>
              </a:rPr>
              <a:t>최적 배치 탐색</a:t>
            </a:r>
          </a:p>
        </p:txBody>
      </p:sp>
      <p:sp>
        <p:nvSpPr>
          <p:cNvPr id="10" name="TextBox 9"/>
          <p:cNvSpPr txBox="1"/>
          <p:nvPr/>
        </p:nvSpPr>
        <p:spPr>
          <a:xfrm>
            <a:off x="965200" y="4165600"/>
            <a:ext cx="2844800" cy="11557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두 센서가 이루는 각도 비교</a:t>
            </a:r>
          </a:p>
          <a:p>
            <a:pPr>
              <a:lnSpc>
                <a:spcPct val="118000"/>
              </a:lnSpc>
              <a:spcBef>
                <a:spcPts val="0"/>
              </a:spcBef>
              <a:spcAft>
                <a:spcPts val="0"/>
              </a:spcAft>
              <a:defRPr sz="1300" b="0">
                <a:solidFill>
                  <a:srgbClr val="66716F"/>
                </a:solidFill>
                <a:latin typeface="Noto Sans CJK KR"/>
              </a:defRPr>
            </a:pPr>
            <a:r>
              <a:rPr>
                <a:ea typeface="Noto Sans CJK KR"/>
              </a:rPr>
              <a:t>카메라 렌즈의 위치 조정</a:t>
            </a:r>
          </a:p>
          <a:p>
            <a:pPr>
              <a:lnSpc>
                <a:spcPct val="118000"/>
              </a:lnSpc>
              <a:spcBef>
                <a:spcPts val="0"/>
              </a:spcBef>
              <a:spcAft>
                <a:spcPts val="0"/>
              </a:spcAft>
              <a:defRPr sz="1300" b="0">
                <a:solidFill>
                  <a:srgbClr val="66716F"/>
                </a:solidFill>
                <a:latin typeface="Noto Sans CJK KR"/>
              </a:defRPr>
            </a:pPr>
            <a:r>
              <a:rPr>
                <a:ea typeface="Noto Sans CJK KR"/>
              </a:rPr>
              <a:t>시야 겹침·빈틈과 착용 형태 확인</a:t>
            </a:r>
          </a:p>
        </p:txBody>
      </p:sp>
      <p:sp>
        <p:nvSpPr>
          <p:cNvPr id="11" name="Rounded Rectangle 10"/>
          <p:cNvSpPr/>
          <p:nvPr/>
        </p:nvSpPr>
        <p:spPr>
          <a:xfrm>
            <a:off x="965200" y="5511800"/>
            <a:ext cx="28448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5562600"/>
            <a:ext cx="25908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센서 각도 · 렌즈 위치</a:t>
            </a:r>
          </a:p>
        </p:txBody>
      </p:sp>
      <p:sp>
        <p:nvSpPr>
          <p:cNvPr id="13" name="Rounded Rectangle 12"/>
          <p:cNvSpPr/>
          <p:nvPr/>
        </p:nvSpPr>
        <p:spPr>
          <a:xfrm>
            <a:off x="4419600" y="2768600"/>
            <a:ext cx="3352800" cy="3238500"/>
          </a:xfrm>
          <a:prstGeom prst="roundRect">
            <a:avLst>
              <a:gd name="adj" fmla="val 3137"/>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73600" y="2984500"/>
            <a:ext cx="28448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02</a:t>
            </a:r>
          </a:p>
        </p:txBody>
      </p:sp>
      <p:sp>
        <p:nvSpPr>
          <p:cNvPr id="15" name="TextBox 14"/>
          <p:cNvSpPr txBox="1"/>
          <p:nvPr/>
        </p:nvSpPr>
        <p:spPr>
          <a:xfrm>
            <a:off x="4673600" y="3517900"/>
            <a:ext cx="2844800" cy="406400"/>
          </a:xfrm>
          <a:prstGeom prst="rect">
            <a:avLst/>
          </a:prstGeom>
          <a:noFill/>
        </p:spPr>
        <p:txBody>
          <a:bodyPr wrap="square" lIns="0" rIns="0" tIns="0" bIns="0">
            <a:spAutoFit/>
          </a:bodyPr>
          <a:lstStyle/>
          <a:p>
            <a:pPr>
              <a:lnSpc>
                <a:spcPct val="118000"/>
              </a:lnSpc>
              <a:spcBef>
                <a:spcPts val="0"/>
              </a:spcBef>
              <a:spcAft>
                <a:spcPts val="0"/>
              </a:spcAft>
              <a:defRPr sz="2100" b="1">
                <a:solidFill>
                  <a:srgbClr val="151D21"/>
                </a:solidFill>
                <a:latin typeface="Noto Sans CJK KR"/>
              </a:defRPr>
            </a:pPr>
            <a:r>
              <a:rPr>
                <a:ea typeface="Noto Sans CJK KR"/>
              </a:rPr>
              <a:t>거리 정보 가공</a:t>
            </a:r>
          </a:p>
        </p:txBody>
      </p:sp>
      <p:sp>
        <p:nvSpPr>
          <p:cNvPr id="16" name="TextBox 15"/>
          <p:cNvSpPr txBox="1"/>
          <p:nvPr/>
        </p:nvSpPr>
        <p:spPr>
          <a:xfrm>
            <a:off x="4673600" y="4165600"/>
            <a:ext cx="2844800" cy="11557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8×8 거리값의 잡음·오류 분석</a:t>
            </a:r>
          </a:p>
          <a:p>
            <a:pPr>
              <a:lnSpc>
                <a:spcPct val="118000"/>
              </a:lnSpc>
              <a:spcBef>
                <a:spcPts val="0"/>
              </a:spcBef>
              <a:spcAft>
                <a:spcPts val="0"/>
              </a:spcAft>
              <a:defRPr sz="1300" b="0">
                <a:solidFill>
                  <a:srgbClr val="66716F"/>
                </a:solidFill>
                <a:latin typeface="Noto Sans CJK KR"/>
              </a:defRPr>
            </a:pPr>
            <a:r>
              <a:rPr>
                <a:ea typeface="Noto Sans CJK KR"/>
              </a:rPr>
              <a:t>이상치 제거·시간 평활화 후보 비교</a:t>
            </a:r>
          </a:p>
          <a:p>
            <a:pPr>
              <a:lnSpc>
                <a:spcPct val="118000"/>
              </a:lnSpc>
              <a:spcBef>
                <a:spcPts val="0"/>
              </a:spcBef>
              <a:spcAft>
                <a:spcPts val="0"/>
              </a:spcAft>
              <a:defRPr sz="1300" b="0">
                <a:solidFill>
                  <a:srgbClr val="66716F"/>
                </a:solidFill>
                <a:latin typeface="Noto Sans CJK KR"/>
              </a:defRPr>
            </a:pPr>
            <a:r>
              <a:rPr>
                <a:ea typeface="Noto Sans CJK KR"/>
              </a:rPr>
              <a:t>표면 묶기 등 공간 가공 탐색</a:t>
            </a:r>
          </a:p>
        </p:txBody>
      </p:sp>
      <p:sp>
        <p:nvSpPr>
          <p:cNvPr id="17" name="Rounded Rectangle 16"/>
          <p:cNvSpPr/>
          <p:nvPr/>
        </p:nvSpPr>
        <p:spPr>
          <a:xfrm>
            <a:off x="4673600" y="5511800"/>
            <a:ext cx="28448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5562600"/>
            <a:ext cx="25908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정확도 향상 알고리즘 탐색</a:t>
            </a:r>
          </a:p>
        </p:txBody>
      </p:sp>
      <p:sp>
        <p:nvSpPr>
          <p:cNvPr id="19" name="Rounded Rectangle 18"/>
          <p:cNvSpPr/>
          <p:nvPr/>
        </p:nvSpPr>
        <p:spPr>
          <a:xfrm>
            <a:off x="8128000" y="2768600"/>
            <a:ext cx="3352800" cy="3238500"/>
          </a:xfrm>
          <a:prstGeom prst="roundRect">
            <a:avLst>
              <a:gd name="adj" fmla="val 3137"/>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1999" y="2984500"/>
            <a:ext cx="28448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03</a:t>
            </a:r>
          </a:p>
        </p:txBody>
      </p:sp>
      <p:sp>
        <p:nvSpPr>
          <p:cNvPr id="21" name="TextBox 20"/>
          <p:cNvSpPr txBox="1"/>
          <p:nvPr/>
        </p:nvSpPr>
        <p:spPr>
          <a:xfrm>
            <a:off x="8381999" y="3517900"/>
            <a:ext cx="2844800" cy="406400"/>
          </a:xfrm>
          <a:prstGeom prst="rect">
            <a:avLst/>
          </a:prstGeom>
          <a:noFill/>
        </p:spPr>
        <p:txBody>
          <a:bodyPr wrap="square" lIns="0" rIns="0" tIns="0" bIns="0">
            <a:spAutoFit/>
          </a:bodyPr>
          <a:lstStyle/>
          <a:p>
            <a:pPr>
              <a:lnSpc>
                <a:spcPct val="118000"/>
              </a:lnSpc>
              <a:spcBef>
                <a:spcPts val="0"/>
              </a:spcBef>
              <a:spcAft>
                <a:spcPts val="0"/>
              </a:spcAft>
              <a:defRPr sz="2100" b="1">
                <a:solidFill>
                  <a:srgbClr val="151D21"/>
                </a:solidFill>
                <a:latin typeface="Noto Sans CJK KR"/>
              </a:defRPr>
            </a:pPr>
            <a:r>
              <a:rPr>
                <a:ea typeface="Noto Sans CJK KR"/>
              </a:rPr>
              <a:t>실사용 성능 평가</a:t>
            </a:r>
          </a:p>
        </p:txBody>
      </p:sp>
      <p:sp>
        <p:nvSpPr>
          <p:cNvPr id="22" name="TextBox 21"/>
          <p:cNvSpPr txBox="1"/>
          <p:nvPr/>
        </p:nvSpPr>
        <p:spPr>
          <a:xfrm>
            <a:off x="8381999" y="4165600"/>
            <a:ext cx="2844800" cy="11557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거리·방향 구별 성능 측정</a:t>
            </a:r>
          </a:p>
          <a:p>
            <a:pPr>
              <a:lnSpc>
                <a:spcPct val="118000"/>
              </a:lnSpc>
              <a:spcBef>
                <a:spcPts val="0"/>
              </a:spcBef>
              <a:spcAft>
                <a:spcPts val="0"/>
              </a:spcAft>
              <a:defRPr sz="1300" b="0">
                <a:solidFill>
                  <a:srgbClr val="66716F"/>
                </a:solidFill>
                <a:latin typeface="Noto Sans CJK KR"/>
              </a:defRPr>
            </a:pPr>
            <a:r>
              <a:rPr>
                <a:ea typeface="Noto Sans CJK KR"/>
              </a:rPr>
              <a:t>지연·인지 부담·사용성 평가</a:t>
            </a:r>
          </a:p>
          <a:p>
            <a:pPr>
              <a:lnSpc>
                <a:spcPct val="118000"/>
              </a:lnSpc>
              <a:spcBef>
                <a:spcPts val="0"/>
              </a:spcBef>
              <a:spcAft>
                <a:spcPts val="0"/>
              </a:spcAft>
              <a:defRPr sz="1300" b="0">
                <a:solidFill>
                  <a:srgbClr val="66716F"/>
                </a:solidFill>
                <a:latin typeface="Noto Sans CJK KR"/>
              </a:defRPr>
            </a:pPr>
            <a:r>
              <a:rPr>
                <a:ea typeface="Noto Sans CJK KR"/>
              </a:rPr>
              <a:t>음량 곡선과 선택 기준 개선</a:t>
            </a:r>
          </a:p>
        </p:txBody>
      </p:sp>
      <p:sp>
        <p:nvSpPr>
          <p:cNvPr id="23" name="Rounded Rectangle 22"/>
          <p:cNvSpPr/>
          <p:nvPr/>
        </p:nvSpPr>
        <p:spPr>
          <a:xfrm>
            <a:off x="8381999" y="5511800"/>
            <a:ext cx="28448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9000" y="5562600"/>
            <a:ext cx="25908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실제 사용 → 측정 → 개선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1D21"/>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다음 단계 · SLAM과 익숙한 공간 기억</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r>
              <a:rPr>
                <a:ea typeface="Noto Sans CJK KR"/>
              </a:rPr>
              <a:t>자주 쓰는 방을 기억해,</a:t>
            </a:r>
          </a:p>
          <a:p>
            <a:pPr>
              <a:lnSpc>
                <a:spcPct val="118000"/>
              </a:lnSpc>
              <a:spcBef>
                <a:spcPts val="0"/>
              </a:spcBef>
              <a:spcAft>
                <a:spcPts val="0"/>
              </a:spcAft>
              <a:defRPr sz="3100" b="1">
                <a:solidFill>
                  <a:srgbClr val="FFFFFF"/>
                </a:solidFill>
                <a:latin typeface="Noto Sans CJK KR"/>
              </a:defRPr>
            </a:pPr>
            <a:r>
              <a:rPr>
                <a:ea typeface="Noto Sans CJK KR"/>
              </a:rPr>
              <a:t>변화와 접근 정보에 소리를 집중한다</a:t>
            </a:r>
          </a:p>
        </p:txBody>
      </p:sp>
      <p:cxnSp>
        <p:nvCxnSpPr>
          <p:cNvPr id="4" name="Connector 3"/>
          <p:cNvCxnSpPr/>
          <p:nvPr/>
        </p:nvCxnSpPr>
        <p:spPr>
          <a:xfrm>
            <a:off x="711200" y="6400800"/>
            <a:ext cx="10769600" cy="0"/>
          </a:xfrm>
          <a:prstGeom prst="line">
            <a:avLst/>
          </a:prstGeom>
          <a:ln w="7620">
            <a:solidFill>
              <a:srgbClr val="3A47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ACBBB9"/>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ACBBB9"/>
                </a:solidFill>
                <a:latin typeface="Noto Sans CJK KR"/>
              </a:defRPr>
            </a:pPr>
            <a:r>
              <a:rPr>
                <a:ea typeface="Noto Sans CJK KR"/>
              </a:rPr>
              <a:t>14</a:t>
            </a:r>
          </a:p>
        </p:txBody>
      </p:sp>
      <p:sp>
        <p:nvSpPr>
          <p:cNvPr id="7" name="TextBox 6"/>
          <p:cNvSpPr txBox="1"/>
          <p:nvPr/>
        </p:nvSpPr>
        <p:spPr>
          <a:xfrm>
            <a:off x="736600" y="2768600"/>
            <a:ext cx="4191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C45831"/>
                </a:solidFill>
                <a:latin typeface="Noto Sans CJK KR"/>
              </a:defRPr>
            </a:pPr>
            <a:r>
              <a:rPr>
                <a:ea typeface="Noto Sans CJK KR"/>
              </a:rPr>
              <a:t>01</a:t>
            </a:r>
          </a:p>
        </p:txBody>
      </p:sp>
      <p:sp>
        <p:nvSpPr>
          <p:cNvPr id="8" name="TextBox 7"/>
          <p:cNvSpPr txBox="1"/>
          <p:nvPr/>
        </p:nvSpPr>
        <p:spPr>
          <a:xfrm>
            <a:off x="1320800" y="2730500"/>
            <a:ext cx="10160000" cy="393700"/>
          </a:xfrm>
          <a:prstGeom prst="rect">
            <a:avLst/>
          </a:prstGeom>
          <a:noFill/>
        </p:spPr>
        <p:txBody>
          <a:bodyPr wrap="square" lIns="0" rIns="0" tIns="0" bIns="0">
            <a:spAutoFit/>
          </a:bodyPr>
          <a:lstStyle/>
          <a:p>
            <a:pPr>
              <a:lnSpc>
                <a:spcPct val="118000"/>
              </a:lnSpc>
              <a:spcBef>
                <a:spcPts val="0"/>
              </a:spcBef>
              <a:spcAft>
                <a:spcPts val="0"/>
              </a:spcAft>
              <a:defRPr sz="2100" b="1">
                <a:solidFill>
                  <a:srgbClr val="FFFFFF"/>
                </a:solidFill>
                <a:latin typeface="Noto Sans CJK KR"/>
              </a:defRPr>
            </a:pPr>
            <a:r>
              <a:rPr>
                <a:ea typeface="Noto Sans CJK KR"/>
              </a:rPr>
              <a:t>방의 구조 기억</a:t>
            </a:r>
          </a:p>
        </p:txBody>
      </p:sp>
      <p:sp>
        <p:nvSpPr>
          <p:cNvPr id="9" name="TextBox 8"/>
          <p:cNvSpPr txBox="1"/>
          <p:nvPr/>
        </p:nvSpPr>
        <p:spPr>
          <a:xfrm>
            <a:off x="1320800" y="3187700"/>
            <a:ext cx="10147300" cy="342900"/>
          </a:xfrm>
          <a:prstGeom prst="rect">
            <a:avLst/>
          </a:prstGeom>
          <a:noFill/>
        </p:spPr>
        <p:txBody>
          <a:bodyPr wrap="square" lIns="0" rIns="0" tIns="0" bIns="0">
            <a:spAutoFit/>
          </a:bodyPr>
          <a:lstStyle/>
          <a:p>
            <a:pPr>
              <a:lnSpc>
                <a:spcPct val="118000"/>
              </a:lnSpc>
              <a:spcBef>
                <a:spcPts val="0"/>
              </a:spcBef>
              <a:spcAft>
                <a:spcPts val="0"/>
              </a:spcAft>
              <a:defRPr sz="1400" b="0">
                <a:solidFill>
                  <a:srgbClr val="ACBBB9"/>
                </a:solidFill>
                <a:latin typeface="Noto Sans CJK KR"/>
              </a:defRPr>
            </a:pPr>
            <a:r>
              <a:rPr>
                <a:ea typeface="Noto Sans CJK KR"/>
              </a:rPr>
              <a:t>SLAM으로 이동·회전을 추정하며 공간 지도 생성</a:t>
            </a:r>
          </a:p>
        </p:txBody>
      </p:sp>
      <p:sp>
        <p:nvSpPr>
          <p:cNvPr id="10" name="TextBox 9"/>
          <p:cNvSpPr txBox="1"/>
          <p:nvPr/>
        </p:nvSpPr>
        <p:spPr>
          <a:xfrm>
            <a:off x="736600" y="3746500"/>
            <a:ext cx="4191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C45831"/>
                </a:solidFill>
                <a:latin typeface="Noto Sans CJK KR"/>
              </a:defRPr>
            </a:pPr>
            <a:r>
              <a:rPr>
                <a:ea typeface="Noto Sans CJK KR"/>
              </a:rPr>
              <a:t>02</a:t>
            </a:r>
          </a:p>
        </p:txBody>
      </p:sp>
      <p:sp>
        <p:nvSpPr>
          <p:cNvPr id="11" name="TextBox 10"/>
          <p:cNvSpPr txBox="1"/>
          <p:nvPr/>
        </p:nvSpPr>
        <p:spPr>
          <a:xfrm>
            <a:off x="1320800" y="3708400"/>
            <a:ext cx="10160000" cy="393700"/>
          </a:xfrm>
          <a:prstGeom prst="rect">
            <a:avLst/>
          </a:prstGeom>
          <a:noFill/>
        </p:spPr>
        <p:txBody>
          <a:bodyPr wrap="square" lIns="0" rIns="0" tIns="0" bIns="0">
            <a:spAutoFit/>
          </a:bodyPr>
          <a:lstStyle/>
          <a:p>
            <a:pPr>
              <a:lnSpc>
                <a:spcPct val="118000"/>
              </a:lnSpc>
              <a:spcBef>
                <a:spcPts val="0"/>
              </a:spcBef>
              <a:spcAft>
                <a:spcPts val="0"/>
              </a:spcAft>
              <a:defRPr sz="2100" b="1">
                <a:solidFill>
                  <a:srgbClr val="FFFFFF"/>
                </a:solidFill>
                <a:latin typeface="Noto Sans CJK KR"/>
              </a:defRPr>
            </a:pPr>
            <a:r>
              <a:rPr>
                <a:ea typeface="Noto Sans CJK KR"/>
              </a:rPr>
              <a:t>현재 위치와 머리 방향 추정</a:t>
            </a:r>
          </a:p>
        </p:txBody>
      </p:sp>
      <p:sp>
        <p:nvSpPr>
          <p:cNvPr id="12" name="TextBox 11"/>
          <p:cNvSpPr txBox="1"/>
          <p:nvPr/>
        </p:nvSpPr>
        <p:spPr>
          <a:xfrm>
            <a:off x="1320800" y="4165600"/>
            <a:ext cx="10147300" cy="342900"/>
          </a:xfrm>
          <a:prstGeom prst="rect">
            <a:avLst/>
          </a:prstGeom>
          <a:noFill/>
        </p:spPr>
        <p:txBody>
          <a:bodyPr wrap="square" lIns="0" rIns="0" tIns="0" bIns="0">
            <a:spAutoFit/>
          </a:bodyPr>
          <a:lstStyle/>
          <a:p>
            <a:pPr>
              <a:lnSpc>
                <a:spcPct val="118000"/>
              </a:lnSpc>
              <a:spcBef>
                <a:spcPts val="0"/>
              </a:spcBef>
              <a:spcAft>
                <a:spcPts val="0"/>
              </a:spcAft>
              <a:defRPr sz="1400" b="0">
                <a:solidFill>
                  <a:srgbClr val="ACBBB9"/>
                </a:solidFill>
                <a:latin typeface="Noto Sans CJK KR"/>
              </a:defRPr>
            </a:pPr>
            <a:r>
              <a:rPr>
                <a:ea typeface="Noto Sans CJK KR"/>
              </a:rPr>
              <a:t>저장한 지도 속 물체를 현재 사용자 기준으로 변환</a:t>
            </a:r>
          </a:p>
        </p:txBody>
      </p:sp>
      <p:sp>
        <p:nvSpPr>
          <p:cNvPr id="13" name="TextBox 12"/>
          <p:cNvSpPr txBox="1"/>
          <p:nvPr/>
        </p:nvSpPr>
        <p:spPr>
          <a:xfrm>
            <a:off x="736600" y="4724400"/>
            <a:ext cx="4191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C45831"/>
                </a:solidFill>
                <a:latin typeface="Noto Sans CJK KR"/>
              </a:defRPr>
            </a:pPr>
            <a:r>
              <a:rPr>
                <a:ea typeface="Noto Sans CJK KR"/>
              </a:rPr>
              <a:t>03</a:t>
            </a:r>
          </a:p>
        </p:txBody>
      </p:sp>
      <p:sp>
        <p:nvSpPr>
          <p:cNvPr id="14" name="TextBox 13"/>
          <p:cNvSpPr txBox="1"/>
          <p:nvPr/>
        </p:nvSpPr>
        <p:spPr>
          <a:xfrm>
            <a:off x="1320800" y="4686300"/>
            <a:ext cx="10160000" cy="393700"/>
          </a:xfrm>
          <a:prstGeom prst="rect">
            <a:avLst/>
          </a:prstGeom>
          <a:noFill/>
        </p:spPr>
        <p:txBody>
          <a:bodyPr wrap="square" lIns="0" rIns="0" tIns="0" bIns="0">
            <a:spAutoFit/>
          </a:bodyPr>
          <a:lstStyle/>
          <a:p>
            <a:pPr>
              <a:lnSpc>
                <a:spcPct val="118000"/>
              </a:lnSpc>
              <a:spcBef>
                <a:spcPts val="0"/>
              </a:spcBef>
              <a:spcAft>
                <a:spcPts val="0"/>
              </a:spcAft>
              <a:defRPr sz="2100" b="1">
                <a:solidFill>
                  <a:srgbClr val="FFFFFF"/>
                </a:solidFill>
                <a:latin typeface="Noto Sans CJK KR"/>
              </a:defRPr>
            </a:pPr>
            <a:r>
              <a:rPr>
                <a:ea typeface="Noto Sans CJK KR"/>
              </a:rPr>
              <a:t>기억과 실측을 비교</a:t>
            </a:r>
          </a:p>
        </p:txBody>
      </p:sp>
      <p:sp>
        <p:nvSpPr>
          <p:cNvPr id="15" name="TextBox 14"/>
          <p:cNvSpPr txBox="1"/>
          <p:nvPr/>
        </p:nvSpPr>
        <p:spPr>
          <a:xfrm>
            <a:off x="1320800" y="5143500"/>
            <a:ext cx="10147300" cy="342900"/>
          </a:xfrm>
          <a:prstGeom prst="rect">
            <a:avLst/>
          </a:prstGeom>
          <a:noFill/>
        </p:spPr>
        <p:txBody>
          <a:bodyPr wrap="square" lIns="0" rIns="0" tIns="0" bIns="0">
            <a:spAutoFit/>
          </a:bodyPr>
          <a:lstStyle/>
          <a:p>
            <a:pPr>
              <a:lnSpc>
                <a:spcPct val="118000"/>
              </a:lnSpc>
              <a:spcBef>
                <a:spcPts val="0"/>
              </a:spcBef>
              <a:spcAft>
                <a:spcPts val="0"/>
              </a:spcAft>
              <a:defRPr sz="1400" b="0">
                <a:solidFill>
                  <a:srgbClr val="ACBBB9"/>
                </a:solidFill>
                <a:latin typeface="Noto Sans CJK KR"/>
              </a:defRPr>
            </a:pPr>
            <a:r>
              <a:rPr>
                <a:ea typeface="Noto Sans CJK KR"/>
              </a:rPr>
              <a:t>익숙한 구조의 반복 안내를 줄이고 변화·접근을 강조</a:t>
            </a:r>
          </a:p>
        </p:txBody>
      </p:sp>
      <p:sp>
        <p:nvSpPr>
          <p:cNvPr id="16" name="Rounded Rectangle 15"/>
          <p:cNvSpPr/>
          <p:nvPr/>
        </p:nvSpPr>
        <p:spPr>
          <a:xfrm>
            <a:off x="711200" y="5740400"/>
            <a:ext cx="10769600" cy="495299"/>
          </a:xfrm>
          <a:prstGeom prst="roundRect">
            <a:avLst>
              <a:gd name="adj" fmla="val 10256"/>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9799" y="5867400"/>
            <a:ext cx="10312400" cy="304800"/>
          </a:xfrm>
          <a:prstGeom prst="rect">
            <a:avLst/>
          </a:prstGeom>
          <a:noFill/>
        </p:spPr>
        <p:txBody>
          <a:bodyPr wrap="square" lIns="0" rIns="0" tIns="0" bIns="0">
            <a:spAutoFit/>
          </a:bodyPr>
          <a:lstStyle/>
          <a:p>
            <a:pPr>
              <a:lnSpc>
                <a:spcPct val="118000"/>
              </a:lnSpc>
              <a:spcBef>
                <a:spcPts val="0"/>
              </a:spcBef>
              <a:spcAft>
                <a:spcPts val="0"/>
              </a:spcAft>
              <a:defRPr sz="1300" b="1">
                <a:solidFill>
                  <a:srgbClr val="FFFFFF"/>
                </a:solidFill>
                <a:latin typeface="Noto Sans CJK KR"/>
              </a:defRPr>
            </a:pPr>
            <a:r>
              <a:rPr>
                <a:ea typeface="Noto Sans CJK KR"/>
              </a:rPr>
              <a:t>연구 단계 · 위치 추정과 재방문 정합부터 검증하며, 현재 센서 측정은 계속 유지한다.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 Eye — 중간 발표 수정본</dc:title>
  <dc:subject>실제 프로토타입·거리 격자·YOLOX 구동과 HRTF 청각 스캔</dc:subject>
  <dc:creator>최배종 · 임종민</dc:creator>
  <cp:keywords/>
  <dc:description>사용자 페이지별 수정 요청 반영. 사진 원본 미수신 시 명시적 자리 표시자를 사용하며 실측 사진을 재현하거나 만들어 넣지 않음.</dc:description>
  <cp:lastModifiedBy>Steve Canny</cp:lastModifiedBy>
  <cp:revision>1</cp:revision>
  <dcterms:created xsi:type="dcterms:W3CDTF">2013-01-27T09:14:16Z</dcterms:created>
  <dcterms:modified xsi:type="dcterms:W3CDTF">2013-01-27T09:15:58Z</dcterms:modified>
  <cp:category/>
</cp:coreProperties>
</file>